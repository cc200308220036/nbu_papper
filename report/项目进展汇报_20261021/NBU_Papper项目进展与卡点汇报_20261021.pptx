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围绕三件事：工程目前做到哪里，现有实验能支持什么结论，以及下一步应优先解决什么。最新V2真实完整配对已通过工程验收，不能继续沿用早前“运行中”的状态。所有图表来自已有实验和日志，不新增模型调用。</a:t>
            </a:r>
          </a:p>
          <a:p/>
          <a:p>
            <a:r>
              <a:t>证据来源：最新证据：EXP_OPT_O3_LAYOUT_FLASH_V2_VALIDATION_20261020_01 / acceptance_report.json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，数据、候选、语言解析、执行、回放已闭环。第二，局部业务目标会导致后续布局失败，布局策略已改善整单表现。第三，Flash与强公开Parser完全一致，当前还不能声称模型贡献、视觉贡献或经验记忆贡献。</a:t>
            </a:r>
          </a:p>
          <a:p/>
          <a:p>
            <a:r>
              <a:t>证据来源：来源：O3真实验收、失败归因、V2完整配对指标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早期先建设数据与几何平台，1C加入固定题文本和视觉模型。O1b至O2b逐步转向政策AST与共同执行器。O3完成完整订单闭环后，工作重点已转为失败归因、布局取舍和可复现性。O4与O5属于后续路线。</a:t>
            </a:r>
          </a:p>
          <a:p/>
          <a:p>
            <a:r>
              <a:t>证据来源：来源：docs/README.md；阶段0、1A—1C、O2b、O3对应验收报告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模型输入是公开请求，不含隐藏真值。Parser和Flash生成的AST进入相同执行器，因此两者差异才可归因于解析来源。状态由程序提交候选后更新，隐藏政策用于事后评价，不进入普通方法的选址。</a:t>
            </a:r>
          </a:p>
          <a:p/>
          <a:p>
            <a:r>
              <a:t>证据来源：源码：runners/layout_flash_validation_v2.py；o3_online_adapter.py；selectors/policy_executor_v2.py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BED-BPP提供尺寸、质量和顺序。材质、易碎、可堆叠、品类及承载上限包含合成值。缓存场景和连续流存在，不代表缓存决策和动态经验已实现。当前O3只使用当前箱体和已放状态。</a:t>
            </a:r>
          </a:p>
          <a:p/>
          <a:p>
            <a:r>
              <a:t>证据来源：来源：semantic_pallet_dataset_v1/README.md、splits/、configs/mvd_v0.1.json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矩阵为10来源订单×2政策×3布局×2模式×2解析来源，共240个episode。每个方法每模式每变体有20个政策任务，但独立来源仍为10个。两套政策分别采用1kg低位优先和3kg居中优先。</a:t>
            </a:r>
          </a:p>
          <a:p/>
          <a:p>
            <a:r>
              <a:t>证据来源：来源：V2完整配对 manifest.json、data/tasks.private.json、audit/source_split.json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Geometry完成20/20但无违规完成6/20；Parser、Flash和真值AST均完成11/20、无违规完成7/20。较低违规率伴随较低完成率，不能只强调违规改善。三种语义方法完全一致，指向共同执行器的长期布局问题。</a:t>
            </a:r>
          </a:p>
          <a:p/>
          <a:p>
            <a:r>
              <a:t>证据来源：来源：EXP_OPT_O3B_BUSINESS_OBSERVE_20261016_REMOTE_01 / metrics/summary.json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复用已经完成的五方法案例。所有方法均放完17箱；Geometry最终3个违规实例，其余方法2个。Parser、Flash、真值AST布局相同。原图中的“累计业务违规”此处按对应最终状态的违规实例理解，不能等同违规步骤数。橙色易碎、蓝色重箱、青色电子品，红框标识参与违规的箱体。</a:t>
            </a:r>
          </a:p>
          <a:p/>
          <a:p>
            <a:r>
              <a:t>证据来源：来源：report/visualization/O3_完整订单_SCN0054_P0_26-10-17/final_layouts.png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箱后，两方法地面净空总面积同为0.8099平方米，但Parser的最大连续矩形仅0.3159平方米，Geometry为0.7200。Parser更偏向居中，代价是未来箱体适配空间被切碎。后续第7箱到货时，Parser停止于6/8。该图直接从保存位姿绘制；虚线是诊断报告给出的最大矩形。</a:t>
            </a:r>
          </a:p>
          <a:p/>
          <a:p>
            <a:r>
              <a:t>证据来源：来源：O3_FAILURE_ATTRIBUTION_20261019_02 / divergence_details.json；历史逐步日志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案例是“只保留地面面积”的反例。Parser在首次分叉时保留更多地面净空，却更早堆高。终止时Parser/Geometry垛高670/420mm，同高可堆叠连通面119900/226200平方毫米。70个位姿通过碰撞后全部支撑不足。故需要同时考虑形状、同高支撑、承载和高度。</a:t>
            </a:r>
          </a:p>
          <a:p/>
          <a:p>
            <a:r>
              <a:t>证据来源：来源：O3_FAILURE_ATTRIBUTION_20261019_02 / figures/O3_SCN_0054_P1.png、terminal_gate_funnel.csv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九次单动作干预中，六个任务多放箱，四个完整放完，其中两个完整无违规；三任务放置数量未变。因而首次分叉对部分失败具有解释力，但不是唯一原因。注意九个政策任务仅来自六个独立订单，这里是离线因果诊断，不是新的可部署策略。</a:t>
            </a:r>
          </a:p>
          <a:p/>
          <a:p>
            <a:r>
              <a:t>证据来源：来源：O3_FAILURE_ATTRIBUTION_20261019_02 / single_action_interventions.csv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original维持原软目标字典序。两个relaxed变体均允许相同软预算：heavy_low 0.05、heavy_center 0.25。relaxed_geometry仅按几何选择；relaxed_wo_floor在允许集合内按support、capacity、height均值排序。相对original的收益包含预算取舍，相对同预算几何控制的差异才对应布局代理。布局特征是启发式代理，不是未来可放性证书。</a:t>
            </a:r>
          </a:p>
          <a:p/>
          <a:p>
            <a:r>
              <a:t>证据来源：源码：selectors/layout_preserving_v2.py；evaluation/layout_preservation.py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三项特征用sum求均值，Python3.11得到0.4207292622421585，3.13得到0.42072926224215856。V1按原始浮点值排序，使近同分动作改变并引发整单分叉。V2使用fsum，先求集合最大值，再保留M减1e-12内候选，之后稳定比较几何分并按Cxx选择。该精度仅作用排序，不扩大业务或物理容差。</a:t>
            </a:r>
          </a:p>
          <a:p/>
          <a:p>
            <a:r>
              <a:t>证据来源：来源：O3_LAYOUT_FLASH_BC_REVIEW_20261020_01；O3_LAYOUT_NUMERIC_V2_20261020_01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21日完整矩阵已经完成，因此本报告更新早前交接状态。240个episode全部记录，3042条事件回放通过；与离线稳定基线比较1521条Parser事件。1502次调用均首答合法，无修复、重试或失败。审计检查物理违规、输入泄漏、预算越界均为零。这里的零物理违规不代表零业务违规。</a:t>
            </a:r>
          </a:p>
          <a:p/>
          <a:p>
            <a:r>
              <a:t>证据来源：来源：V2完整配对 acceptance_report.json、replay_report.json、api_usage.json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模式中所有提交均无业务违规。原策略7/20完整无违规，预算几何8/20，预算布局12/20。布局对原策略增加25个百分点，但其中包含预算取舍；对同预算几何控制增加20个百分点。平均件数比例上布局86.43%低于几何88.40%，说明仍有取舍。</a:t>
            </a:r>
          </a:p>
          <a:p/>
          <a:p>
            <a:r>
              <a:t>证据来源：来源：V2完整配对 metrics/summary.json；每行20任务、10个独立来源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算几何和预算布局均完成18/20。布局无违规完成12/20，几何8/20；最终违规实例为17对30。但平均件数比例布局94.12%，几何99.41%。业务违规步骤率分别21/264=7.95%和29/282=10.28%，不能把最终违规实例数当作违规步骤数。</a:t>
            </a:r>
          </a:p>
          <a:p/>
          <a:p>
            <a:r>
              <a:t>证据来源：来源：V2完整配对 metrics/summary.json、per_episode.csv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策略11/17且无违规，但第12箱到货时无物理候选。预算几何完成17/17，但最终2个业务违规实例；预算布局完成17/17且最终0违规。安全模式下同一任务分别11/17、15/17、17/17。这表明布局代理在该订单上同时改善完成和合规，但单个案例不能证明泛化。颜色：橙色易碎，青色非易碎重箱，灰色其他；不标示违规身份。</a:t>
            </a:r>
          </a:p>
          <a:p/>
          <a:p>
            <a:r>
              <a:t>证据来源：来源：V2完整配对 episodes/observe_business/*/public_parser/O3_SCN_0054_P1/steps.jsonl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算几何放16/17但最终2个业务违规；预算布局只放7/17且零违规，两者最终都因无物理候选停止。P0同样为16/17对7/17，但几何最终3个违规。当前support/capacity/height代理不能充分表示长宽适配和后续可放性；这只是后续设计方向，不是已证实修复方案。单动作干预对0060/P0也没有增加放置数量。</a:t>
            </a:r>
          </a:p>
          <a:p/>
          <a:p>
            <a:r>
              <a:t>证据来源：来源：V2完整配对 episodes/observe_business/*/public_parser/O3_SCN_0060_P1/steps.jsonl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能把全部违规减少都归因于少放箱子。两个变体完成完全相同的18个任务，各提交250箱；这些任务上的最终违规从25降到17，减少8个。另5个减少来自失败的0060双政策，放置进度由32箱降至14箱。因此总减少13个中，8个来自相同完成订单的布局改善，5个与不同暴露有关。这是描述性拆分，不是预注册子集检验。相对原策略新增五个无违规任务来自三个来源。同预算无违规完成率差20个百分点的探索区间为[0,50]，仍需独立来源验证。</a:t>
            </a:r>
          </a:p>
          <a:p/>
          <a:p>
            <a:r>
              <a:t>证据来源：来源：V2完整配对 metrics/per_episode.csv；本报告按相同完成任务独立拆分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有效政策、同一Flash状态上的动作、闭环对应状态这三个指标均为1502/1502一致。原始AST结构并非全部相同：完整矩阵有52个条件AST，但其then/else分支均相同，约简后语义与Parser一致。这不构成真实条件推理证据。它证明Flash在受限政策文本上的接口可靠，却不能证明优于强规则解析器。该一致性仅对应当前固定P0/P1任务。后续应冻结Parser后构造未见表达与政策组合，并分别测AST、语义执行和整单质量。</a:t>
            </a:r>
          </a:p>
          <a:p/>
          <a:p>
            <a:r>
              <a:t>证据来源：来源：V2完整配对一致性CSV；O3_LAYOUT_FLASH_V2_RESULTS_20261021_01独立AST复核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先级一是布局泛化和残留失败：冻结三策略，在独立来源验证并诊断0060。优先级二是模型增量：冻结强Parser，按语言模板与来源分组隔离。之后再落实视觉独有信息和经验改变动作的接口。历史O1b/O2a人工签认与O2b统计设计仍是未结项，不能改写为通过。</a:t>
            </a:r>
          </a:p>
          <a:p/>
          <a:p>
            <a:r>
              <a:t>证据来源：依据：当前实验事实；右列为建议交付，尚未实施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归档当前V2真实完成结果并统一导航状态；随后固定三策略和计算预算，在独立来源验证，保留0060等负例；并行准备语言泛化协议，但不看到测试失败后继续修Parser；最后根据真实信息缺口推进O4，再定义O5经验作用于决策的接口。正式test前冻结来源、模板、主指标、重复次数与统计方法。</a:t>
            </a:r>
          </a:p>
          <a:p/>
          <a:p>
            <a:r>
              <a:t>证据来源：依据：O3失败归因、V2真实结果与现有研究路线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报告：完整在线框架和V2真实配对通过工程验收；局部政策与长期布局存在取舍；已见开发来源上预算布局改善无违规整单完成。不能报告：Flash优于强Parser、已经验证视觉或记忆收益、已经得到独立test结论、已验证机器人执行。最值得投入的下一步是独立来源的布局验证与模型语言泛化实验。</a:t>
            </a:r>
          </a:p>
          <a:p/>
          <a:p>
            <a:r>
              <a:t>证据来源：来源：本次汇报全部原始验收与指标；不将工程PASS等同论文结论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完整放完指放置箱数达到订单总数；无违规完成要求同时完整放完且最终业务违规为零；违规步是新增或加重违规的提交步骤，实例数则是最终状态规则对象计数，两者不能互换。mean item ratio为任务放置比例的平均。V1和V2布局协议不可混用。本次仅重绘已有日志，不调用API。原始来源的SHA256记录在evidence.json，构建脚本可在本目录复现图表与PPT。</a:t>
            </a:r>
          </a:p>
          <a:p/>
          <a:p>
            <a:r>
              <a:t>证据来源：证据根目录：semantic_pallet_planner/outputs/；诊断附件：report/analysis/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语义三维码垛：项目进展与关键卡点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NBU_Papper｜阶段0 → O3数值稳定V2｜2026年10月21日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最新证据：EXP_OPT_O3_LAYOUT_FLASH_V2_VALIDATION_20261020_01 / acceptance_report.json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300" b="1">
                <a:solidFill>
                  <a:srgbClr val="172D43"/>
                </a:solidFill>
                <a:latin typeface="Noto Sans CJK SC"/>
                <a:ea typeface="Noto Sans CJK SC"/>
              </a:rPr>
              <a:t>在线闭环已完成工程验证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300" b="1">
                <a:solidFill>
                  <a:srgbClr val="172D43"/>
                </a:solidFill>
                <a:latin typeface="Noto Sans CJK SC"/>
                <a:ea typeface="Noto Sans CJK SC"/>
              </a:rPr>
              <a:t>布局改善已有开发证据，模型增量仍待证明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607487"/>
                </a:solidFill>
                <a:latin typeface="Noto Sans CJK SC"/>
                <a:ea typeface="Noto Sans CJK SC"/>
              </a:rPr>
              <a:t>最新完整配对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6227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900" b="1">
                <a:solidFill>
                  <a:srgbClr val="007F82"/>
                </a:solidFill>
                <a:latin typeface="Noto Sans CJK SC"/>
                <a:ea typeface="Noto Sans CJK SC"/>
              </a:rPr>
              <a:t>240 episode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886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607487"/>
                </a:solidFill>
                <a:latin typeface="Noto Sans CJK SC"/>
                <a:ea typeface="Noto Sans CJK SC"/>
              </a:rPr>
              <a:t>真实 Flash 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46227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900" b="1">
                <a:solidFill>
                  <a:srgbClr val="007F82"/>
                </a:solidFill>
                <a:latin typeface="Noto Sans CJK SC"/>
                <a:ea typeface="Noto Sans CJK SC"/>
              </a:rPr>
              <a:t>1502 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886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607487"/>
                </a:solidFill>
                <a:latin typeface="Noto Sans CJK SC"/>
                <a:ea typeface="Noto Sans CJK SC"/>
              </a:rPr>
              <a:t>整单无违规完成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46227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900" b="1">
                <a:solidFill>
                  <a:srgbClr val="007F82"/>
                </a:solidFill>
                <a:latin typeface="Noto Sans CJK SC"/>
                <a:ea typeface="Noto Sans CJK SC"/>
              </a:rPr>
              <a:t>7 → 12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607487"/>
                </a:solidFill>
                <a:latin typeface="Noto Sans CJK SC"/>
                <a:ea typeface="Noto Sans CJK SC"/>
              </a:rPr>
              <a:t>研究范围：真值状态、严格在线、受限政策；当前数据仍为已见开发来源。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当前进度可以归纳为三句话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区分工程完成、实验观察与论文证据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来源：O3真实验收、失败归因、V2完整配对指标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66160" cy="361188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1148" cy="3611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已经完成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可复现实验闭环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91839"/>
            <a:ext cx="3163824" cy="1965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数据 → 候选 → AST → 执行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逐步证据、独立回放、验收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最新真实矩阵工程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783080"/>
            <a:ext cx="3566160" cy="361188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41148" cy="3611880"/>
          </a:xfrm>
          <a:prstGeom prst="rect">
            <a:avLst/>
          </a:prstGeom>
          <a:solidFill>
            <a:srgbClr val="36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已经观察到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3673AC"/>
                </a:solidFill>
                <a:latin typeface="Noto Sans CJK SC"/>
                <a:ea typeface="Noto Sans CJK SC"/>
              </a:rPr>
              <a:t>布局策略有效信号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291839"/>
            <a:ext cx="3163824" cy="1965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V2无违规完成 7/20 → 12/20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观察模式违规实例 29 → 17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仍存在完成率与合规的取舍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783080"/>
            <a:ext cx="3566160" cy="361188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783080"/>
            <a:ext cx="41148" cy="3611880"/>
          </a:xfrm>
          <a:prstGeom prst="rect">
            <a:avLst/>
          </a:prstGeom>
          <a:solidFill>
            <a:srgbClr val="D69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仍需解决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D69531"/>
                </a:solidFill>
                <a:latin typeface="Noto Sans CJK SC"/>
                <a:ea typeface="Noto Sans CJK SC"/>
              </a:rPr>
              <a:t>模型增量与泛化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291839"/>
            <a:ext cx="3163824" cy="1965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Flash / Parser 1502步一致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仅10个独立来源订单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O4视觉、O5记忆尚待实现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汇报主线：工程能力 → 失败机制 → 改进结果 → 研究卡点。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工程已推进到 O3 布局验证阶段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旧阶段1D≈在线闭环；旧1E≈经验记忆，协议与验收仍需分别理解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来源：docs/README.md；阶段0、1A—1C、O2b、O3对应验收报告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828800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1609344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阶段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645920"/>
            <a:ext cx="4983480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773936"/>
            <a:ext cx="4764024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已形成的能力或证据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645920"/>
            <a:ext cx="4279392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773936"/>
            <a:ext cx="4059935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当前边界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12848"/>
            <a:ext cx="18288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31720"/>
            <a:ext cx="16093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阶段0 / 1A—1B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212848"/>
            <a:ext cx="498348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2331720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数据、几何候选、在线基线、回放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212848"/>
            <a:ext cx="427939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2331720"/>
            <a:ext cx="40599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属性含合成值；未复现完整GOPT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779776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98648"/>
            <a:ext cx="16093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1C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779776"/>
            <a:ext cx="4983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7168" y="2898648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360题 × 6方法；Text / Visual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2779776"/>
            <a:ext cx="427939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2898648"/>
            <a:ext cx="40599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固定题；旧test已查看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46704"/>
            <a:ext cx="18288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465576"/>
            <a:ext cx="16093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O1b / O2a / O2b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346704"/>
            <a:ext cx="498348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3465576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政策题、绑定协议、AST＋Executor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346704"/>
            <a:ext cx="427939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3465576"/>
            <a:ext cx="40599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强Parser已达到同一候选内上界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13632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032504"/>
            <a:ext cx="16093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O3在线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913632"/>
            <a:ext cx="4983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87168" y="4032504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五方法完整订单；安全 / 业务观察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3913632"/>
            <a:ext cx="427939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4032504"/>
            <a:ext cx="40599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模型轨迹与Parser一致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80560"/>
            <a:ext cx="18288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599432"/>
            <a:ext cx="16093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O3布局 / 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4480560"/>
            <a:ext cx="498348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4599432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失败归因、消融、数值稳定、真实配对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4480560"/>
            <a:ext cx="427939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0648" y="4599432"/>
            <a:ext cx="40599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已见开发来源；需独立验证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47488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166359"/>
            <a:ext cx="16093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O4 / O5 / O6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5047488"/>
            <a:ext cx="4983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87168" y="5166359"/>
            <a:ext cx="4764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视觉 / 经验记忆 / 机器人路线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5047488"/>
            <a:ext cx="427939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70648" y="5166359"/>
            <a:ext cx="40599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尚未形成对应完整实测闭环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当前架构：语言解析与数值选址分工明确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Flash负责受限AST；几何安全、载荷与排序由确定性程序负责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源码：runners/layout_flash_validation_v2.py；o3_online_adapter.py；selectors/policy_executor_v2.py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337560" cy="111556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3911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007F82"/>
                </a:solidFill>
                <a:latin typeface="Noto Sans CJK SC"/>
                <a:ea typeface="Noto Sans CJK SC"/>
              </a:rPr>
              <a:t>当前状态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603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托盘＋已放箱＋当前箱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874519"/>
            <a:ext cx="3337560" cy="111556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03911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007F82"/>
                </a:solidFill>
                <a:latin typeface="Noto Sans CJK SC"/>
                <a:ea typeface="Noto Sans CJK SC"/>
              </a:rPr>
              <a:t>物理候选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5603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极值点 → 过滤 → K≤16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74519"/>
            <a:ext cx="3337560" cy="111556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203911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007F82"/>
                </a:solidFill>
                <a:latin typeface="Noto Sans CJK SC"/>
                <a:ea typeface="Noto Sans CJK SC"/>
              </a:rPr>
              <a:t>公开请求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5603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自然语言＋JSON＋Cxx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794760"/>
            <a:ext cx="3337560" cy="111556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395935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007F82"/>
                </a:solidFill>
                <a:latin typeface="Noto Sans CJK SC"/>
                <a:ea typeface="Noto Sans CJK SC"/>
              </a:rPr>
              <a:t>Parser / 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指令 → 受限政策 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794760"/>
            <a:ext cx="3337560" cy="111556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95935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007F82"/>
                </a:solidFill>
                <a:latin typeface="Noto Sans CJK SC"/>
                <a:ea typeface="Noto Sans CJK SC"/>
              </a:rPr>
              <a:t>共同执行器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业务集合 → 软目标 → 布局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3337560" cy="111556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95935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007F82"/>
                </a:solidFill>
                <a:latin typeface="Noto Sans CJK SC"/>
                <a:ea typeface="Noto Sans CJK SC"/>
              </a:rPr>
              <a:t>检查与提交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业务模式＋独立物理检查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2128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0">
                <a:solidFill>
                  <a:srgbClr val="007F82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128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0">
                <a:solidFill>
                  <a:srgbClr val="007F82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133087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0">
                <a:solidFill>
                  <a:srgbClr val="007F82"/>
                </a:solidFill>
                <a:latin typeface="Noto Sans CJK SC"/>
                <a:ea typeface="Noto Sans CJK SC"/>
              </a:rPr>
              <a:t>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133087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0">
                <a:solidFill>
                  <a:srgbClr val="007F82"/>
                </a:solidFill>
                <a:latin typeface="Noto Sans CJK SC"/>
                <a:ea typeface="Noto Sans CJK SC"/>
              </a:rPr>
              <a:t>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31089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500" b="0">
                <a:solidFill>
                  <a:srgbClr val="007F82"/>
                </a:solidFill>
                <a:latin typeface="Noto Sans CJK SC"/>
                <a:ea typeface="Noto Sans CJK SC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提交后得到真实新状态，再进入下一箱；逐步日志用于独立评价与回放。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当前主线 buffer_size=1；模型不生成坐标、不读取未来箱体。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数据已经齐备，真实性与可见性必须分开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140个场景文件 = 100基础＋20语言配对＋20缓存配对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来源：semantic_pallet_dataset_v1/README.md、splits/、configs/mvd_v0.1.json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017520" cy="361188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1148" cy="3611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261518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数据规模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32304"/>
            <a:ext cx="261518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360 固定题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2615184" cy="1965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100个基础订单场景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train 50 / validation 10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test-ID 20 / OOD各10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3632" y="1783080"/>
            <a:ext cx="2423160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911095"/>
            <a:ext cx="2203704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字段 / 资源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783080"/>
            <a:ext cx="5303520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11095"/>
            <a:ext cx="5084064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来源与当前使用方式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2350008"/>
            <a:ext cx="242316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468879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尺寸、质量、到货顺序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792" y="2350008"/>
            <a:ext cx="530352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79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BED-BPP原始订单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13632" y="2916936"/>
            <a:ext cx="2423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303580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易碎、材质、品类、承载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2916936"/>
            <a:ext cx="5303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035808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固定种子合成；非真实抗压测量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13632" y="3483863"/>
            <a:ext cx="242316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602735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隐藏规则 / Oracle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792" y="3483863"/>
            <a:ext cx="530352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602735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评价或明确标记的特权基线使用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3632" y="4050791"/>
            <a:ext cx="2423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4169663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当前模型输入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792" y="4050791"/>
            <a:ext cx="5303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169663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公开指令、真值状态、当前候选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13632" y="4617720"/>
            <a:ext cx="242316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4736592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buffer3 / 连续任务流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36792" y="4617720"/>
            <a:ext cx="530352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736592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数据已存在；当前主线尚未使用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当前结果证明系统与受限任务上的行为，尚不能直接外推真实仓储效果。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最新实验是严格配对的 240 episode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同一候选器、同一执行器；只比较解析来源与三个布局变体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 manifest.json、data/tasks.private.json、audit/source_split.json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938528" cy="14630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1664208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3800" b="1">
                <a:solidFill>
                  <a:srgbClr val="007F82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770632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来源订单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3134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607487"/>
                </a:solidFill>
                <a:latin typeface="Noto Sans CJK SC"/>
                <a:ea typeface="Noto Sans CJK SC"/>
              </a:rPr>
              <a:t>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1" y="1874519"/>
            <a:ext cx="1938528" cy="14630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1" y="2039112"/>
            <a:ext cx="1664208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3800" b="1">
                <a:solidFill>
                  <a:srgbClr val="007F82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770632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公开政策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3134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607487"/>
                </a:solidFill>
                <a:latin typeface="Noto Sans CJK SC"/>
                <a:ea typeface="Noto Sans CJK SC"/>
              </a:rPr>
              <a:t>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75504" y="1874519"/>
            <a:ext cx="1938528" cy="14630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39112"/>
            <a:ext cx="1664208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3800" b="1">
                <a:solidFill>
                  <a:srgbClr val="007F82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770632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布局变体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134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607487"/>
                </a:solidFill>
                <a:latin typeface="Noto Sans CJK SC"/>
                <a:ea typeface="Noto Sans CJK SC"/>
              </a:rPr>
              <a:t>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3215" y="1874519"/>
            <a:ext cx="1938528" cy="14630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5" y="2039112"/>
            <a:ext cx="1664208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3800" b="1">
                <a:solidFill>
                  <a:srgbClr val="007F82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5" y="2770632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执行模式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3134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607487"/>
                </a:solidFill>
                <a:latin typeface="Noto Sans CJK SC"/>
                <a:ea typeface="Noto Sans CJK SC"/>
              </a:rPr>
              <a:t>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10928" y="1874519"/>
            <a:ext cx="1938528" cy="14630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2039112"/>
            <a:ext cx="1664208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3800" b="1">
                <a:solidFill>
                  <a:srgbClr val="007F82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7" y="2770632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解析来源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03320"/>
            <a:ext cx="1828800" cy="5303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831335"/>
            <a:ext cx="1609344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政策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703320"/>
            <a:ext cx="3017520" cy="5303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3831335"/>
            <a:ext cx="2798063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业务限载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3703320"/>
            <a:ext cx="6245352" cy="5303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831335"/>
            <a:ext cx="6025896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软目标优先级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33672"/>
            <a:ext cx="1828800" cy="5303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352544"/>
            <a:ext cx="1609344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P0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4233672"/>
            <a:ext cx="3017520" cy="5303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352544"/>
            <a:ext cx="2798063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易碎 1 kg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4233672"/>
            <a:ext cx="6245352" cy="5303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04688" y="4352544"/>
            <a:ext cx="6025896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先重箱低位，再重箱居中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764024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882896"/>
            <a:ext cx="1609344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P1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4764024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87168" y="4882896"/>
            <a:ext cx="2798063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易碎 3 kg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4960" y="4764024"/>
            <a:ext cx="6245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4688" y="4882896"/>
            <a:ext cx="6025896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先重箱居中，再重箱低位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统计簇是10个来源订单；240 episode或1502次调用不能当作独立样本量。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原 O3 暴露了“完成”与“合规”的冲突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历史业务观察模式；每方法20任务，10个来源订单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来源：EXP_OPT_O3B_BUSINESS_OBSERVE_20261016_REMOTE_01 / metrics/summary.json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07</a:t>
            </a:r>
          </a:p>
        </p:txBody>
      </p:sp>
      <p:pic>
        <p:nvPicPr>
          <p:cNvPr id="8" name="Picture 7" descr="01_历史五方法结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02" y="1600200"/>
            <a:ext cx="10669114" cy="3611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321808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最终违规实例：Geometry 44｜固定属性 33｜Parser / Flash / 真值 AST 各29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工程 PASS ≠ 业务最优；单步规则正确 ≠ 整单能够完成。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真实案例：同样放完17箱，仍需检查业务违规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历史 SCN_0054 / P0；五方法完整订单可视化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来源：report/visualization/O3_完整订单_SCN0054_P0_26-10-17/final_layouts.png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08</a:t>
            </a:r>
          </a:p>
        </p:txBody>
      </p:sp>
      <p:pic>
        <p:nvPicPr>
          <p:cNvPr id="8" name="Picture 7" descr="09_历史五方法完整订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011" y="1490472"/>
            <a:ext cx="7867497" cy="43708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案例用于解释业务评价；它属于历史原策略，不是最新布局V2的效果图。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卡点一：居中偏好会挤碎可用空间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历史 SCN_0052 / P0，第2箱首次分叉；两个动作当时均无业务硬违规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来源：O3_FAILURE_ATTRIBUTION_20261019_02 / divergence_details.json；历史逐步日志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09</a:t>
            </a:r>
          </a:p>
        </p:txBody>
      </p:sp>
      <p:pic>
        <p:nvPicPr>
          <p:cNvPr id="8" name="Picture 7" descr="07_0052首次分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963" y="1581912"/>
            <a:ext cx="8545593" cy="35661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2852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同样净空总面积 0.8099 m²，最大连续矩形相差约2.28倍；原Parser最终仅放6/8箱。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总面积相同不代表形状可用；不能只优化空地面积或继续增加K。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卡点二：空地更多，也可能因支撑布局失败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历史 SCN_0054 / P1：第6箱分叉，第12箱到货时无物理候选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来源：O3_FAILURE_ATTRIBUTION_20261019_02 / figures/O3_SCN_0054_P1.png、terminal_gate_funnel.csv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10</a:t>
            </a:r>
          </a:p>
        </p:txBody>
      </p:sp>
      <p:pic>
        <p:nvPicPr>
          <p:cNvPr id="8" name="Picture 7" descr="08_历史0054失败归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344" y="1508760"/>
            <a:ext cx="7672831" cy="43159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失败前垛高 670 vs 420 mm；70个无碰撞位姿最终全部因支撑不足被拒。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离线干预支持布局假设，但不能解释全部失败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只替换首次分叉动作，后续继续原Parser＋Executor；非新方法成绩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来源：O3_FAILURE_ATTRIBUTION_20261019_02 / single_action_interventions.csv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11</a:t>
            </a:r>
          </a:p>
        </p:txBody>
      </p:sp>
      <p:pic>
        <p:nvPicPr>
          <p:cNvPr id="8" name="Picture 7" descr="04_单动作干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02" y="1737360"/>
            <a:ext cx="10651914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2180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900" b="1">
                <a:solidFill>
                  <a:srgbClr val="007F82"/>
                </a:solidFill>
                <a:latin typeface="Noto Sans CJK SC"/>
                <a:ea typeface="Noto Sans CJK SC"/>
              </a:rPr>
              <a:t>6/9 多放箱｜4/9 完整放完｜2/9 无违规完成｜3/9 放置数量未变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诊断方向：保留可适配形状、同高支撑与承载；局部居中不能代表长期布局质量。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布局改进：先明确目标取舍，再比较空间代理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三变体使用同一物理候选与政策；预算控制臂分离软目标放松的收益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源码：selectors/layout_preserving_v2.py；evaluation/layout_preservation.py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66160" cy="35021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1148" cy="3502152"/>
          </a:xfrm>
          <a:prstGeom prst="rect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607487"/>
                </a:solidFill>
                <a:latin typeface="Noto Sans CJK SC"/>
                <a:ea typeface="Noto Sans CJK SC"/>
              </a:rPr>
              <a:t>原策略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91839"/>
            <a:ext cx="3163824" cy="1856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业务可行优先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两级软目标严格排序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最后按几何与Cxx破同分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783080"/>
            <a:ext cx="3566160" cy="35021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41148" cy="3502152"/>
          </a:xfrm>
          <a:prstGeom prst="rect">
            <a:avLst/>
          </a:prstGeom>
          <a:solidFill>
            <a:srgbClr val="36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relaxed_geometry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3673AC"/>
                </a:solidFill>
                <a:latin typeface="Noto Sans CJK SC"/>
                <a:ea typeface="Noto Sans CJK SC"/>
              </a:rPr>
              <a:t>预算＋几何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291839"/>
            <a:ext cx="3163824" cy="1856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与原策略比较软目标损失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在允许集合内选几何最高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控制“放松目标”的收益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783080"/>
            <a:ext cx="3566160" cy="35021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783080"/>
            <a:ext cx="41148" cy="350215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relaxed_wo_floor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预算＋布局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291839"/>
            <a:ext cx="3163824" cy="1856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使用相同预算和允许集合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support / capacity / height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均值评分，移除地面项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软预算：heavy_low=0.05，heavy_center=0.25；不读取未来箱体。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数值问题已修复；旧失败证据继续保留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V1完整矩阵曾因跨Python排序差异失败，V2重新定义稳定排序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来源：O3_LAYOUT_FLASH_BC_REVIEW_20261020_01；O3_LAYOUT_NUMERIC_V2_20261020_01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212080" cy="3502152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B6544F"/>
                </a:solidFill>
                <a:latin typeface="Noto Sans CJK SC"/>
                <a:ea typeface="Noto Sans CJK SC"/>
              </a:rPr>
              <a:t>V1：末位差异可以改变离散动作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Python 3.11：0.4207292622421585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Python 3.13：0.42072926224215856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同一特征，直接按浮点值排序产生分叉。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1">
                <a:solidFill>
                  <a:srgbClr val="B6544F"/>
                </a:solidFill>
                <a:latin typeface="Noto Sans CJK SC"/>
                <a:ea typeface="Noto Sans CJK SC"/>
              </a:rPr>
              <a:t>V1 C：240 episode；工程验收 FAIL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783080"/>
            <a:ext cx="5650992" cy="350215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84248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1">
                <a:solidFill>
                  <a:srgbClr val="007F82"/>
                </a:solidFill>
                <a:latin typeface="Noto Sans CJK SC"/>
                <a:ea typeface="Noto Sans CJK SC"/>
              </a:rPr>
              <a:t>V2：明确并冻结稳定排序协议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51663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math.fsum 均值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集合最大值锚定，近同分阈值1e-12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几何同分层 → Cxx升序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原控制、业务集合与软预算维持原定义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双环境各120任务，1521条记录的动作与状态交叉一致；旧V1 FAIL未被改写。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最新真实完整配对已通过工程验收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V2实验闭环：离线认证 → 真实冒烟 → 真实完整配对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 acceptance_report.json、replay_report.json、api_usage.json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66160" cy="361188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1148" cy="3611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真实完整矩阵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240 / 240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91839"/>
            <a:ext cx="3163824" cy="1965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工程验收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783080"/>
            <a:ext cx="3566160" cy="361188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41148" cy="3611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事件回放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3042 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291839"/>
            <a:ext cx="3163824" cy="1965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全部通过；基线对照1521条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783080"/>
            <a:ext cx="3566160" cy="361188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783080"/>
            <a:ext cx="41148" cy="3611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Flash真实调用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1502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291839"/>
            <a:ext cx="3163824" cy="1965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首答合法；修复/失败/重试为0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物理违规=0｜输入泄漏=0｜软预算越界=0；仍属探索性开发验证。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安全模式：无违规整单成功从7/20升至12/20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最新V2真实矩阵；Parser与Flash指标完全相同，此处只画一组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 metrics/summary.json；每行20任务、10个独立来源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15</a:t>
            </a:r>
          </a:p>
        </p:txBody>
      </p:sp>
      <p:pic>
        <p:nvPicPr>
          <p:cNvPr id="8" name="Picture 7" descr="02_安全模式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5744"/>
            <a:ext cx="11064240" cy="33979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2180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900" b="1">
                <a:solidFill>
                  <a:srgbClr val="007F82"/>
                </a:solidFill>
                <a:latin typeface="Noto Sans CJK SC"/>
                <a:ea typeface="Noto Sans CJK SC"/>
              </a:rPr>
              <a:t>预算＋布局较原策略 +25个百分点；较同预算几何 +20个百分点。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无违规提交不等于整单成功；仍有8/20任务未完成。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业务观察模式：完成率提高，合规取舍仍存在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最新V2真实矩阵；相同预算下比较几何与布局策略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 metrics/summary.json、per_episode.csv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16</a:t>
            </a:r>
          </a:p>
        </p:txBody>
      </p:sp>
      <p:pic>
        <p:nvPicPr>
          <p:cNvPr id="8" name="Picture 7" descr="03_业务观察模式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2884"/>
            <a:ext cx="11064240" cy="33979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2180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预算＋布局：21/264违规步（7.95%）；平均件数94.12%，低于几何99.41%。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不能称全面占优：无违规完成更好，但残留失败任务的放置比例更低。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改善案例：SCN_0054 / P1 从11箱提升到17箱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最新V2业务观察模式；图像直接由保存的真实位姿重绘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 episodes/observe_business/*/public_parser/O3_SCN_0054_P1/steps.jsonl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17</a:t>
            </a:r>
          </a:p>
        </p:txBody>
      </p:sp>
      <p:pic>
        <p:nvPicPr>
          <p:cNvPr id="8" name="Picture 7" descr="06_SCN_0054_P1_真实布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63" y="1691640"/>
            <a:ext cx="9970593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056632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000" b="0">
                <a:solidFill>
                  <a:srgbClr val="607487"/>
                </a:solidFill>
                <a:latin typeface="Noto Sans CJK SC"/>
                <a:ea typeface="Noto Sans CJK SC"/>
              </a:rPr>
              <a:t>颜色：橙=易碎；青=非易碎重箱；灰=其他。颜色不表示违规；三图采用相同视角和坐标尺度。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675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900" b="1">
                <a:solidFill>
                  <a:srgbClr val="007F82"/>
                </a:solidFill>
                <a:latin typeface="Noto Sans CJK SC"/>
                <a:ea typeface="Noto Sans CJK SC"/>
              </a:rPr>
              <a:t>原策略：未完成且零违规  →  预算＋布局：完整完成且零违规。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同订单安全模式：11/17 → 15/17 → 17/17；布局提升可在真实轨迹中解释。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残留卡点：SCN_0060 / P1 仍无法完成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最新V2业务观察模式；“更少违规”无法抵消提前停止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 episodes/observe_business/*/public_parser/O3_SCN_0060_P1/steps.jsonl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18</a:t>
            </a:r>
          </a:p>
        </p:txBody>
      </p:sp>
      <p:pic>
        <p:nvPicPr>
          <p:cNvPr id="8" name="Picture 7" descr="06_SCN_0060_P1_真实布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63" y="1691640"/>
            <a:ext cx="9970593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056632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000" b="0">
                <a:solidFill>
                  <a:srgbClr val="607487"/>
                </a:solidFill>
                <a:latin typeface="Noto Sans CJK SC"/>
                <a:ea typeface="Noto Sans CJK SC"/>
              </a:rPr>
              <a:t>颜色：橙=易碎；青=非易碎重箱；灰=其他。颜色不表示违规；图示为各策略最终状态。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675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几何预算控制：16/17、2违规；布局策略：7/17、0违规；两者均未完成。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下一步需研究带长宽、高度、支撑与承载条件的可放性代理，并保留失败分母。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违规减少13个：8个来自相同完成订单的改善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最新V2观察模式；两个改进方案完成完全相同的18个任务，各提交250箱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 metrics/per_episode.csv；本报告按相同完成任务独立拆分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19</a:t>
            </a:r>
          </a:p>
        </p:txBody>
      </p:sp>
      <p:pic>
        <p:nvPicPr>
          <p:cNvPr id="8" name="Picture 7" descr="10_违规改善来源拆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791"/>
            <a:ext cx="11064240" cy="3208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23036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800" b="1">
                <a:solidFill>
                  <a:srgbClr val="007F82"/>
                </a:solidFill>
                <a:latin typeface="Noto Sans CJK SC"/>
                <a:ea typeface="Noto Sans CJK SC"/>
              </a:rPr>
              <a:t>最终违规总数 30 → 17：相同完成任务减少8个；失败订单放置暴露差异减少5个。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收益并非全由少放箱造成；子集拆分仅作解释，独立来源验证仍是关键。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模型增量尚未出现：1502步完全一致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最新真实矩阵中，Flash与充分开发的Public Parser进入共同Executor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来源：V2完整配对一致性CSV；O3_LAYOUT_FLASH_V2_RESULTS_20261021_01独立AST复核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66160" cy="3200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1148" cy="3200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当前有效政策一致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1502 / 1502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91839"/>
            <a:ext cx="3163824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当前P0/P1受限政策任务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三变体、双执行模式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783080"/>
            <a:ext cx="3566160" cy="3200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41148" cy="3200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同状态动作一致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1502 / 1502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291839"/>
            <a:ext cx="3163824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当前P0/P1受限政策任务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三变体、双执行模式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783080"/>
            <a:ext cx="3566160" cy="3200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783080"/>
            <a:ext cx="41148" cy="3200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659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607487"/>
                </a:solidFill>
                <a:latin typeface="Noto Sans CJK SC"/>
                <a:ea typeface="Noto Sans CJK SC"/>
              </a:rPr>
              <a:t>闭环状态一致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478024"/>
            <a:ext cx="3163824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3100" b="1">
                <a:solidFill>
                  <a:srgbClr val="007F82"/>
                </a:solidFill>
                <a:latin typeface="Noto Sans CJK SC"/>
                <a:ea typeface="Noto Sans CJK SC"/>
              </a:rPr>
              <a:t>1502 / 1502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291839"/>
            <a:ext cx="3163824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当前P0/P1受限政策任务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三变体、双执行模式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852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原始AST并非全同：C含52个冗余条件包装，双分支相同，不构成条件推理证据。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当前输入为Text＋JSON；3D展示不构成视觉决策贡献，也尚无动态经验记忆收益。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当前卡点与优先级已经明确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数值复现卡点已解决；核心研究卡点仍在布局与模型贡献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依据：当前实验事实；右列为建议交付，尚未实施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286000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2066543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优先级 / 卡点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645920"/>
            <a:ext cx="3840480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773936"/>
            <a:ext cx="3621024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当前证据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645920"/>
            <a:ext cx="4965192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773936"/>
            <a:ext cx="4745736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下一项具体交付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12848"/>
            <a:ext cx="22860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31720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P1 布局与整单取舍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212848"/>
            <a:ext cx="384048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233172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0060仍失败；代理不全面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212848"/>
            <a:ext cx="496519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33172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独立来源配对＋0060终止漏斗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779776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9864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P1 泛化与统计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779776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2898648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仅10个已见来源；消融筛选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779776"/>
            <a:ext cx="496519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2898648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冻结策略、主终点、来源与统计方案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46704"/>
            <a:ext cx="22860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465576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P2 模型独立贡献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346704"/>
            <a:ext cx="384048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3465576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1502步与Parser完全一致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346704"/>
            <a:ext cx="496519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3465576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未见语言/政策组合，冻结强Parser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13632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032504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P3 视觉贡献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913632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4032504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O3只用Text＋JSON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913632"/>
            <a:ext cx="496519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4032504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图像独有属性与OCR等公平对照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80560"/>
            <a:ext cx="22860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599432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P3 动态经验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480560"/>
            <a:ext cx="384048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4368" y="4599432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尚无可改变动作的记忆接口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480560"/>
            <a:ext cx="496519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4599432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定义检索、策略影响、验证与失效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47488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166359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后续 执行迁移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5047488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44368" y="5166359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目前是确定性真值环境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5047488"/>
            <a:ext cx="496519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5166359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再接仿真、感知与机器人验证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后续推进顺序：先固定证据，再扩展能力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建议路线；本报告不执行新实验、不改动算法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依据：O3失败归因、V2真实结果与现有研究路线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00784"/>
            <a:ext cx="667512" cy="6675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8379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1907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1">
                <a:solidFill>
                  <a:srgbClr val="172D43"/>
                </a:solidFill>
                <a:latin typeface="Noto Sans CJK SC"/>
                <a:ea typeface="Noto Sans CJK SC"/>
              </a:rPr>
              <a:t>整理当前证据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719072"/>
            <a:ext cx="676656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V2结果、版本、指标、案例一致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保留V1 FAIL与既有负结果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88336"/>
            <a:ext cx="667512" cy="6675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825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06624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1">
                <a:solidFill>
                  <a:srgbClr val="172D43"/>
                </a:solidFill>
                <a:latin typeface="Noto Sans CJK SC"/>
                <a:ea typeface="Noto Sans CJK SC"/>
              </a:rPr>
              <a:t>验证布局泛化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06624"/>
            <a:ext cx="676656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独立来源、固定预算与变体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终止漏斗＋完整无违规主指标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75888"/>
            <a:ext cx="667512" cy="6675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38130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9417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1">
                <a:solidFill>
                  <a:srgbClr val="172D43"/>
                </a:solidFill>
                <a:latin typeface="Noto Sans CJK SC"/>
                <a:ea typeface="Noto Sans CJK SC"/>
              </a:rPr>
              <a:t>验证模型价值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694176"/>
            <a:ext cx="676656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未见表达与政策组合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强Parser冻结后再测试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63440"/>
            <a:ext cx="667512" cy="6675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800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817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300" b="1">
                <a:solidFill>
                  <a:srgbClr val="172D43"/>
                </a:solidFill>
                <a:latin typeface="Noto Sans CJK SC"/>
                <a:ea typeface="Noto Sans CJK SC"/>
              </a:rPr>
              <a:t>再扩展视觉与记忆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681728"/>
            <a:ext cx="676656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先找图像独有信息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先定义经验如何改变动作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正式新test前冻结协议；以来源订单为统计簇，继续报告未完成与API失败。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汇报结论：工程可用，算法有信号，贡献待分离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建议对外表述的结论与证据边界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来源：本次汇报全部原始验收与指标；不将工程PASS等同论文结论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76672" cy="3611880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400" b="1">
                <a:solidFill>
                  <a:srgbClr val="007F82"/>
                </a:solidFill>
                <a:latin typeface="Noto Sans CJK SC"/>
                <a:ea typeface="Noto Sans CJK SC"/>
              </a:rPr>
              <a:t>已有证据支持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892040" cy="2240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完整订单在线实验闭环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V2真实完整配对工程 PASS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开发集无违规完成 7/20 → 12/20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长期布局取舍有可追溯案例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77256" cy="361188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2011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400" b="1">
                <a:solidFill>
                  <a:srgbClr val="B6544F"/>
                </a:solidFill>
                <a:latin typeface="Noto Sans CJK SC"/>
                <a:ea typeface="Noto Sans CJK SC"/>
              </a:rPr>
              <a:t>仍需补齐证据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743200"/>
            <a:ext cx="4983480" cy="2240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模型相对强Parser的增量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独立来源与正式新test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视觉、经验记忆的独立贡献</a:t>
            </a:r>
          </a:p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100" b="0">
                <a:solidFill>
                  <a:srgbClr val="172D43"/>
                </a:solidFill>
                <a:latin typeface="Noto Sans CJK SC"/>
                <a:ea typeface="Noto Sans CJK SC"/>
              </a:rPr>
              <a:t>仿真与机器人执行有效性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43016"/>
            <a:ext cx="11091672" cy="438912"/>
          </a:xfrm>
          <a:prstGeom prst="rect">
            <a:avLst/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9207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172D43"/>
                </a:solidFill>
                <a:latin typeface="Noto Sans CJK SC"/>
                <a:ea typeface="Noto Sans CJK SC"/>
              </a:rPr>
              <a:t>下一阶段主问题：当前布局收益是否泛化，模型在哪类信息或语言缺口上真正有用？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2800" b="1">
                <a:solidFill>
                  <a:srgbClr val="172D43"/>
                </a:solidFill>
                <a:latin typeface="Noto Sans CJK SC"/>
                <a:ea typeface="Noto Sans CJK SC"/>
              </a:rPr>
              <a:t>附录：指标、版本与证据入口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300" b="0">
                <a:solidFill>
                  <a:srgbClr val="607487"/>
                </a:solidFill>
                <a:latin typeface="Noto Sans CJK SC"/>
                <a:ea typeface="Noto Sans CJK SC"/>
              </a:rPr>
              <a:t>完整讲解稿、逐项数据和可点击路径见配套Markdown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840" b="0">
                <a:solidFill>
                  <a:srgbClr val="607487"/>
                </a:solidFill>
                <a:latin typeface="Noto Sans CJK SC"/>
                <a:ea typeface="Noto Sans CJK SC"/>
              </a:rPr>
              <a:t>证据根目录：semantic_pallet_planner/outputs/；诊断附件：report/analysis/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3000"/>
              </a:lnSpc>
              <a:spcAft>
                <a:spcPts val="500"/>
              </a:spcAft>
            </a:pPr>
            <a:r>
              <a:rPr sz="1100" b="0">
                <a:solidFill>
                  <a:srgbClr val="607487"/>
                </a:solidFill>
                <a:latin typeface="Noto Sans CJK SC"/>
                <a:ea typeface="Noto Sans CJK SC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743200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2523744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8348472" cy="5669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773936"/>
            <a:ext cx="8129016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定义 / 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12848"/>
            <a:ext cx="27432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3172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完成 / 无违规完成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212848"/>
            <a:ext cx="834847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331720"/>
            <a:ext cx="81290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放完全部箱体 / 放完且最终业务违规为0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79776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98648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违规步 / 最终违规实例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779776"/>
            <a:ext cx="83484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2898648"/>
            <a:ext cx="81290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新增或加重违规的步骤 / 最终状态违规对象计数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46704"/>
            <a:ext cx="27432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65576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最新真实实验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346704"/>
            <a:ext cx="834847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465576"/>
            <a:ext cx="81290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EXP_OPT_O3_LAYOUT_FLASH_V2_VALIDATION_20261020_01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13632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2504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当前排序协议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913632"/>
            <a:ext cx="83484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4032504"/>
            <a:ext cx="81290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layout_preserving_v2_fsum_max_anchor_1e-12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2743200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599432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失败诊断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480560"/>
            <a:ext cx="8348472" cy="5669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1568" y="4599432"/>
            <a:ext cx="81290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report/analysis/O3_FAILURE_ATTRIBUTION_20261019_02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47488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166359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历史数值失败 / V2认证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5047488"/>
            <a:ext cx="83484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5166359"/>
            <a:ext cx="81290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Aft>
                <a:spcPts val="5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O3_LAYOUT_FLASH_BC_REVIEW / O3_LAYOUT_NUMERIC_V2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