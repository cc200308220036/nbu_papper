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8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embeddedFontLst>
    <p:embeddedFont>
      <p:font typeface="OpenAI Sans" panose="020B0004030202060203" pitchFamily="34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658"/>
  </p:normalViewPr>
  <p:slideViewPr>
    <p:cSldViewPr snapToGrid="0">
      <p:cViewPr varScale="1">
        <p:scale>
          <a:sx n="116" d="100"/>
          <a:sy n="116" d="100"/>
        </p:scale>
        <p:origin x="680" y="17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开场说明：本次主要讲最近几个阶段的原始实验成果，区分工程检查通过与研究假设得到支持。当前 O2b 的真实调用矩阵完成，O3 在线阶段尚未实现。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V1 360 题六方法 2160 行；V2 60 题、30 个状态但仅 10 独立来源订单。O2a 第二批 20 道开发题新 Prompt 首答合法 20/20；O1b 30 独立 train 来源订单形成 180 题。O2b 1080 行回放通过，但完整统计设计待完成。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输入链路来自 O1b public_request 和 O2b runner。图像是阶段 1C 的历史状态渲染，仅用于说明码垛场景；不是 O2b 的图像输入，也不能当成视觉增量证据。模型/解析器只读公开当前状态、属性、指令和候选关系；隐藏 AST、Oracle 分数、未来箱体、真实候选 ID 映射留在评测侧。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O1b 对 90 个候选状态进行冻结条件筛查，保留 30 个状态；每个来源订单一个状态，A/B/C 各两条政策，总计 180 题和 90 个配对。Top-K 有解 168 题，全枚举无业务可行解 12 题。真正因政策变化产生最优集合差异的 30 对来自 10 个独立来源订单。语义属性为 synthetic。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的 8/60 个首答无效包括 6 个多余 type 字段和 2 个 JSON 语法错误。O2a 严格限制七字段、request_id/state_hash/policy_digest 三项绑定和至多一次格式修复。_02 使用另一批 10 来源订单的 20 道双政策题，旧 Prompt 首答 18/20、新 Prompt 20/20；适用硬约束满足 5/8 对 6/8，公开 Parser 也是 6/8。两道无解题误提交说明协议修复不是语义可靠性的全部。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六方法同题、同物理候选。原始可避免业务硬违规 Geometry 27/111，固定属性 3/111，Direct 21/111，Public Parser、Flash AST、真值 AST 均 0/111。最优等价候选率分别 81/168、129/168、93/167、168/168、168/168、168/168。真值 AST 是特权上界。Flash AST 超过 Direct 但与同权限 Public Parser 完全持平，所以不支持 VLM 相对强规则的增量优势。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这个例子来自 O2b 的公开请求和 per_decision.csv。C08 的 public_relations.delta.new_contact_pairs 中含 item_04 与 item_05 的接触；item_04 为 heavy，item_05 为 electronics。C10 无该新增接触。Direct 的 proposed_label=C08，screen_intervened=True，committed_label 为空；Flash AST 和 Public Parser 均提出并提交 C10。案例用于解释机制，不可凭单例作总体结论。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O2b replay_report PASS，1080/1080，失败列表为空，已提交物理违规 0；acceptance_report 中 offline/remote engineering PASS，但 o2b_full_acceptance=PENDING_STATISTICAL_DESIGN，research_status=DEVELOPMENT_EVIDENCE_ONLY。Flash AST 严格 AST 结构精确率 80/180；不应由 100% 候选最优率反推 AST 每字段都对。Agent 复核 12/12 O2a 错例与 180/180 O1b AST，但并非两位真人独立签认。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当前实验只有文本和真值 JSON，因此不应称视觉 VLM 贡献。强 Public Parser 已在本批受限语法上达到参考上界，下一轮必须在新来源、新语言表达和政策变化上与其同权限比较。O3 在线任务用完整 episode 指标检验长期布局；O4 才可能研究图像独有属性。若规则始终相当，应明确 VLM 不必要的子域与混合架构适用边界。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O3a 的工程验收不以 Flash 胜出为门槛。既有 PalletEnvironment 和 EpisodeRunner 使用早期协议，需新增版本化在线 runner/adapter，将 O2b 的公开政策解析、属性评价和业务屏障接到实际逐步提交状态。各方法从相同订单开始，但后续根据自己的状态重生成候选。O3b 才在新独立 validation 来源上调用模型。正式新 test 的主要终点、样本量、重复次数和阈值在看 test 前冻结。用户目前不要求费用记录。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6344" y="39319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40" b="1">
                <a:solidFill>
                  <a:srgbClr val="5B646D"/>
                </a:solidFill>
                <a:latin typeface="Noto Sans CJK SC"/>
                <a:ea typeface="Noto Sans CJK SC"/>
              </a:rPr>
              <a:t>NBU_PAPPER  /  阶段研究汇报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66344" y="1271016"/>
            <a:ext cx="1956816" cy="0"/>
          </a:xfrm>
          <a:prstGeom prst="line">
            <a:avLst/>
          </a:prstGeom>
          <a:ln w="50800">
            <a:solidFill>
              <a:srgbClr val="1969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09344"/>
            <a:ext cx="10835640" cy="176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>
                <a:solidFill>
                  <a:srgbClr val="191F25"/>
                </a:solidFill>
                <a:latin typeface="Noto Sans CJK SC"/>
                <a:ea typeface="Noto Sans CJK SC"/>
              </a:rPr>
              <a:t>属性感知码垛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>
                <a:solidFill>
                  <a:srgbClr val="191F25"/>
                </a:solidFill>
                <a:latin typeface="Noto Sans CJK SC"/>
                <a:ea typeface="Noto Sans CJK SC"/>
              </a:rPr>
              <a:t>近期进展与核心实验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3767328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000" b="0">
                <a:solidFill>
                  <a:srgbClr val="5B646D"/>
                </a:solidFill>
                <a:latin typeface="Noto Sans CJK SC"/>
                <a:ea typeface="Noto Sans CJK SC"/>
              </a:rPr>
              <a:t>从固定候选选择走向“自然语言政策解析 + 确定性执行 + 在线安全闭环”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60076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00" b="0">
                <a:solidFill>
                  <a:srgbClr val="5B646D"/>
                </a:solidFill>
                <a:latin typeface="Noto Sans CJK SC"/>
                <a:ea typeface="Noto Sans CJK SC"/>
              </a:rPr>
              <a:t>2026-10-14   |   V2 · O2a · O1b · O2b · O3 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进展总览：O2b 工程矩阵已跑通，O3 是下一步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近期交付沿着“指标 → 协议 → 数据 → 决策 → 在线布局”逐层推进。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来源：各阶段 acceptance_report.json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1792224" cy="31089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792224" cy="64008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48840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6971"/>
                </a:solidFill>
                <a:latin typeface="Noto Sans CJK SC"/>
                <a:ea typeface="Noto Sans CJK SC"/>
              </a:rPr>
              <a:t>1C /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066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固定候选平台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649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360 题 · 2160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343400"/>
            <a:ext cx="14630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1">
                <a:solidFill>
                  <a:srgbClr val="196971"/>
                </a:solidFill>
                <a:latin typeface="Noto Sans CJK SC"/>
                <a:ea typeface="Noto Sans CJK SC"/>
              </a:rPr>
              <a:t>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1874519"/>
            <a:ext cx="1792224" cy="31089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95728" y="1874519"/>
            <a:ext cx="1792224" cy="64008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148840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6971"/>
                </a:solidFill>
                <a:latin typeface="Noto Sans CJK SC"/>
                <a:ea typeface="Noto Sans CJK SC"/>
              </a:rP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066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属性指标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3649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60 题 · Direct 真调用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343400"/>
            <a:ext cx="14630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1">
                <a:solidFill>
                  <a:srgbClr val="196971"/>
                </a:solidFill>
                <a:latin typeface="Noto Sans CJK SC"/>
                <a:ea typeface="Noto Sans CJK SC"/>
              </a:rPr>
              <a:t>开发完成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1874519"/>
            <a:ext cx="1792224" cy="31089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256" y="1874519"/>
            <a:ext cx="1792224" cy="64008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148840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6971"/>
                </a:solidFill>
                <a:latin typeface="Noto Sans CJK SC"/>
                <a:ea typeface="Noto Sans CJK SC"/>
              </a:rPr>
              <a:t>O2a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7066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协议修复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3649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新 Prompt 20/20 首答合法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343400"/>
            <a:ext cx="14630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1">
                <a:solidFill>
                  <a:srgbClr val="196971"/>
                </a:solidFill>
                <a:latin typeface="Noto Sans CJK SC"/>
                <a:ea typeface="Noto Sans CJK SC"/>
              </a:rPr>
              <a:t>人工签认待办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1874519"/>
            <a:ext cx="1792224" cy="31089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4" y="1874519"/>
            <a:ext cx="1792224" cy="64008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2148840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6971"/>
                </a:solidFill>
                <a:latin typeface="Noto Sans CJK SC"/>
                <a:ea typeface="Noto Sans CJK SC"/>
              </a:rPr>
              <a:t>O1b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27066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语言/政策数据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3649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30 来源订单 · 180 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343400"/>
            <a:ext cx="14630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1">
                <a:solidFill>
                  <a:srgbClr val="196971"/>
                </a:solidFill>
                <a:latin typeface="Noto Sans CJK SC"/>
                <a:ea typeface="Noto Sans CJK SC"/>
              </a:rPr>
              <a:t>自动 PASS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1312" y="1874519"/>
            <a:ext cx="1792224" cy="310896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11312" y="1874519"/>
            <a:ext cx="1792224" cy="64008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904" y="2148840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6971"/>
                </a:solidFill>
                <a:latin typeface="Noto Sans CJK SC"/>
                <a:ea typeface="Noto Sans CJK SC"/>
              </a:rPr>
              <a:t>O2b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27066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AST 混合决策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3649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1080/1080 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4343400"/>
            <a:ext cx="14630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1">
                <a:solidFill>
                  <a:srgbClr val="196971"/>
                </a:solidFill>
                <a:latin typeface="Noto Sans CJK SC"/>
                <a:ea typeface="Noto Sans CJK SC"/>
              </a:rPr>
              <a:t>工程 PASS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1874519"/>
            <a:ext cx="179222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49840" y="1874519"/>
            <a:ext cx="1792224" cy="64008"/>
          </a:xfrm>
          <a:prstGeom prst="rect">
            <a:avLst/>
          </a:prstGeom>
          <a:solidFill>
            <a:srgbClr val="D9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14432" y="2148840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5B646D"/>
                </a:solidFill>
                <a:latin typeface="Noto Sans CJK SC"/>
                <a:ea typeface="Noto Sans CJK SC"/>
              </a:rPr>
              <a:t>O3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4432" y="2706624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在线属性布局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4432" y="33649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实际轨迹分叉与完成率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4343400"/>
            <a:ext cx="14630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1">
                <a:solidFill>
                  <a:srgbClr val="5B646D"/>
                </a:solidFill>
                <a:latin typeface="Noto Sans CJK SC"/>
                <a:ea typeface="Noto Sans CJK SC"/>
              </a:rPr>
              <a:t>待开发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531266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判断边界：O2b 工程 PASS ≠ Flash 相对强规则有优势；O3 只有方案，尚无在线实验结果。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框架数据链路：模型解释业务，程序负责关系和安全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所有非特权方法共享公开输入与同一物理候选；隐藏真值只用于评测。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来源：attribute_o2b.py / O1b public_requests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508760"/>
            <a:ext cx="6080760" cy="7772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618488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80" b="1">
                <a:solidFill>
                  <a:srgbClr val="191F25"/>
                </a:solidFill>
                <a:latin typeface="Noto Sans CJK SC"/>
                <a:ea typeface="Noto Sans CJK SC"/>
              </a:rPr>
              <a:t>公开状态与业务指令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18488"/>
            <a:ext cx="344728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20" b="0">
                <a:solidFill>
                  <a:srgbClr val="5B646D"/>
                </a:solidFill>
                <a:latin typeface="Noto Sans CJK SC"/>
                <a:ea typeface="Noto Sans CJK SC"/>
              </a:rPr>
              <a:t>当前箱、已有箱、属性；buffer_size=1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29514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</a:pPr>
            <a:r>
              <a:rPr sz="1400" b="1">
                <a:solidFill>
                  <a:srgbClr val="196971"/>
                </a:solidFill>
                <a:latin typeface="Noto Sans CJK SC"/>
                <a:ea typeface="Noto Sans CJK SC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532888"/>
            <a:ext cx="6080760" cy="7772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642616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80" b="1">
                <a:solidFill>
                  <a:srgbClr val="191F25"/>
                </a:solidFill>
                <a:latin typeface="Noto Sans CJK SC"/>
                <a:ea typeface="Noto Sans CJK SC"/>
              </a:rPr>
              <a:t>物理候选生成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42616"/>
            <a:ext cx="344728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20" b="0">
                <a:solidFill>
                  <a:srgbClr val="5B646D"/>
                </a:solidFill>
                <a:latin typeface="Noto Sans CJK SC"/>
                <a:ea typeface="Noto Sans CJK SC"/>
              </a:rPr>
              <a:t>冻结生成器；Top-K=16；只给 Cxx 编号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3192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</a:pPr>
            <a:r>
              <a:rPr sz="1400" b="1">
                <a:solidFill>
                  <a:srgbClr val="196971"/>
                </a:solidFill>
                <a:latin typeface="Noto Sans CJK SC"/>
                <a:ea typeface="Noto Sans CJK SC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557016"/>
            <a:ext cx="6080760" cy="7772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666744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80" b="1">
                <a:solidFill>
                  <a:srgbClr val="191F25"/>
                </a:solidFill>
                <a:latin typeface="Noto Sans CJK SC"/>
                <a:ea typeface="Noto Sans CJK SC"/>
              </a:rPr>
              <a:t>决策接口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66744"/>
            <a:ext cx="344728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20" b="0">
                <a:solidFill>
                  <a:srgbClr val="5B646D"/>
                </a:solidFill>
                <a:latin typeface="Noto Sans CJK SC"/>
                <a:ea typeface="Noto Sans CJK SC"/>
              </a:rPr>
              <a:t>Direct 选编号  /  文本→受限 AST→执行器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43434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Aft>
                <a:spcPts val="0"/>
              </a:spcAft>
            </a:pPr>
            <a:r>
              <a:rPr sz="1400" b="1">
                <a:solidFill>
                  <a:srgbClr val="196971"/>
                </a:solidFill>
                <a:latin typeface="Noto Sans CJK SC"/>
                <a:ea typeface="Noto Sans CJK SC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4581144"/>
            <a:ext cx="6080760" cy="77724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690872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80" b="1">
                <a:solidFill>
                  <a:srgbClr val="191F25"/>
                </a:solidFill>
                <a:latin typeface="Noto Sans CJK SC"/>
                <a:ea typeface="Noto Sans CJK SC"/>
              </a:rPr>
              <a:t>提交屏障与复核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690872"/>
            <a:ext cx="344728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20" b="0">
                <a:solidFill>
                  <a:srgbClr val="5B646D"/>
                </a:solidFill>
                <a:latin typeface="Noto Sans CJK SC"/>
                <a:ea typeface="Noto Sans CJK SC"/>
              </a:rPr>
              <a:t>保留原始提议；拦截业务违规；独立物理检查</a:t>
            </a:r>
          </a:p>
        </p:txBody>
      </p:sp>
      <p:pic>
        <p:nvPicPr>
          <p:cNvPr id="24" name="Picture 23" descr="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618488"/>
            <a:ext cx="4800600" cy="24290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12864" y="4462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100" b="0">
                <a:solidFill>
                  <a:srgbClr val="5B646D"/>
                </a:solidFill>
                <a:latin typeface="Noto Sans CJK SC"/>
                <a:ea typeface="Noto Sans CJK SC"/>
              </a:rPr>
              <a:t>阶段 1C 历史状态渲染示意（DC_00354）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67144" y="4983480"/>
            <a:ext cx="4800600" cy="832104"/>
          </a:xfrm>
          <a:prstGeom prst="roundRect">
            <a:avLst>
              <a:gd name="adj" fmla="val 6000"/>
            </a:avLst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5129784"/>
            <a:ext cx="442569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state_hash 绑定物理状态</a:t>
            </a:r>
          </a:p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policy_digest 区分同状态不同政策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O1b：题目数量之外，必须看独立来源与政策机会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原 train 来源派生开发集；同物理状态的六题只改变公开政策。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来源：O1b acceptance_report / independent_verification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591056"/>
            <a:ext cx="2651760" cy="2020824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7556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独立来源订单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1579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196971"/>
                </a:solidFill>
                <a:latin typeface="Noto Sans CJK SC"/>
                <a:ea typeface="Noto Sans CJK SC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898648"/>
            <a:ext cx="2249424" cy="585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与原 validation、V2/O2a、test 来源零重合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591056"/>
            <a:ext cx="2651760" cy="2020824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7556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固定候选题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1579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196971"/>
                </a:solidFill>
                <a:latin typeface="Noto Sans CJK SC"/>
                <a:ea typeface="Noto Sans CJK SC"/>
              </a:rPr>
              <a:t>180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898648"/>
            <a:ext cx="2249424" cy="585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A/B/C 三轨 × 双政策；共享状态与候选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91056"/>
            <a:ext cx="2651760" cy="2020824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7556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Top-K 业务可行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579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196971"/>
                </a:solidFill>
                <a:latin typeface="Noto Sans CJK SC"/>
                <a:ea typeface="Noto Sans CJK SC"/>
              </a:rPr>
              <a:t>168/180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898648"/>
            <a:ext cx="2249424" cy="585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另 12 题全枚举也无业务满足解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591056"/>
            <a:ext cx="2651760" cy="2020824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17556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真正切换机会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157984"/>
            <a:ext cx="224942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196971"/>
                </a:solidFill>
                <a:latin typeface="Noto Sans CJK SC"/>
                <a:ea typeface="Noto Sans CJK SC"/>
              </a:rPr>
              <a:t>10/30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898648"/>
            <a:ext cx="2249424" cy="5852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仅 10 个来源订单出现最优动作切换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4014215"/>
            <a:ext cx="11265408" cy="1545336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7024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1F25"/>
                </a:solidFill>
                <a:latin typeface="Noto Sans CJK SC"/>
                <a:ea typeface="Noto Sans CJK SC"/>
              </a:rPr>
              <a:t>A 规范表达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00" b="0">
                <a:solidFill>
                  <a:srgbClr val="5B646D"/>
                </a:solidFill>
                <a:latin typeface="Noto Sans CJK SC"/>
                <a:ea typeface="Noto Sans CJK SC"/>
              </a:rPr>
              <a:t>已支持语法回归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87952" y="4224528"/>
            <a:ext cx="0" cy="996696"/>
          </a:xfrm>
          <a:prstGeom prst="line">
            <a:avLst/>
          </a:prstGeom>
          <a:ln w="12700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34840" y="427024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1F25"/>
                </a:solidFill>
                <a:latin typeface="Noto Sans CJK SC"/>
                <a:ea typeface="Noto Sans CJK SC"/>
              </a:rPr>
              <a:t>B 改写表达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0916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00" b="0">
                <a:solidFill>
                  <a:srgbClr val="5B646D"/>
                </a:solidFill>
                <a:latin typeface="Noto Sans CJK SC"/>
                <a:ea typeface="Noto Sans CJK SC"/>
              </a:rPr>
              <a:t>相同政策不同表述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91271" y="4224528"/>
            <a:ext cx="0" cy="996696"/>
          </a:xfrm>
          <a:prstGeom prst="line">
            <a:avLst/>
          </a:prstGeom>
          <a:ln w="12700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38160" y="427024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1F25"/>
                </a:solidFill>
                <a:latin typeface="Noto Sans CJK SC"/>
                <a:ea typeface="Noto Sans CJK SC"/>
              </a:rPr>
              <a:t>C 条件分支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70916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00" b="0">
                <a:solidFill>
                  <a:srgbClr val="5B646D"/>
                </a:solidFill>
                <a:latin typeface="Noto Sans CJK SC"/>
                <a:ea typeface="Noto Sans CJK SC"/>
              </a:rPr>
              <a:t>按当前箱属性选择政策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573328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00" b="1">
                <a:solidFill>
                  <a:srgbClr val="A6433B"/>
                </a:solidFill>
                <a:latin typeface="Noto Sans CJK SC"/>
                <a:ea typeface="Noto Sans CJK SC"/>
              </a:rPr>
              <a:t>注意：180 题 ≠ 180 个独立订单；无解题必须单列 abstain，不能计作业务成功。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O2a：协议合法率改善，但不能替代业务判断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新 Prompt 修复输出结构；候选内无解时仍需确定性业务屏障。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来源：O2a _02 acceptance_report /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1481328"/>
            <a:ext cx="5486400" cy="3374136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19072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1F25"/>
                </a:solidFill>
                <a:latin typeface="Noto Sans CJK SC"/>
                <a:ea typeface="Noto Sans CJK SC"/>
              </a:rPr>
              <a:t>首答响应合法率（20 道同题开发题）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41448"/>
            <a:ext cx="14173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00" b="0">
                <a:solidFill>
                  <a:srgbClr val="191F25"/>
                </a:solidFill>
                <a:latin typeface="Noto Sans CJK SC"/>
                <a:ea typeface="Noto Sans CJK SC"/>
              </a:rPr>
              <a:t>旧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478024"/>
            <a:ext cx="2916936" cy="246888"/>
          </a:xfrm>
          <a:prstGeom prst="rect">
            <a:avLst/>
          </a:prstGeom>
          <a:solidFill>
            <a:srgbClr val="D9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3432" y="2478024"/>
            <a:ext cx="2625242" cy="246888"/>
          </a:xfrm>
          <a:prstGeom prst="rect">
            <a:avLst/>
          </a:prstGeom>
          <a:solidFill>
            <a:srgbClr val="5B6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42316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1300" b="1">
                <a:solidFill>
                  <a:srgbClr val="191F25"/>
                </a:solidFill>
                <a:latin typeface="Noto Sans CJK SC"/>
                <a:ea typeface="Noto Sans CJK SC"/>
              </a:rPr>
              <a:t>18/20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410712"/>
            <a:ext cx="141732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00" b="0">
                <a:solidFill>
                  <a:srgbClr val="191F25"/>
                </a:solidFill>
                <a:latin typeface="Noto Sans CJK SC"/>
                <a:ea typeface="Noto Sans CJK SC"/>
              </a:rPr>
              <a:t>新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3432" y="3447288"/>
            <a:ext cx="2916936" cy="246888"/>
          </a:xfrm>
          <a:prstGeom prst="rect">
            <a:avLst/>
          </a:prstGeom>
          <a:solidFill>
            <a:srgbClr val="D9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3432" y="3447288"/>
            <a:ext cx="2916936" cy="246888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339242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1300" b="1">
                <a:solidFill>
                  <a:srgbClr val="191F25"/>
                </a:solidFill>
                <a:latin typeface="Noto Sans CJK SC"/>
                <a:ea typeface="Noto Sans CJK SC"/>
              </a:rPr>
              <a:t>20/20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481328"/>
            <a:ext cx="5522976" cy="3374136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719072"/>
            <a:ext cx="501091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00" b="1">
                <a:solidFill>
                  <a:srgbClr val="191F25"/>
                </a:solidFill>
                <a:latin typeface="Noto Sans CJK SC"/>
                <a:ea typeface="Noto Sans CJK SC"/>
              </a:rPr>
              <a:t>适用硬约束满足（8 道题）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31720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70" b="0">
                <a:solidFill>
                  <a:srgbClr val="191F25"/>
                </a:solidFill>
                <a:latin typeface="Noto Sans CJK SC"/>
                <a:ea typeface="Noto Sans CJK SC"/>
              </a:rPr>
              <a:t>旧 Prompt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377439"/>
            <a:ext cx="2523744" cy="192024"/>
          </a:xfrm>
          <a:prstGeom prst="rect">
            <a:avLst/>
          </a:prstGeom>
          <a:solidFill>
            <a:srgbClr val="D9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2377439"/>
            <a:ext cx="1577339" cy="192024"/>
          </a:xfrm>
          <a:prstGeom prst="rect">
            <a:avLst/>
          </a:prstGeom>
          <a:solidFill>
            <a:srgbClr val="5B6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81944" y="2304288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1350" b="1">
                <a:solidFill>
                  <a:srgbClr val="191F25"/>
                </a:solidFill>
                <a:latin typeface="Noto Sans CJK SC"/>
                <a:ea typeface="Noto Sans CJK SC"/>
              </a:rPr>
              <a:t>5/8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990087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70" b="0">
                <a:solidFill>
                  <a:srgbClr val="191F25"/>
                </a:solidFill>
                <a:latin typeface="Noto Sans CJK SC"/>
                <a:ea typeface="Noto Sans CJK SC"/>
              </a:rPr>
              <a:t>新 Prompt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035807"/>
            <a:ext cx="2523744" cy="192024"/>
          </a:xfrm>
          <a:prstGeom prst="rect">
            <a:avLst/>
          </a:prstGeom>
          <a:solidFill>
            <a:srgbClr val="D9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3035807"/>
            <a:ext cx="1892807" cy="192024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81944" y="2962656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1350" b="1">
                <a:solidFill>
                  <a:srgbClr val="191F25"/>
                </a:solidFill>
                <a:latin typeface="Noto Sans CJK SC"/>
                <a:ea typeface="Noto Sans CJK SC"/>
              </a:rPr>
              <a:t>6/8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48456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70" b="0">
                <a:solidFill>
                  <a:srgbClr val="191F25"/>
                </a:solidFill>
                <a:latin typeface="Noto Sans CJK SC"/>
                <a:ea typeface="Noto Sans CJK SC"/>
              </a:rPr>
              <a:t>Public Parser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694176"/>
            <a:ext cx="2523744" cy="192024"/>
          </a:xfrm>
          <a:prstGeom prst="rect">
            <a:avLst/>
          </a:prstGeom>
          <a:solidFill>
            <a:srgbClr val="D9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3694176"/>
            <a:ext cx="1892807" cy="192024"/>
          </a:xfrm>
          <a:prstGeom prst="rect">
            <a:avLst/>
          </a:prstGeom>
          <a:solidFill>
            <a:srgbClr val="196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81944" y="362102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1350" b="1">
                <a:solidFill>
                  <a:srgbClr val="191F25"/>
                </a:solidFill>
                <a:latin typeface="Noto Sans CJK SC"/>
                <a:ea typeface="Noto Sans CJK SC"/>
              </a:rPr>
              <a:t>6/8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" y="5138928"/>
            <a:ext cx="11247120" cy="713232"/>
          </a:xfrm>
          <a:prstGeom prst="roundRect">
            <a:avLst>
              <a:gd name="adj" fmla="val 6000"/>
            </a:avLst>
          </a:prstGeom>
          <a:solidFill>
            <a:srgbClr val="FA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5330952"/>
            <a:ext cx="108356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60" b="1">
                <a:solidFill>
                  <a:srgbClr val="A6433B"/>
                </a:solidFill>
                <a:latin typeface="Noto Sans CJK SC"/>
                <a:ea typeface="Noto Sans CJK SC"/>
              </a:rPr>
              <a:t>新 Prompt 在 2 道业务无解题仍误提交；20/20 是开发集观察，不保证未来请求永远 ≥98%。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O2b 六方法同题对照：混合架构可靠，但未超强规则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原始提议统计；业务屏障后的提交结果另计。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来源：O2b metrics/summary.json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545336"/>
            <a:ext cx="11210544" cy="530352"/>
          </a:xfrm>
          <a:prstGeom prst="rect">
            <a:avLst/>
          </a:prstGeom>
          <a:solidFill>
            <a:srgbClr val="EC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64208"/>
            <a:ext cx="280720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80" b="1">
                <a:solidFill>
                  <a:srgbClr val="191F25"/>
                </a:solidFill>
                <a:latin typeface="Noto Sans CJK SC"/>
                <a:ea typeface="Noto Sans CJK SC"/>
              </a:rPr>
              <a:t>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664208"/>
            <a:ext cx="239572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80" b="1">
                <a:solidFill>
                  <a:srgbClr val="191F25"/>
                </a:solidFill>
                <a:latin typeface="Noto Sans CJK SC"/>
                <a:ea typeface="Noto Sans CJK SC"/>
              </a:rPr>
              <a:t>可避免硬违规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664208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80" b="1">
                <a:solidFill>
                  <a:srgbClr val="191F25"/>
                </a:solidFill>
                <a:latin typeface="Noto Sans CJK SC"/>
                <a:ea typeface="Noto Sans CJK SC"/>
              </a:rPr>
              <a:t>最优等价候选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1664208"/>
            <a:ext cx="280720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80" b="1">
                <a:solidFill>
                  <a:srgbClr val="191F25"/>
                </a:solidFill>
                <a:latin typeface="Noto Sans CJK SC"/>
                <a:ea typeface="Noto Sans CJK SC"/>
              </a:rPr>
              <a:t>输入权限 / 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084831"/>
            <a:ext cx="11210544" cy="566928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203703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Geometry-Greedy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203703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27/111  ·  24.3%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203703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81/168  ·  48.2%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203703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公开几何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2660903"/>
            <a:ext cx="11210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779775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固定属性启发式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779775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3/111  ·  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9775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129/168  ·  76.8%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779775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公开属性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3236976"/>
            <a:ext cx="11210544" cy="566928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355848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Flash Direct-Text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355848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21/111  ·  18.9%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355848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93/167  ·  55.7%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3355848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公开事实，直接选编号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3813048"/>
            <a:ext cx="11210544" cy="566928"/>
          </a:xfrm>
          <a:prstGeom prst="rect">
            <a:avLst/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931920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Public Parser＋Executor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3931920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0/111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3931920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168/168  ·  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3931920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公开自然语言＋确定性执行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4389120"/>
            <a:ext cx="11210544" cy="566928"/>
          </a:xfrm>
          <a:prstGeom prst="rect">
            <a:avLst/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4507992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Flash AST＋Executor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4507992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0/111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507992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168/168  · 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4507992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1">
                <a:solidFill>
                  <a:srgbClr val="196971"/>
                </a:solidFill>
                <a:latin typeface="Noto Sans CJK SC"/>
                <a:ea typeface="Noto Sans CJK SC"/>
              </a:rPr>
              <a:t>公开自然语言→AST＋同一执行器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4965192"/>
            <a:ext cx="11210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084064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真值 AST 参考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47872" y="5084064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0/111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8192" y="5084064"/>
            <a:ext cx="25511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168/168  ·  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5084064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191F25"/>
                </a:solidFill>
                <a:latin typeface="Noto Sans CJK SC"/>
                <a:ea typeface="Noto Sans CJK SC"/>
              </a:rPr>
              <a:t>隐藏真值；特权参考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73328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分母：111 = 硬规则适用且 Top-K 有解；168 = 候选内有解；Direct 的有效原始提议分母为 167。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逐题案例：C08 新增禁止接触，C10 满足业务要求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O1B_GROUP_004_A0：易碎承载≤1 kg；电子品不得与重箱直接面接触；再比较重箱低位/中心。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来源：O2b public_request / per_decision.csv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700784"/>
            <a:ext cx="5394960" cy="3575304"/>
          </a:xfrm>
          <a:prstGeom prst="roundRect">
            <a:avLst>
              <a:gd name="adj" fmla="val 6000"/>
            </a:avLst>
          </a:prstGeom>
          <a:solidFill>
            <a:srgbClr val="FAEBE8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2011680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1965960"/>
            <a:ext cx="188366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80" b="1">
                <a:solidFill>
                  <a:srgbClr val="A6433B"/>
                </a:solidFill>
                <a:latin typeface="Noto Sans CJK SC"/>
                <a:ea typeface="Noto Sans CJK SC"/>
              </a:rPr>
              <a:t>Flash Direct  →  C08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146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100" b="1">
                <a:solidFill>
                  <a:srgbClr val="A6433B"/>
                </a:solidFill>
                <a:latin typeface="Noto Sans CJK SC"/>
                <a:ea typeface="Noto Sans CJK SC"/>
              </a:rPr>
              <a:t>新增禁止面接触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136392"/>
            <a:ext cx="4754880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00" b="1">
                <a:solidFill>
                  <a:srgbClr val="191F25"/>
                </a:solidFill>
                <a:latin typeface="Noto Sans CJK SC"/>
                <a:ea typeface="Noto Sans CJK SC"/>
              </a:rPr>
              <a:t>item_04（heavy）↔ item_05（electronics）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050791"/>
            <a:ext cx="47548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0">
                <a:solidFill>
                  <a:srgbClr val="191F25"/>
                </a:solidFill>
                <a:latin typeface="Noto Sans CJK SC"/>
                <a:ea typeface="Noto Sans CJK SC"/>
              </a:rPr>
              <a:t>原始提议：新增业务违规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590288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1">
                <a:solidFill>
                  <a:srgbClr val="A6433B"/>
                </a:solidFill>
                <a:latin typeface="Noto Sans CJK SC"/>
                <a:ea typeface="Noto Sans CJK SC"/>
              </a:rPr>
              <a:t>提交结果：屏障拦截 → abstain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00784"/>
            <a:ext cx="5477256" cy="3575304"/>
          </a:xfrm>
          <a:prstGeom prst="roundRect">
            <a:avLst>
              <a:gd name="adj" fmla="val 6000"/>
            </a:avLst>
          </a:prstGeom>
          <a:solidFill>
            <a:srgbClr val="E4F4EA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4808" y="1938528"/>
            <a:ext cx="3063240" cy="301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965960"/>
            <a:ext cx="293522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80" b="1">
                <a:solidFill>
                  <a:srgbClr val="227753"/>
                </a:solidFill>
                <a:latin typeface="Noto Sans CJK SC"/>
                <a:ea typeface="Noto Sans CJK SC"/>
              </a:rPr>
              <a:t>Flash AST / Public Parser  →  C10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146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020" b="1">
                <a:solidFill>
                  <a:srgbClr val="227753"/>
                </a:solidFill>
                <a:latin typeface="Noto Sans CJK SC"/>
                <a:ea typeface="Noto Sans CJK SC"/>
              </a:rPr>
              <a:t>没有这对新增禁止接触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136392"/>
            <a:ext cx="480060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40" b="0">
                <a:solidFill>
                  <a:srgbClr val="191F25"/>
                </a:solidFill>
                <a:latin typeface="Noto Sans CJK SC"/>
                <a:ea typeface="Noto Sans CJK SC"/>
              </a:rPr>
              <a:t>相同公开候选事实，由执行器按硬约束与优先级排序。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050791"/>
            <a:ext cx="480060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0">
                <a:solidFill>
                  <a:srgbClr val="191F25"/>
                </a:solidFill>
                <a:latin typeface="Noto Sans CJK SC"/>
                <a:ea typeface="Noto Sans CJK SC"/>
              </a:rPr>
              <a:t>原始提议：新增业务违规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590288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20" b="1">
                <a:solidFill>
                  <a:srgbClr val="227753"/>
                </a:solidFill>
                <a:latin typeface="Noto Sans CJK SC"/>
                <a:ea typeface="Noto Sans CJK SC"/>
              </a:rPr>
              <a:t>提交结果：C10；命中最优等价集合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86984"/>
            <a:ext cx="1115568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00" b="1">
                <a:solidFill>
                  <a:srgbClr val="191F25"/>
                </a:solidFill>
                <a:latin typeface="Noto Sans CJK SC"/>
                <a:ea typeface="Noto Sans CJK SC"/>
              </a:rPr>
              <a:t>读图关键：屏障阻止了 C08 的错误提交，但不能将其算作 Direct 自身“选择正确”。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证据边界：工程检查通过，论文优势仍待新任务验证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技术复查、统计设计、在线验证和视觉贡献是不同层次。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来源：O2b replay/acceptance；Agent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563624"/>
            <a:ext cx="2660904" cy="1938528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28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独立回放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130552"/>
            <a:ext cx="225856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196971"/>
                </a:solidFill>
                <a:latin typeface="Noto Sans CJK SC"/>
                <a:ea typeface="Noto Sans CJK SC"/>
              </a:rPr>
              <a:t>1080/1080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71215"/>
            <a:ext cx="2258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O2b 六方法计划记录完整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563624"/>
            <a:ext cx="2660904" cy="1938528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728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已提交物理违规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130552"/>
            <a:ext cx="225856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227753"/>
                </a:solidFill>
                <a:latin typeface="Noto Sans CJK SC"/>
                <a:ea typeface="Noto Sans CJK SC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871215"/>
            <a:ext cx="2258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不代表原始业务提议零违规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63624"/>
            <a:ext cx="2660904" cy="1938528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28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Flash AST 严格一致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130552"/>
            <a:ext cx="225856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A6433B"/>
                </a:solidFill>
                <a:latin typeface="Noto Sans CJK SC"/>
                <a:ea typeface="Noto Sans CJK SC"/>
              </a:rPr>
              <a:t>80/180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71215"/>
            <a:ext cx="2258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结构一致率；选址结果不能代替解析准确率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563624"/>
            <a:ext cx="2596896" cy="1938528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172821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320" b="0">
                <a:solidFill>
                  <a:srgbClr val="5B646D"/>
                </a:solidFill>
                <a:latin typeface="Noto Sans CJK SC"/>
                <a:ea typeface="Noto Sans CJK SC"/>
              </a:rPr>
              <a:t>政策切换来源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130552"/>
            <a:ext cx="21945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3000" b="1">
                <a:solidFill>
                  <a:srgbClr val="A6433B"/>
                </a:solidFill>
                <a:latin typeface="Noto Sans CJK SC"/>
                <a:ea typeface="Noto Sans CJK SC"/>
              </a:rPr>
              <a:t>10/30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871215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0">
                <a:solidFill>
                  <a:srgbClr val="5B646D"/>
                </a:solidFill>
                <a:latin typeface="Noto Sans CJK SC"/>
                <a:ea typeface="Noto Sans CJK SC"/>
              </a:rPr>
              <a:t>有效机会来自 10 个独立订单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941063"/>
            <a:ext cx="11237976" cy="1600200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730" b="1">
                <a:solidFill>
                  <a:srgbClr val="191F25"/>
                </a:solidFill>
                <a:latin typeface="Noto Sans CJK SC"/>
                <a:ea typeface="Noto Sans CJK SC"/>
              </a:rPr>
              <a:t>当前不能声称的结果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608576"/>
            <a:ext cx="10625328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70" b="0">
                <a:solidFill>
                  <a:srgbClr val="5B646D"/>
                </a:solidFill>
                <a:latin typeface="Noto Sans CJK SC"/>
                <a:ea typeface="Noto Sans CJK SC"/>
              </a:rPr>
              <a:t>① Flash 优于强 Public Parser   ② 完整订单布局改善   ③ 图像带来增量   ④ 新 test 上的统计结论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33288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0">
                <a:solidFill>
                  <a:srgbClr val="5B646D"/>
                </a:solidFill>
                <a:latin typeface="Noto Sans CJK SC"/>
                <a:ea typeface="Noto Sans CJK SC"/>
              </a:rPr>
              <a:t>O2a/O1b 有 Agent 独立技术复查；两名真人的人工签认仍为 PENDING。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论文研究方向：找到“模型必要”的信息和任务边界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创新要由同权限强对照和完整布局结果支撑，而不是先设定模型胜出。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来源：O3 路线 / O2b 强基线结果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630168" cy="4050791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00" b="1">
                <a:solidFill>
                  <a:srgbClr val="196971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42032"/>
            <a:ext cx="3154680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100" b="1">
                <a:solidFill>
                  <a:srgbClr val="191F25"/>
                </a:solidFill>
                <a:latin typeface="Noto Sans CJK SC"/>
                <a:ea typeface="Noto Sans CJK SC"/>
              </a:rPr>
              <a:t>语言政策解释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55848"/>
            <a:ext cx="3127248" cy="1252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10" b="0">
                <a:solidFill>
                  <a:srgbClr val="5B646D"/>
                </a:solidFill>
                <a:latin typeface="Noto Sans CJK SC"/>
                <a:ea typeface="Noto Sans CJK SC"/>
              </a:rPr>
              <a:t>新来源、未见表述/组合/例外；对比充分开发的 Public Parser。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4809744"/>
            <a:ext cx="3108960" cy="0"/>
          </a:xfrm>
          <a:prstGeom prst="line">
            <a:avLst/>
          </a:prstGeom>
          <a:ln w="12700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4974336"/>
            <a:ext cx="3136392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1">
                <a:solidFill>
                  <a:srgbClr val="196971"/>
                </a:solidFill>
                <a:latin typeface="Noto Sans CJK SC"/>
                <a:ea typeface="Noto Sans CJK SC"/>
              </a:rPr>
              <a:t>证明“语言适应”是否真有增量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45920"/>
            <a:ext cx="3630168" cy="4050791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947672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00" b="1">
                <a:solidFill>
                  <a:srgbClr val="196971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2542032"/>
            <a:ext cx="3154680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100" b="1">
                <a:solidFill>
                  <a:srgbClr val="191F25"/>
                </a:solidFill>
                <a:latin typeface="Noto Sans CJK SC"/>
                <a:ea typeface="Noto Sans CJK SC"/>
              </a:rPr>
              <a:t>在线属性布局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3355848"/>
            <a:ext cx="3127248" cy="1252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10" b="0">
                <a:solidFill>
                  <a:srgbClr val="5B646D"/>
                </a:solidFill>
                <a:latin typeface="Noto Sans CJK SC"/>
                <a:ea typeface="Noto Sans CJK SC"/>
              </a:rPr>
              <a:t>每步按本方法真实状态再生成候选；比较属性任务成功与完成率。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26864" y="4809744"/>
            <a:ext cx="3108960" cy="0"/>
          </a:xfrm>
          <a:prstGeom prst="line">
            <a:avLst/>
          </a:prstGeom>
          <a:ln w="12700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26864" y="4974336"/>
            <a:ext cx="3136392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1">
                <a:solidFill>
                  <a:srgbClr val="196971"/>
                </a:solidFill>
                <a:latin typeface="Noto Sans CJK SC"/>
                <a:ea typeface="Noto Sans CJK SC"/>
              </a:rPr>
              <a:t>证明单步收益是否能累积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1645920"/>
            <a:ext cx="3630168" cy="4050791"/>
          </a:xfrm>
          <a:prstGeom prst="roundRect">
            <a:avLst>
              <a:gd name="adj" fmla="val 6000"/>
            </a:avLst>
          </a:prstGeom>
          <a:solidFill>
            <a:srgbClr val="F7F8F9"/>
          </a:solidFill>
          <a:ln w="8890">
            <a:solidFill>
              <a:srgbClr val="D9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947672"/>
            <a:ext cx="31546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00" b="1">
                <a:solidFill>
                  <a:srgbClr val="196971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542032"/>
            <a:ext cx="3154680" cy="521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100" b="1">
                <a:solidFill>
                  <a:srgbClr val="191F25"/>
                </a:solidFill>
                <a:latin typeface="Noto Sans CJK SC"/>
                <a:ea typeface="Noto Sans CJK SC"/>
              </a:rPr>
              <a:t>视觉属性缺口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355848"/>
            <a:ext cx="3127248" cy="1252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510" b="0">
                <a:solidFill>
                  <a:srgbClr val="5B646D"/>
                </a:solidFill>
                <a:latin typeface="Noto Sans CJK SC"/>
                <a:ea typeface="Noto Sans CJK SC"/>
              </a:rPr>
              <a:t>仅在图像确有独有属性时测试；对比 OCR 和真值 Text 上界。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4809744"/>
            <a:ext cx="3108960" cy="0"/>
          </a:xfrm>
          <a:prstGeom prst="line">
            <a:avLst/>
          </a:prstGeom>
          <a:ln w="12700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3920" y="4974336"/>
            <a:ext cx="3136392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70" b="1">
                <a:solidFill>
                  <a:srgbClr val="196971"/>
                </a:solidFill>
                <a:latin typeface="Noto Sans CJK SC"/>
                <a:ea typeface="Noto Sans CJK SC"/>
              </a:rPr>
              <a:t>分清感知贡献与规划贡献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800" b="1">
                <a:solidFill>
                  <a:srgbClr val="191F25"/>
                </a:solidFill>
                <a:latin typeface="Noto Sans CJK SC"/>
                <a:ea typeface="Noto Sans CJK SC"/>
              </a:rPr>
              <a:t>下一阶段：先完成 O3 在线闭环，再冻结新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960120"/>
            <a:ext cx="11064240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先把框架接好并验证安全性；真实模型调用和研究结论随后分阶段推进。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272784"/>
            <a:ext cx="11311128" cy="0"/>
          </a:xfrm>
          <a:prstGeom prst="line">
            <a:avLst/>
          </a:prstGeom>
          <a:ln w="8255">
            <a:solidFill>
              <a:srgbClr val="D9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336792"/>
            <a:ext cx="6675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NBU_Papper  ·  开发验证数据，非正式新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3679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860" b="0">
                <a:solidFill>
                  <a:srgbClr val="5B646D"/>
                </a:solidFill>
                <a:latin typeface="Noto Sans CJK SC"/>
                <a:ea typeface="Noto Sans CJK SC"/>
              </a:rPr>
              <a:t>来源：O3 在线码垛框架与论文创新验证路线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</a:pPr>
            <a:r>
              <a:rPr sz="919" b="0">
                <a:solidFill>
                  <a:srgbClr val="5B646D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719072"/>
            <a:ext cx="1024128" cy="301752"/>
          </a:xfrm>
          <a:prstGeom prst="roundRect">
            <a:avLst>
              <a:gd name="adj" fmla="val 6000"/>
            </a:avLst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4650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80" b="1">
                <a:solidFill>
                  <a:srgbClr val="196971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636776"/>
            <a:ext cx="2935224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50" b="1">
                <a:solidFill>
                  <a:srgbClr val="191F25"/>
                </a:solidFill>
                <a:latin typeface="Noto Sans CJK SC"/>
                <a:ea typeface="Noto Sans CJK SC"/>
              </a:rPr>
              <a:t>O3a · 接线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36776"/>
            <a:ext cx="6949440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在线状态、policy_digest、AST、关系特征、业务屏障与独立回放。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2020824"/>
            <a:ext cx="0" cy="594360"/>
          </a:xfrm>
          <a:prstGeom prst="line">
            <a:avLst/>
          </a:prstGeom>
          <a:ln w="14604">
            <a:solidFill>
              <a:srgbClr val="1969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776" y="2706624"/>
            <a:ext cx="1024128" cy="301752"/>
          </a:xfrm>
          <a:prstGeom prst="roundRect">
            <a:avLst>
              <a:gd name="adj" fmla="val 6000"/>
            </a:avLst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2734056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80" b="1">
                <a:solidFill>
                  <a:srgbClr val="196971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2624327"/>
            <a:ext cx="2935224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50" b="1">
                <a:solidFill>
                  <a:srgbClr val="191F25"/>
                </a:solidFill>
                <a:latin typeface="Noto Sans CJK SC"/>
                <a:ea typeface="Noto Sans CJK SC"/>
              </a:rPr>
              <a:t>O3a · 离线验收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24327"/>
            <a:ext cx="6949440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几何/固定属性/Public Parser/混合接口/真值在线参考；终止记录完整，物理违规 0。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3008376"/>
            <a:ext cx="0" cy="594360"/>
          </a:xfrm>
          <a:prstGeom prst="line">
            <a:avLst/>
          </a:prstGeom>
          <a:ln w="14604">
            <a:solidFill>
              <a:srgbClr val="1969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3776" y="3694176"/>
            <a:ext cx="1024128" cy="301752"/>
          </a:xfrm>
          <a:prstGeom prst="roundRect">
            <a:avLst>
              <a:gd name="adj" fmla="val 6000"/>
            </a:avLst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3721608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80" b="1">
                <a:solidFill>
                  <a:srgbClr val="196971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611879"/>
            <a:ext cx="2935224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50" b="1">
                <a:solidFill>
                  <a:srgbClr val="191F25"/>
                </a:solidFill>
                <a:latin typeface="Noto Sans CJK SC"/>
                <a:ea typeface="Noto Sans CJK SC"/>
              </a:rPr>
              <a:t>O3b ·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11879"/>
            <a:ext cx="6949440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真实 Flash 在线调用；报告 Episode Attribute Success、完成率、属性原始量与屏障干预。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3995928"/>
            <a:ext cx="0" cy="594360"/>
          </a:xfrm>
          <a:prstGeom prst="line">
            <a:avLst/>
          </a:prstGeom>
          <a:ln w="14604">
            <a:solidFill>
              <a:srgbClr val="1969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3776" y="4681728"/>
            <a:ext cx="1024128" cy="301752"/>
          </a:xfrm>
          <a:prstGeom prst="roundRect">
            <a:avLst>
              <a:gd name="adj" fmla="val 6000"/>
            </a:avLst>
          </a:prstGeom>
          <a:solidFill>
            <a:srgbClr val="DE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709160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80" b="1">
                <a:solidFill>
                  <a:srgbClr val="196971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599432"/>
            <a:ext cx="2935224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650" b="1">
                <a:solidFill>
                  <a:srgbClr val="191F25"/>
                </a:solidFill>
                <a:latin typeface="Noto Sans CJK SC"/>
                <a:ea typeface="Noto Sans CJK SC"/>
              </a:rPr>
              <a:t>新 test · 冻结后执行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99432"/>
            <a:ext cx="6949440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420" b="0">
                <a:solidFill>
                  <a:srgbClr val="5B646D"/>
                </a:solidFill>
                <a:latin typeface="Noto Sans CJK SC"/>
                <a:ea typeface="Noto Sans CJK SC"/>
              </a:rPr>
              <a:t>先用独立开发来源确定组数、重复次数与阈值；再做正式配对矩阵。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" y="5696712"/>
            <a:ext cx="11228832" cy="420624"/>
          </a:xfrm>
          <a:prstGeom prst="roundRect">
            <a:avLst>
              <a:gd name="adj" fmla="val 6000"/>
            </a:avLst>
          </a:prstGeom>
          <a:solidFill>
            <a:srgbClr val="EC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769864"/>
            <a:ext cx="108082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240" b="1">
                <a:solidFill>
                  <a:srgbClr val="196971"/>
                </a:solidFill>
                <a:latin typeface="Noto Sans CJK SC"/>
                <a:ea typeface="Noto Sans CJK SC"/>
              </a:rPr>
              <a:t>近期实验不记录、不估算、不考核费用；保留请求、错误、版本和必要时延。O3 目前尚未实现。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2459</Words>
  <Application>Microsoft Macintosh PowerPoint</Application>
  <PresentationFormat>Widescreen</PresentationFormat>
  <Paragraphs>317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OpenAI Sans</vt:lpstr>
      <vt:lpstr>Helvetica Neue Medium</vt:lpstr>
      <vt:lpstr>Aptos</vt:lpstr>
      <vt:lpstr>Helvetica Neue</vt:lpstr>
      <vt:lpstr>Default Codex Theme</vt:lpstr>
      <vt:lpstr>Simple Light Mode Presentation Template</vt:lpstr>
      <vt:lpstr>Presentation  headline goes here</vt:lpstr>
      <vt:lpstr>Today’s Agenda</vt:lpstr>
      <vt:lpstr>Two column layout</vt:lpstr>
      <vt:lpstr>Two column layout</vt:lpstr>
      <vt:lpstr>Three column layout</vt:lpstr>
      <vt:lpstr>Three column layout</vt:lpstr>
      <vt:lpstr>Half text, half image slide</vt:lpstr>
      <vt:lpstr>Large message slides with three callouts. Lorem ipsum dolor sit amet, consectetur adipiscing elit. </vt:lpstr>
      <vt:lpstr>One column layout with checklist </vt:lpstr>
      <vt:lpstr>Intro with two comparison cards</vt:lpstr>
      <vt:lpstr>Intro and 2x2 card grid</vt:lpstr>
      <vt:lpstr>Four points grid layout </vt:lpstr>
      <vt:lpstr>Intro and data table</vt:lpstr>
      <vt:lpstr>Intro with four topics</vt:lpstr>
      <vt:lpstr>Four column layout with eight topics</vt:lpstr>
      <vt:lpstr>Timeline with three text only milestones</vt:lpstr>
      <vt:lpstr>Timeline with three card milestones</vt:lpstr>
      <vt:lpstr>Topic description and three large stat cards layout</vt:lpstr>
      <vt:lpstr>Chart with three cards</vt:lpstr>
      <vt:lpstr>Line chart with two stat callout cards</vt:lpstr>
      <vt:lpstr>Column chart with text and two stat callouts</vt:lpstr>
      <vt:lpstr>Three column pricing layout</vt:lpstr>
      <vt:lpstr>Gantt chart over time</vt:lpstr>
      <vt:lpstr>Calendar grid with milestones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属性感知码垛：近期进展与核心实验</dc:title>
  <dc:subject>NBU_Papper V2/O2a/O1b/O2b/O3 research readout</dc:subject>
  <dc:creator>NBU_Papper project</dc:creator>
  <cp:keywords>palletizing, AST, DeepSeek Flash, O2b, O3</cp:keywords>
</cp:coreProperties>
</file>