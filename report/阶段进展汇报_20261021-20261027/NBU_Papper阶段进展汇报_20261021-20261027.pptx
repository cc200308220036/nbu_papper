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第1页：从业务规则闭环到有限规划收益</a:t>
            </a:r>
          </a:p>
          <a:p/>
          <a:p>
            <a:r>
              <a:t>本期核心变化有三点：业务语义从固定题进入完整订单；最多三箱的待码缓冲允许已到货箱改序及选位；通过真实模型实验和规划消融，将瓶颈从规则解析进一步定位到候选覆盖及有限搜索。最终B0有开发集上的有限收益，但没有模型或视觉增量、未见来源泛化的证据。</a:t>
            </a:r>
          </a:p>
          <a:p/>
          <a:p>
            <a:r>
              <a:t>证据：O4-C / F / D / E5 / B0 阶段报告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第2页：一周推进路径：能力扩展、真实验证、回到规划瓶颈</a:t>
            </a:r>
          </a:p>
          <a:p/>
          <a:p>
            <a:r>
              <a:t>10月21日交付A/B业务语义、C单箱与F缓冲工程；F最终验收在22日。22日A5公共图像通过。23—24日完成D真实客户端、首版真实订单与失败分析。25日修订公共契约、补固定题，并验证区域规则。26日验证相对位置、冻结混合订单。27日完成E5真实闭环、规划消融与B0限定验证。</a:t>
            </a:r>
          </a:p>
          <a:p/>
          <a:p>
            <a:r>
              <a:t>证据：docs/03_阶段产出分析/O4/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第3页：O4架构：模型编译业务，规划器决定如何放置</a:t>
            </a:r>
          </a:p>
          <a:p/>
          <a:p>
            <a:r>
              <a:t>输入是准确仿真属性、已放状态、已到货待码箱及显式业务文本。Parser、Flash Text、Flash Image或特权Oracle分别产生AST。共同执行器检查禁压、累计限载、禁接触、区域及相对位置，再由同版本规划器在业务允许候选中选择。真实动作在独立物理检查后提交，参考业务评价事后进行；不会用Oracle修正普通方法的错误AST。</a:t>
            </a:r>
          </a:p>
          <a:p/>
          <a:p>
            <a:r>
              <a:t>证据：O4-C、F、D与E5阶段报告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第4页：业务规则从“属性标签”变为可执行约束</a:t>
            </a:r>
          </a:p>
          <a:p/>
          <a:p>
            <a:r>
              <a:t>类别、禁压标记、标签限载和加固属性是准确公开的仿真事实，并非真实视觉识别结果。类别本身不自动产生禁令，规则必须由作业单启用。三类核心约束为禁压/累计顶部限载、禁止直接面接触以及条件与显式覆盖。运行执行器与独立参考评价器分别实现，使格式合法但语义错误的AST仍能被评价发现。A/B包含36个金标准、24个非法案例和144条固定记录，均保留无可行动作状态。</a:t>
            </a:r>
          </a:p>
          <a:p/>
          <a:p>
            <a:r>
              <a:t>证据：O4属性协议、三约束AST与独立评价器报告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第5页：单箱闭环已打通，但复杂业务下完成率偏低</a:t>
            </a:r>
          </a:p>
          <a:p/>
          <a:p>
            <a:r>
              <a:t>C阶段每方法72任务，两方法144条主记录、1604次决策和1482次实际提交，物理与业务违规为0。每方法完整无违规11/72，平均件数63.75%、体积62.43%。49条业务候选空，12条物理候选空。当前布局下的采样/枚举无动作不代表连续空间或整个订单全局无解。此处是离线Parser/Oracle，不是真实模型成绩。</a:t>
            </a:r>
          </a:p>
          <a:p/>
          <a:p>
            <a:r>
              <a:t>证据：O4-C完整订单报告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第6页：三箱缓冲：联合选择“取哪箱、放哪里”</a:t>
            </a:r>
          </a:p>
          <a:p/>
          <a:p>
            <a:r>
              <a:t>待码区有三个真实、独立可取槽位。环境补满缓冲或接收EOS后编译一次业务AST；每箱生成最多16个候选，联合最多48。FIFO保持到货顺序；启发式考虑业务可行候选数、质量及到货顺序；搜索深度3、beam8、至多256次后继评价，实际仅提交第一步，补货后重新规划。搜索访问克隆状态，既不改变根状态也不再读取未来。256是逻辑评价预算，不是总耗时上限。</a:t>
            </a:r>
          </a:p>
          <a:p/>
          <a:p>
            <a:r>
              <a:t>证据：O4-F缓冲开发报告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第7页：真实三缓冲状态：02、03暂存，先放04号箱</a:t>
            </a:r>
          </a:p>
          <a:p/>
          <a:p>
            <a:r>
              <a:t>本图从已保存真实模型轨迹重绘。事件5只有01已码；取料区槽0为04、槽1为02、槽2为03。事件6选择04并提交，02、03继续保留，不被丢弃。模型在该架构下编译业务AST，选箱动作来自共同搜索规划器。没有把后续未到货箱画进取料区。槽位示意不是箱体在托盘上的空间位置，尺寸未按比例显示；托盘布局使用真实毫米尺寸。</a:t>
            </a:r>
          </a:p>
          <a:p/>
          <a:p>
            <a:r>
              <a:t>证据：O4_D_BUFFER_VISUAL_20261024_01/data.json</a:t>
            </a:r>
          </a:p>
          <a:p>
            <a:r>
              <a:t>页面：report/analysis/O4_D_BUFFER_VISUAL_20261024_01/index.html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第8页：代表成功：同一订单从9/19到19/19箱</a:t>
            </a:r>
          </a:p>
          <a:p/>
          <a:p>
            <a:r>
              <a:t>该例按Oracle搜索相对单箱的件数增量排序选出，为代表改善而非随机样本。单箱与FIFO均放9/19，容量3启发式和搜索均完成19/19。使用真实保存位姿重绘；颜色表示货物类别，不表示正确性或违规。这是规划器收益案例，不能说图像或模型独立带来了10箱增益。完整矩阵里启发式并不总逊于搜索。</a:t>
            </a:r>
          </a:p>
          <a:p/>
          <a:p>
            <a:r>
              <a:t>证据：O4-D缓冲真实订单可视化 / O4_ORDER_02_2</a:t>
            </a:r>
          </a:p>
          <a:p>
            <a:r>
              <a:t>页面：report/analysis/O4_D_BUFFER_VISUAL_20261024_01/index.html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第9页：三缓冲平均结果：启发式本轮优于有界搜索</a:t>
            </a:r>
          </a:p>
          <a:p/>
          <a:p>
            <a:r>
              <a:t>四种Oracle语义规划器与一组强规则搜索共360条主记录。single/FIFO完整无违规11/72；启发式17/72；搜索13/72。搜索较单箱35条多放、20条持平、17条少放，平均件数+6.18个百分点。搜索截断82.47%，其评分、宽度、预算均可能影响表现，不能仅归因某一因素。所有F结果是离线确定性规划，不是真实模型准确率。</a:t>
            </a:r>
          </a:p>
          <a:p/>
          <a:p>
            <a:r>
              <a:t>证据：O4-F结果与资源统计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第10页：可视化保留三类案例：成功、改善未完成、退步</a:t>
            </a:r>
          </a:p>
          <a:p/>
          <a:p>
            <a:r>
              <a:t>第二例O4_ORDER_07_0在Oracle下单箱/FIFO/启发式/搜索为7/7/12/13，共16箱；多放不等于完成。第三例O4_ORDER_00_3中Oracle单箱/FIFO/启发式为16/16，搜索15/16；Text和Image又均在首次编译失败后停止，实际0箱。规划搜索退步和模型协议失败是两个机制，不能混为一类。页面按事件序号同步，不是墙钟时间；协议失败后冻结真实状态，不补未来箱。</a:t>
            </a:r>
          </a:p>
          <a:p/>
          <a:p>
            <a:r>
              <a:t>证据：O4_D_BUFFER_VISUAL_20261024_01/README.md</a:t>
            </a:r>
          </a:p>
          <a:p>
            <a:r>
              <a:t>页面：report/analysis/O4_D_BUFFER_VISUAL_20261024_01/index.html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第11页：公共图像A5：从准确事实生成可核验的技术示意</a:t>
            </a:r>
          </a:p>
          <a:p/>
          <a:p>
            <a:r>
              <a:t>A5将20030条原始公共记录去重为7431份输入，生成3552张唯一PNG，独立事实、几何、RGB像素及字节确定性检查通过。三缓冲槽位、空队列和EOS均覆盖。Text与Image拥有相同事实，图像条件额外添加PNG。没有检测/OCR/置信度估计或图像独占信息，不能宣称真实视觉感知能力。</a:t>
            </a:r>
          </a:p>
          <a:p/>
          <a:p>
            <a:r>
              <a:t>证据：O4公共图像A5验收报告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第12页：真实模型D首版：闭环运行，但协议拒绝大量截断订单</a:t>
            </a:r>
          </a:p>
          <a:p/>
          <a:p>
            <a:r>
              <a:t>首版D订单来自12来源×6配置×4规划器×4编译来源。订单4472次请求，冒烟28次。4217个编译机会最终有效3974；已接受AST语义全部与参考一致，但Text/Image共576条模型episode中243条协议停止，占42.19%。Text/Image已码序列均为对应Parser前缀，支持协议截断是主要损失来源。零违规包括大量提前拒绝，不是效果良好。</a:t>
            </a:r>
          </a:p>
          <a:p/>
          <a:p>
            <a:r>
              <a:t>证据：O4-D真实编译冒烟与完整订单结果分析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第13页：D-V2：补齐公共契约，区分结构差异和语义错误</a:t>
            </a:r>
          </a:p>
          <a:p/>
          <a:p>
            <a:r>
              <a:t>V2明确类别枚举、字段类型及修复诊断。144条固定题每种来源各144，Text/Image最终允许集合144/144一致。旧签名Text为138/144，6条差异由零限载与禁止顶部加载的已声明等价含义解释；原始分数和响应保留，不事后改成模型修复成功。图像输入token约多19.27%，未带来候选判断收益。没有重跑首版1152订单，不能将固定题提升外推为在线完成率提升。</a:t>
            </a:r>
          </a:p>
          <a:p/>
          <a:p>
            <a:r>
              <a:t>证据：O4D_V2真实冒烟与固定题分析；评价器V2报告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第14页：约束扩展：区域与相对位置通过真实编译验证</a:t>
            </a:r>
          </a:p>
          <a:p/>
          <a:p>
            <a:r>
              <a:t>E1区域约束包含区域归属及与载荷规则组合；E2相对位置验证主体/客体、方向、间距及缓冲顺序。每项均为12冒烟+24固定状态、四来源144条记录；模型基础任务72。E1用72请求首答全有效；E2用73请求，71/72首答有效、1次绑定摘要修复成功。两者模型最终语义和允许集合全一致。不是36个独立订单，也不是在线连续决策；不构成未见表达泛化。</a:t>
            </a:r>
          </a:p>
          <a:p/>
          <a:p>
            <a:r>
              <a:t>证据：O4-E1 / E2真实冒烟与固定题报告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第15页：E5混合约束真实闭环：240条矩阵执行完成</a:t>
            </a:r>
          </a:p>
          <a:p/>
          <a:p>
            <a:r>
              <a:t>用户分20条前缀与220条续跑完成240记录。累计945请求，含943次编译和2次修复；941/943首答有效，最终943/943有效。Text766次、Image177次有效语义和当前允许集合全一致。945已包含前缀84，不能相加。PASS指执行和记账完成，并非每单放完。模型是显式规则编译器；相同规划器下后端保存指标一致，没有模型或图片收益。</a:t>
            </a:r>
          </a:p>
          <a:p/>
          <a:p>
            <a:r>
              <a:t>证据：O4-E5真实完整订单闭环结果分析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第16页：E5结果：搜索多放40箱，整单完成仍只有2/24</a:t>
            </a:r>
          </a:p>
          <a:p/>
          <a:p>
            <a:r>
              <a:t>每规划器24任务和286计划箱。single与FIFO155箱、2单无违规完成；启发式171箱但0单完成；搜索195箱、2单完成。平均订单体积比例分别53.86、53.86、59.31和69.19%。方法/后端覆盖不完全：single四后端，其他缓冲Text/Oracle；不扩写未运行图像缓冲矩阵。224条方法记录未完成，来自相同来源/配置重复，不能按240独立订单统计。</a:t>
            </a:r>
          </a:p>
          <a:p/>
          <a:p>
            <a:r>
              <a:t>证据：O4-E5真实闭环结果表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第17页：停止原因分层：解析正确后，仍可能无可行动作</a:t>
            </a:r>
          </a:p>
          <a:p/>
          <a:p>
            <a:r>
              <a:t>终止原因计数互斥并合计240；另有14条topk_coverage_limited诊断与停止原因交叉，不能额外累加。业务候选为空只针对当前布局、可见箱与当前采样器；不能推断整个订单无解。未来箱不输入。大量失败需要从候选压缩、当前位置、业务可用支撑、beam和预算暴露分别解释。</a:t>
            </a:r>
          </a:p>
          <a:p/>
          <a:p>
            <a:r>
              <a:t>证据：O4-E5真实闭环终止统计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第18页：失败可视化：模型全对，为什么只放下6/12箱？</a:t>
            </a:r>
          </a:p>
          <a:p/>
          <a:p>
            <a:r>
              <a:t>页面展示真实第7箱到达后的STOP：已放6/12，订单体积完成52.73%，托盘体积利用16.19%；两者分母不同。33个完整采样物理候选中业务允许0，Top-K16也全部拒绝。食品区域、低顶部业务限载等共同限制当前动作。红色候选是假设被拒位置，从未提交；不能据图说发生碰撞或违规。图中顶部限载之和仅为直观说明，不是通用多支撑承载证明。</a:t>
            </a:r>
          </a:p>
          <a:p/>
          <a:p>
            <a:r>
              <a:t>证据：O4E5_00102047_失败案例_20261027</a:t>
            </a:r>
          </a:p>
          <a:p>
            <a:r>
              <a:t>页面：report/visualization/O4E5_00102047_失败案例_20261027/index.html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第19页：四方法回放：区分取料区、实际码放与尚未到达</a:t>
            </a:r>
          </a:p>
          <a:p/>
          <a:p>
            <a:r>
              <a:t>该页只运行计划4/240条，PARTIAL是正常限定前缀，不是假装完成整矩阵。single/FIFO/启发式/search分别8/8/7/8箱；search体积68.49%，single66.32%。页面按已放件数对齐，而非相同到货前缀。FIFO真实待码09/10/11；搜索待码01/10/11，显示01被长期暂存。尚未到达列表是事后报告字段，不是规划器输入。所有图是实际轨迹，红色透明候选被拒未放。</a:t>
            </a:r>
          </a:p>
          <a:p/>
          <a:p>
            <a:r>
              <a:t>证据：O4E5_回退原版四方法对比_20261027</a:t>
            </a:r>
          </a:p>
          <a:p>
            <a:r>
              <a:t>页面：report/visualization/O4E5_回退原版四方法对比_20261027/index.html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第20页：规划改进V1：局部更整齐，平均装载并未提升</a:t>
            </a:r>
          </a:p>
          <a:p/>
          <a:p>
            <a:r>
              <a:t>V1同时探索候选保留、空间质量与搜索排序。代表单箱6/12到7/12，但6个固定single任务合计48/72不变，平均订单体积66.31%降65.30%。仅新排序为46箱、63.20%。地面探针覆盖改善不能等价为真实装载收益。局部改善不能唯一归因第二步，完整运行还影响首箱和后续。依用户要求V1已撤回并归档，运行命令不再代表活动入口。</a:t>
            </a:r>
          </a:p>
          <a:p/>
          <a:p>
            <a:r>
              <a:t>证据：O4-E5空间规划V1开发与消融验收报告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第21页：V2分层消融：候选保留有效，强排序组合退步</a:t>
            </a:r>
          </a:p>
          <a:p/>
          <a:p>
            <a:r>
              <a:t>V2四组为A原版、B仅新保留、C仅新排序、D组合。single A/B48箱，C40，D42；search A52，B54，C52，D52。D single平均体积下降9.39个百分点，search下降1.39；严重退步保留HOLD，不进入原定D-L3扩大。B有积极信号但不能将B换名D继续旧采纳协议；后续必须独立冻结B0。工程PASS与成本门槛通过不构成性能PASS。</a:t>
            </a:r>
          </a:p>
          <a:p/>
          <a:p>
            <a:r>
              <a:t>证据：O4-E5规划质量V2分级验收报告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第22页：从候选到搜索：12次限定诊断拆分作用机制</a:t>
            </a:r>
          </a:p>
          <a:p/>
          <a:p>
            <a:r>
              <a:t>T0固定12次局部搜索，没有扩大。Q1/Q2切换beam会改首动作；单独末端排序只改后续假设位置，不能笼统说末端导致首动作退步。Q3/Q4中B选点在A/B根池都存在且eligible，但后继候选与第一层beam不同；同一共同路径在A被裁、B得以深入，后继评价32与48。未深入不代表业务无解。V2局部图的虚线箱是假设动作，不能当成真实已放或整单结果。</a:t>
            </a:r>
          </a:p>
          <a:p/>
          <a:p>
            <a:r>
              <a:t>证据：B0报告T0；V2局部对齐与分层诊断</a:t>
            </a:r>
          </a:p>
          <a:p>
            <a:r>
              <a:t>页面：report/analysis/O4_E5_LAYOUT_V2_DEVELOPMENT_20261027_01/layouts.html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第23页：B0独立冻结：以候选保留作为唯一算法因素</a:t>
            </a:r>
          </a:p>
          <a:p/>
          <a:p>
            <a:r>
              <a:t>B0先做6任务小样本，再冻结F、比较对象和门槛，新增72扩大记录；主比较96条，含84新增完整记录与12原A合格复用。每版本/方法24任务、286箱，来源仍为12历史开发来源。single持平155；search195到197，平均订单体积69.1864%到70.6737%，无违规完成2到4。按开发集结果选择B0，不是独立确认性发现。</a:t>
            </a:r>
          </a:p>
          <a:p/>
          <a:p>
            <a:r>
              <a:t>证据：O4-E5规划能力B0诊断与独立验证报告</a:t>
            </a:r>
          </a:p>
          <a:p>
            <a:r>
              <a:t>页面：report/analysis/O4_E5_CAPACITY_NEXT_20261027_01/review.html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第24页：代表B0成功：SRC04/C0从11箱到12箱</a:t>
            </a:r>
          </a:p>
          <a:p/>
          <a:p>
            <a:r>
              <a:t>来源00102371/C0：A11/12、订单体积89.9440%；B0 12/12、100%。两版本实际业务违规为0。第二步A中心(-500,-75)、B0(-500,0)，均yaw90°。B0第二步根动作原本也存在于A的eligible根池；机制涉及其他候选、后继池、beam及深层预算暴露，不能只说新增此点或第二步必然造成整单提升。页面支持同步旋转和逐步回放，仍是成功代表例而非平均。</a:t>
            </a:r>
          </a:p>
          <a:p/>
          <a:p>
            <a:r>
              <a:t>证据：O4_E5_CAPACITY_CASE_SRC04_C0_20261027_01</a:t>
            </a:r>
          </a:p>
          <a:p>
            <a:r>
              <a:t>页面：report/analysis/O4_E5_CAPACITY_CASE_SRC04_C0_20261027_01/case.html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第25页：B0仍有负例；性能通过不等于自动替换默认</a:t>
            </a:r>
          </a:p>
          <a:p/>
          <a:p>
            <a:r>
              <a:t>搜索SRC04/C0/C1各+1箱；SRC01/C0、SRC09/C1各+1；SRC10/C0/C1各-1。SRC11/C1件数同为6，但体积提高6.5391个百分点。SRC10原动作并未从新候选中删除，退步涉及搜索竞争，不宜由不同终态推全局无解。成本在6任务固定第四决策状态、3独立进程采样：冷median single1.073×、search1.090×，p95分别1.049×、1.120×；不是全矩阵尾延迟保证。默认资格为可供审查，原A不切换。</a:t>
            </a:r>
          </a:p>
          <a:p/>
          <a:p>
            <a:r>
              <a:t>证据：B0逐任务配对、成本与默认资格报告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第26页：截至10月27日：完成什么，仍缺什么</a:t>
            </a:r>
          </a:p>
          <a:p/>
          <a:p>
            <a:r>
              <a:t>完成了业务规则闭环、容量3联合规划、确定性公共图像、真实D与E5矩阵、局部消融及B0有限开发验证。尚无独立未见来源泛化、真实感知/OCR、机器人执行或模型相对Parser优势。10月27日O5仅形成开发规范，拟让模型在统一物理候选池上直接选择，并比较无经验、原始历史和自然语言经验卡；当时规范主实验为图文。10月28日S0/S1、Direct-Text修订、文本预检与Pilot不纳入本期，也不倒写为27日已完成。</a:t>
            </a:r>
          </a:p>
          <a:p/>
          <a:p>
            <a:r>
              <a:t>证据：O4-E5 / B0结论；10月27日O5开发规范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第27页：汇报演示与证据入口</a:t>
            </a:r>
          </a:p>
          <a:p/>
          <a:p>
            <a:r>
              <a:t>建议演示顺序：先打开三缓冲页面，以02_2看改序与成功，再切07_0和00_3看未完成与退步；随后打开6/12失败页面看业务拒绝与指标分母；最后打开SRC04/C0的B0页面看一箱差异和第二步。所有页面均展示既有轨迹，不运行新规划或API。超链接指向本机仓库文件，移到其他机器需保留仓库结构或更新路径。</a:t>
            </a:r>
          </a:p>
          <a:p/>
          <a:p>
            <a:r>
              <a:t>证据：配套Markdown含完整说明、来源链接及摘要</a:t>
            </a:r>
          </a:p>
          <a:p>
            <a:r>
              <a:t>页面：report/analysis/O4_D_BUFFER_VISUAL_20261024_01/index.html</a:t>
            </a:r>
          </a:p>
          <a:p>
            <a:r>
              <a:t>页面：report/visualization/O4E5_00102047_失败案例_20261027/index.html</a:t>
            </a:r>
          </a:p>
          <a:p>
            <a:r>
              <a:t>页面：report/visualization/O4E5_回退原版四方法对比_20261027/index.html</a:t>
            </a:r>
          </a:p>
          <a:p>
            <a:r>
              <a:t>页面：report/analysis/O4_E5_CAPACITY_CASE_SRC04_C0_20261027_01/case.html</a:t>
            </a:r>
          </a:p>
          <a:p>
            <a:r>
              <a:t>页面：report/analysis/O4_E5_CAPACITY_NEXT_20261027_01/review.html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file:///home/cyw/NBU_Papper/report/analysis/O4_D_BUFFER_VISUAL_20261024_01/index.html" TargetMode="Externa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file:///home/cyw/NBU_Papper/report/analysis/O4_D_BUFFER_VISUAL_20261024_01/index.html" TargetMode="Externa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file:///home/cyw/NBU_Papper/report/analysis/O4_D_BUFFER_VISUAL_20261024_01/index.html" TargetMode="Externa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file:///home/cyw/NBU_Papper/report/visualization/O4E5_00102047_%E5%A4%B1%E8%B4%A5%E6%A1%88%E4%BE%8B_20261027/index.html" TargetMode="Externa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file:///home/cyw/NBU_Papper/report/visualization/O4E5_%E5%9B%9E%E9%80%80%E5%8E%9F%E7%89%88%E5%9B%9B%E6%96%B9%E6%B3%95%E5%AF%B9%E6%AF%94_20261027/index.html" TargetMode="Externa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file:///home/cyw/NBU_Papper/report/analysis/O4_E5_LAYOUT_V2_DEVELOPMENT_20261027_01/layouts.html" TargetMode="External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file:///home/cyw/NBU_Papper/report/analysis/O4_E5_CAPACITY_NEXT_20261027_01/review.html" TargetMode="Externa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file:///home/cyw/NBU_Papper/report/analysis/O4_E5_CAPACITY_CASE_SRC04_C0_20261027_01/case.html" TargetMode="External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file:///home/cyw/NBU_Papper/report/analysis/O4_D_BUFFER_VISUAL_20261024_01/index.html" TargetMode="External"/><Relationship Id="rId3" Type="http://schemas.openxmlformats.org/officeDocument/2006/relationships/hyperlink" Target="file:///home/cyw/NBU_Papper/report/visualization/O4E5_00102047_%E5%A4%B1%E8%B4%A5%E6%A1%88%E4%BE%8B_20261027/index.html" TargetMode="External"/><Relationship Id="rId4" Type="http://schemas.openxmlformats.org/officeDocument/2006/relationships/hyperlink" Target="file:///home/cyw/NBU_Papper/report/visualization/O4E5_%E5%9B%9E%E9%80%80%E5%8E%9F%E7%89%88%E5%9B%9B%E6%96%B9%E6%B3%95%E5%AF%B9%E6%AF%94_20261027/index.html" TargetMode="External"/><Relationship Id="rId5" Type="http://schemas.openxmlformats.org/officeDocument/2006/relationships/hyperlink" Target="file:///home/cyw/NBU_Papper/report/analysis/O4_E5_CAPACITY_CASE_SRC04_C0_20261027_01/case.html" TargetMode="External"/><Relationship Id="rId6" Type="http://schemas.openxmlformats.org/officeDocument/2006/relationships/hyperlink" Target="file:///home/cyw/NBU_Papper/report/analysis/O4_E5_CAPACITY_NEXT_20261027_01/review.html" TargetMode="External"/><Relationship Id="rId7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07487"/>
                </a:solidFill>
                <a:latin typeface="Noto Sans CJK SC"/>
              </a:defRPr>
            </a:pPr>
            <a:r>
              <a:t>NBU_Papper  /  2026.10.21—10.27  /  阶段进展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09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72D43"/>
                </a:solidFill>
                <a:latin typeface="Noto Sans CJK SC"/>
              </a:defRPr>
            </a:pPr>
            <a:r>
              <a:t>从业务规则闭环到有限规划收益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07487"/>
                </a:solidFill>
                <a:latin typeface="Noto Sans CJK SC"/>
              </a:defRPr>
            </a:pPr>
            <a:r>
              <a:t>本期汇报：2026年10月21—27日｜衔接10月21日O3汇报，不纳入10月28日O5实测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07487"/>
                </a:solidFill>
                <a:latin typeface="Noto Sans CJK SC"/>
              </a:defRPr>
            </a:pPr>
            <a:r>
              <a:t>证据：O4-C / F / D / E5 / B0 阶段报告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07487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474720" cy="237744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33172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007F82"/>
                </a:solidFill>
                <a:latin typeface="Noto Sans CJK SC"/>
              </a:defRPr>
            </a:pPr>
            <a:r>
              <a:t>容量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06324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2D43"/>
                </a:solidFill>
                <a:latin typeface="Noto Sans CJK SC"/>
              </a:defRPr>
            </a:pPr>
            <a:r>
              <a:t>待码联合规划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65760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07487"/>
                </a:solidFill>
                <a:latin typeface="Noto Sans CJK SC"/>
              </a:defRPr>
            </a:pPr>
            <a:r>
              <a:t>独立槽位、到货/EOS、改序选位与逐事件回放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148840"/>
            <a:ext cx="3474720" cy="237744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33172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007F82"/>
                </a:solidFill>
                <a:latin typeface="Noto Sans CJK SC"/>
              </a:defRPr>
            </a:pPr>
            <a:r>
              <a:t>240 / 240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06324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2D43"/>
                </a:solidFill>
                <a:latin typeface="Noto Sans CJK SC"/>
              </a:defRPr>
            </a:pPr>
            <a:r>
              <a:t>E5真实矩阵执行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07487"/>
                </a:solidFill>
                <a:latin typeface="Noto Sans CJK SC"/>
              </a:defRPr>
            </a:pPr>
            <a:r>
              <a:t>945次真实请求；最终943次规则编译全部有效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148840"/>
            <a:ext cx="3474720" cy="237744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33172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007F82"/>
                </a:solidFill>
                <a:latin typeface="Noto Sans CJK SC"/>
              </a:defRPr>
            </a:pPr>
            <a:r>
              <a:t>195 → 197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06324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2D43"/>
                </a:solidFill>
                <a:latin typeface="Noto Sans CJK SC"/>
              </a:defRPr>
            </a:pPr>
            <a:r>
              <a:t>B0搜索装入箱数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65760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07487"/>
                </a:solidFill>
                <a:latin typeface="Noto Sans CJK SC"/>
              </a:defRPr>
            </a:pPr>
            <a:r>
              <a:t>每方法286计划箱；无违规整单由2/24到4/24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742432"/>
            <a:ext cx="10972800" cy="47548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84301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7F82"/>
                </a:solidFill>
                <a:latin typeface="Noto Sans CJK SC"/>
              </a:defRPr>
            </a:pPr>
            <a:r>
              <a:t>本期结论：工程闭环扩展完成；规划收益有限；模型贡献仍需独立验证。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07487"/>
                </a:solidFill>
                <a:latin typeface="Noto Sans CJK SC"/>
              </a:defRPr>
            </a:pPr>
            <a:r>
              <a:t>NBU_Papper  /  2026.10.21—10.27  /  阶段进展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09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72D43"/>
                </a:solidFill>
                <a:latin typeface="Noto Sans CJK SC"/>
              </a:defRPr>
            </a:pPr>
            <a:r>
              <a:t>一周推进路径：能力扩展、真实验证、回到规划瓶颈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07487"/>
                </a:solidFill>
                <a:latin typeface="Noto Sans CJK SC"/>
              </a:defRPr>
            </a:pPr>
            <a:r>
              <a:t>日期按阶段文档与实际证据组织；开发、运行和分析日期可能不同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07487"/>
                </a:solidFill>
                <a:latin typeface="Noto Sans CJK SC"/>
              </a:defRPr>
            </a:pPr>
            <a:r>
              <a:t>证据：docs/03_阶段产出分析/O4/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07487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93392"/>
            <a:ext cx="1730044" cy="690372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12264"/>
            <a:ext cx="154716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时间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88412" y="1993392"/>
            <a:ext cx="4352544" cy="690372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98140" y="2112264"/>
            <a:ext cx="416966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完成工作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59244" y="1993392"/>
            <a:ext cx="4789627" cy="690372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68972" y="2112264"/>
            <a:ext cx="4606747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形成的证据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06624"/>
            <a:ext cx="1730044" cy="69037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825496"/>
            <a:ext cx="154716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10/21—22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88412" y="2706624"/>
            <a:ext cx="4352544" cy="69037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98140" y="2825496"/>
            <a:ext cx="416966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A/B、C、三箱缓冲F、A5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59244" y="2706624"/>
            <a:ext cx="4789627" cy="69037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68972" y="2825496"/>
            <a:ext cx="4606747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公共/私有隔离、闭环、真实PNG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419856"/>
            <a:ext cx="1730044" cy="690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538728"/>
            <a:ext cx="154716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10/23—24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88412" y="3419856"/>
            <a:ext cx="4352544" cy="690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98140" y="3538728"/>
            <a:ext cx="416966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D真实模型接入与订单矩阵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59244" y="3419856"/>
            <a:ext cx="4789627" cy="690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68972" y="3538728"/>
            <a:ext cx="4606747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协议拒绝成为主要进度损失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133087"/>
            <a:ext cx="1730044" cy="69037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251959"/>
            <a:ext cx="154716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10/25—26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88412" y="4133087"/>
            <a:ext cx="4352544" cy="69037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98140" y="4251959"/>
            <a:ext cx="416966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D-V2、E1区域、E2相对位置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59244" y="4133087"/>
            <a:ext cx="4789627" cy="69037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68972" y="4251959"/>
            <a:ext cx="4606747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固定题语义及候选判断一致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846320"/>
            <a:ext cx="1730044" cy="690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965192"/>
            <a:ext cx="154716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10/27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88412" y="4846320"/>
            <a:ext cx="4352544" cy="690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98140" y="4965192"/>
            <a:ext cx="416966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E5真实矩阵、V1/V2、B0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59244" y="4846320"/>
            <a:ext cx="4789627" cy="690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68972" y="4965192"/>
            <a:ext cx="4606747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候选/排序/搜索分层归因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07487"/>
                </a:solidFill>
                <a:latin typeface="Noto Sans CJK SC"/>
              </a:defRPr>
            </a:pPr>
            <a:r>
              <a:t>NBU_Papper  /  2026.10.21—10.27  /  阶段进展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09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72D43"/>
                </a:solidFill>
                <a:latin typeface="Noto Sans CJK SC"/>
              </a:defRPr>
            </a:pPr>
            <a:r>
              <a:t>O4架构：模型编译业务，规划器决定如何放置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07487"/>
                </a:solidFill>
                <a:latin typeface="Noto Sans CJK SC"/>
              </a:defRPr>
            </a:pPr>
            <a:r>
              <a:t>本期模型任务主要是“业务文本 → AST”；不能将规划器提升写成模型提升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07487"/>
                </a:solidFill>
                <a:latin typeface="Noto Sans CJK SC"/>
              </a:defRPr>
            </a:pPr>
            <a:r>
              <a:t>证据：O4-C、F、D与E5阶段报告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07487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86000"/>
            <a:ext cx="2688336" cy="210312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48716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7F82"/>
                </a:solidFill>
                <a:latin typeface="Noto Sans CJK SC"/>
              </a:defRPr>
            </a:pPr>
            <a:r>
              <a:t>公共输入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10896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已码＋已到货箱</a:t>
            </a:r>
          </a:p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业务文本／可选图像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2152" y="2286000"/>
            <a:ext cx="2688336" cy="210312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48716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7F82"/>
                </a:solidFill>
                <a:latin typeface="Noto Sans CJK SC"/>
              </a:defRPr>
            </a:pPr>
            <a:r>
              <a:t>业务编译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10896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Parser / Text / Image</a:t>
            </a:r>
          </a:p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输出受限AST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64224" y="2286000"/>
            <a:ext cx="2688336" cy="210312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248716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7F82"/>
                </a:solidFill>
                <a:latin typeface="Noto Sans CJK SC"/>
              </a:defRPr>
            </a:pPr>
            <a:r>
              <a:t>共同规划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310896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物理候选＋业务过滤</a:t>
            </a:r>
          </a:p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选箱／选位／有限搜索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26296" y="2286000"/>
            <a:ext cx="2688336" cy="210312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81744" y="248716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7F82"/>
                </a:solidFill>
                <a:latin typeface="Noto Sans CJK SC"/>
              </a:defRPr>
            </a:pPr>
            <a:r>
              <a:t>提交与评价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1744" y="310896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独立物理校验</a:t>
            </a:r>
          </a:p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状态更新与事后业务评价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742432"/>
            <a:ext cx="10972800" cy="47548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84301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7F82"/>
                </a:solidFill>
                <a:latin typeface="Noto Sans CJK SC"/>
              </a:defRPr>
            </a:pPr>
            <a:r>
              <a:t>环境持有完整订单；普通方法只看到当前及已到货箱，未来不进入规划。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07487"/>
                </a:solidFill>
                <a:latin typeface="Noto Sans CJK SC"/>
              </a:defRPr>
            </a:pPr>
            <a:r>
              <a:t>NBU_Papper  /  2026.10.21—10.27  /  阶段进展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09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72D43"/>
                </a:solidFill>
                <a:latin typeface="Noto Sans CJK SC"/>
              </a:defRPr>
            </a:pPr>
            <a:r>
              <a:t>业务规则从“属性标签”变为可执行约束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07487"/>
                </a:solidFill>
                <a:latin typeface="Noto Sans CJK SC"/>
              </a:defRPr>
            </a:pPr>
            <a:r>
              <a:t>准确仿真事实、业务指令与独立物理限制分开处理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07487"/>
                </a:solidFill>
                <a:latin typeface="Noto Sans CJK SC"/>
              </a:defRPr>
            </a:pPr>
            <a:r>
              <a:t>证据：O4属性协议、三约束AST与独立评价器报告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07487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93392"/>
            <a:ext cx="1730044" cy="644652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12264"/>
            <a:ext cx="15471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规则层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88412" y="1993392"/>
            <a:ext cx="4898898" cy="644652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98140" y="2112264"/>
            <a:ext cx="471601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本期能力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05598" y="1993392"/>
            <a:ext cx="4243273" cy="644652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15326" y="2112264"/>
            <a:ext cx="406039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验证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660904"/>
            <a:ext cx="1730044" cy="64465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79776"/>
            <a:ext cx="15471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载荷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88412" y="2660904"/>
            <a:ext cx="4898898" cy="64465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98140" y="2779776"/>
            <a:ext cx="471601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累计/间接载荷、禁压、逐箱标签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05598" y="2660904"/>
            <a:ext cx="4243273" cy="64465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15326" y="2779776"/>
            <a:ext cx="406039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独立重建支撑与载荷传播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328416"/>
            <a:ext cx="1730044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447288"/>
            <a:ext cx="15471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接触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88412" y="3328416"/>
            <a:ext cx="4898898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98140" y="3447288"/>
            <a:ext cx="471601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类别组合禁止直接面接触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05598" y="3328416"/>
            <a:ext cx="4243273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15326" y="3447288"/>
            <a:ext cx="406039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不能用同托盘禁令替代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995928"/>
            <a:ext cx="1730044" cy="64465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114800"/>
            <a:ext cx="15471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条件与例外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88412" y="3995928"/>
            <a:ext cx="4898898" cy="64465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98140" y="4114800"/>
            <a:ext cx="471601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玻璃＋加固等条件、明确覆盖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05598" y="3995928"/>
            <a:ext cx="4243273" cy="64465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15326" y="4114800"/>
            <a:ext cx="406039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不把所有加固箱都套用例外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663440"/>
            <a:ext cx="1730044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782312"/>
            <a:ext cx="15471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隔离与评价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88412" y="4663440"/>
            <a:ext cx="4898898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98140" y="4782312"/>
            <a:ext cx="471601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公共白名单、状态绑定、独立参考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05598" y="4663440"/>
            <a:ext cx="4243273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15326" y="4782312"/>
            <a:ext cx="406039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36金标准；24非法；144固定题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07487"/>
                </a:solidFill>
                <a:latin typeface="Noto Sans CJK SC"/>
              </a:defRPr>
            </a:pPr>
            <a:r>
              <a:t>NBU_Papper  /  2026.10.21—10.27  /  阶段进展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09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72D43"/>
                </a:solidFill>
                <a:latin typeface="Noto Sans CJK SC"/>
              </a:defRPr>
            </a:pPr>
            <a:r>
              <a:t>单箱闭环已打通，但复杂业务下完成率偏低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07487"/>
                </a:solidFill>
                <a:latin typeface="Noto Sans CJK SC"/>
              </a:defRPr>
            </a:pPr>
            <a:r>
              <a:t>12个已见开发来源 × 6种业务配置；Parser与Oracle逐任务同轨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07487"/>
                </a:solidFill>
                <a:latin typeface="Noto Sans CJK SC"/>
              </a:defRPr>
            </a:pPr>
            <a:r>
              <a:t>证据：O4-C完整订单报告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07487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3474720" cy="237744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28600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007F82"/>
                </a:solidFill>
                <a:latin typeface="Noto Sans CJK SC"/>
              </a:defRPr>
            </a:pPr>
            <a:r>
              <a:t>11 / 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0175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2D43"/>
                </a:solidFill>
                <a:latin typeface="Noto Sans CJK SC"/>
              </a:defRPr>
            </a:pPr>
            <a:r>
              <a:t>无违规整单完成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611879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07487"/>
                </a:solidFill>
                <a:latin typeface="Noto Sans CJK SC"/>
              </a:defRPr>
            </a:pPr>
            <a:r>
              <a:t>每方法72任务；不是所有安全停止都算成功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103120"/>
            <a:ext cx="3474720" cy="237744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28600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007F82"/>
                </a:solidFill>
                <a:latin typeface="Noto Sans CJK SC"/>
              </a:defRPr>
            </a:pPr>
            <a:r>
              <a:t>63.75%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0175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2D43"/>
                </a:solidFill>
                <a:latin typeface="Noto Sans CJK SC"/>
              </a:defRPr>
            </a:pPr>
            <a:r>
              <a:t>平均件数比例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611879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07487"/>
                </a:solidFill>
                <a:latin typeface="Noto Sans CJK SC"/>
              </a:defRPr>
            </a:pPr>
            <a:r>
              <a:t>平均订单体积比例62.43%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103120"/>
            <a:ext cx="3474720" cy="237744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28600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007F82"/>
                </a:solidFill>
                <a:latin typeface="Noto Sans CJK SC"/>
              </a:defRPr>
            </a:pPr>
            <a:r>
              <a:t>49 + 12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0175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2D43"/>
                </a:solidFill>
                <a:latin typeface="Noto Sans CJK SC"/>
              </a:defRPr>
            </a:pPr>
            <a:r>
              <a:t>两类未完成终点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611879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07487"/>
                </a:solidFill>
                <a:latin typeface="Noto Sans CJK SC"/>
              </a:defRPr>
            </a:pPr>
            <a:r>
              <a:t>业务候选空49；物理候选空12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742432"/>
            <a:ext cx="10972800" cy="47548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84301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7F82"/>
                </a:solidFill>
                <a:latin typeface="Noto Sans CJK SC"/>
              </a:defRPr>
            </a:pPr>
            <a:r>
              <a:t>下一步扩展已到货箱的选择顺序，同时保留所有未完成订单的分母。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07487"/>
                </a:solidFill>
                <a:latin typeface="Noto Sans CJK SC"/>
              </a:defRPr>
            </a:pPr>
            <a:r>
              <a:t>NBU_Papper  /  2026.10.21—10.27  /  阶段进展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09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72D43"/>
                </a:solidFill>
                <a:latin typeface="Noto Sans CJK SC"/>
              </a:defRPr>
            </a:pPr>
            <a:r>
              <a:t>三箱缓冲：联合选择“取哪箱、放哪里”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07487"/>
                </a:solidFill>
                <a:latin typeface="Noto Sans CJK SC"/>
              </a:defRPr>
            </a:pPr>
            <a:r>
              <a:t>只重排最多三个已到货对象；不读取未来，不移动已提交箱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07487"/>
                </a:solidFill>
                <a:latin typeface="Noto Sans CJK SC"/>
              </a:defRPr>
            </a:pPr>
            <a:r>
              <a:t>证据：O4-F缓冲开发报告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07487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21408"/>
            <a:ext cx="64008" cy="210312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029968"/>
            <a:ext cx="1057046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72D43"/>
                </a:solidFill>
                <a:latin typeface="Noto Sans CJK SC"/>
              </a:defRPr>
            </a:pPr>
            <a:r>
              <a:t>独立槽位保存真实未码箱：补货 → 规划 → 提交首动作 → 再补货。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926080"/>
            <a:ext cx="64008" cy="210312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834640"/>
            <a:ext cx="1057046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72D43"/>
                </a:solidFill>
                <a:latin typeface="Noto Sans CJK SC"/>
              </a:defRPr>
            </a:pPr>
            <a:r>
              <a:t>三种缓冲策略：FIFO、启发式、有界搜索；与容量1单箱基线比较。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730752"/>
            <a:ext cx="64008" cy="210312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3639312"/>
            <a:ext cx="1057046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72D43"/>
                </a:solidFill>
                <a:latin typeface="Noto Sans CJK SC"/>
              </a:defRPr>
            </a:pPr>
            <a:r>
              <a:t>固定上限：每箱16 / 联合48 / 深度3 / beam8 / 后继评价256。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535424"/>
            <a:ext cx="64008" cy="210312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4443984"/>
            <a:ext cx="1057046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72D43"/>
                </a:solidFill>
                <a:latin typeface="Noto Sans CJK SC"/>
              </a:defRPr>
            </a:pPr>
            <a:r>
              <a:t>到货、EOS、WAIT、PLACE、守恒、绑定及恢复均有独立检查。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5742432"/>
            <a:ext cx="10972800" cy="47548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84301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7F82"/>
                </a:solidFill>
                <a:latin typeface="Noto Sans CJK SC"/>
              </a:defRPr>
            </a:pPr>
            <a:r>
              <a:t>容量3提供改序机会；它不意味着必须等待未来箱，也不保证找到全局最优。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07487"/>
                </a:solidFill>
                <a:latin typeface="Noto Sans CJK SC"/>
              </a:defRPr>
            </a:pPr>
            <a:r>
              <a:t>NBU_Papper  /  2026.10.21—10.27  /  阶段进展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09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72D43"/>
                </a:solidFill>
                <a:latin typeface="Noto Sans CJK SC"/>
              </a:defRPr>
            </a:pPr>
            <a:r>
              <a:t>真实三缓冲状态：02、03暂存，先放04号箱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07487"/>
                </a:solidFill>
                <a:latin typeface="Noto Sans CJK SC"/>
              </a:defRPr>
            </a:pPr>
            <a:r>
              <a:t>O4_ORDER_02_2｜Flash Text＋buffer_search｜保存事件5 → 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07487"/>
                </a:solidFill>
                <a:latin typeface="Noto Sans CJK SC"/>
              </a:defRPr>
            </a:pPr>
            <a:r>
              <a:t>证据：O4_D_BUFFER_VISUAL_20261024_01/data.json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07487"/>
                </a:solidFill>
                <a:latin typeface="Noto Sans CJK SC"/>
              </a:defRPr>
            </a:pPr>
            <a:r>
              <a:t>07</a:t>
            </a:r>
          </a:p>
        </p:txBody>
      </p:sp>
      <p:pic>
        <p:nvPicPr>
          <p:cNvPr id="9" name="Picture 8" descr="buffer_s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67486"/>
            <a:ext cx="8229600" cy="36716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2560" y="2194560"/>
            <a:ext cx="24688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槽位0：04 → 空</a:t>
            </a:r>
          </a:p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槽位1：02保留</a:t>
            </a:r>
          </a:p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槽位2：03保留</a:t>
            </a:r>
          </a:p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</a:p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改序来自规划器，</a:t>
            </a:r>
          </a:p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模型负责编译规则。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673AC"/>
                </a:solidFill>
                <a:latin typeface="Noto Sans CJK SC"/>
              </a:defRPr>
            </a:pPr>
            <a:r>
              <a:rPr>
                <a:hlinkClick r:id="rId3"/>
              </a:rPr>
              <a:t>交互页面：查看暂存区、逐事件播放、四规划器切换 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07487"/>
                </a:solidFill>
                <a:latin typeface="Noto Sans CJK SC"/>
              </a:defRPr>
            </a:pPr>
            <a:r>
              <a:t>NBU_Papper  /  2026.10.21—10.27  /  阶段进展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09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72D43"/>
                </a:solidFill>
                <a:latin typeface="Noto Sans CJK SC"/>
              </a:defRPr>
            </a:pPr>
            <a:r>
              <a:t>代表成功：同一订单从9/19到19/19箱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07487"/>
                </a:solidFill>
                <a:latin typeface="Noto Sans CJK SC"/>
              </a:defRPr>
            </a:pPr>
            <a:r>
              <a:t>容量3改序释放规划机会；四种编译来源均重现该件数结果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07487"/>
                </a:solidFill>
                <a:latin typeface="Noto Sans CJK SC"/>
              </a:defRPr>
            </a:pPr>
            <a:r>
              <a:t>证据：O4-D缓冲真实订单可视化 / O4_ORDER_02_2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07487"/>
                </a:solidFill>
                <a:latin typeface="Noto Sans CJK SC"/>
              </a:defRPr>
            </a:pPr>
            <a:r>
              <a:t>08</a:t>
            </a:r>
          </a:p>
        </p:txBody>
      </p:sp>
      <p:pic>
        <p:nvPicPr>
          <p:cNvPr id="9" name="Picture 8" descr="buffer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18" y="1874519"/>
            <a:ext cx="10901082" cy="34747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4360" y="5742432"/>
            <a:ext cx="10972800" cy="47548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84301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7F82"/>
                </a:solidFill>
                <a:latin typeface="Noto Sans CJK SC"/>
              </a:defRPr>
            </a:pPr>
            <a:r>
              <a:t>单箱9 / FIFO9 / 启发式19 / 搜索19；成功案例不代表平均收益。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132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673AC"/>
                </a:solidFill>
                <a:latin typeface="Noto Sans CJK SC"/>
              </a:defRPr>
            </a:pPr>
            <a:r>
              <a:rPr>
                <a:hlinkClick r:id="rId3"/>
              </a:rPr>
              <a:t>打开真实缓冲多方法页面 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07487"/>
                </a:solidFill>
                <a:latin typeface="Noto Sans CJK SC"/>
              </a:defRPr>
            </a:pPr>
            <a:r>
              <a:t>NBU_Papper  /  2026.10.21—10.27  /  阶段进展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09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72D43"/>
                </a:solidFill>
                <a:latin typeface="Noto Sans CJK SC"/>
              </a:defRPr>
            </a:pPr>
            <a:r>
              <a:t>三缓冲平均结果：启发式本轮优于有界搜索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07487"/>
                </a:solidFill>
                <a:latin typeface="Noto Sans CJK SC"/>
              </a:defRPr>
            </a:pPr>
            <a:r>
              <a:t>F离线矩阵；每方法72任务，独立来源只有12个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07487"/>
                </a:solidFill>
                <a:latin typeface="Noto Sans CJK SC"/>
              </a:defRPr>
            </a:pPr>
            <a:r>
              <a:t>证据：O4-F结果与资源统计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07487"/>
                </a:solidFill>
                <a:latin typeface="Noto Sans CJK SC"/>
              </a:defRPr>
            </a:pPr>
            <a: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93392"/>
            <a:ext cx="3696919" cy="662940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12264"/>
            <a:ext cx="35140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方法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5287" y="1993392"/>
            <a:ext cx="2604211" cy="662940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5015" y="2112264"/>
            <a:ext cx="2421331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无违规完成/72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77786" y="1993392"/>
            <a:ext cx="2276398" cy="662940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7514" y="2112264"/>
            <a:ext cx="209351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平均件数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72473" y="1993392"/>
            <a:ext cx="2276398" cy="662940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82201" y="2112264"/>
            <a:ext cx="209351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平均体积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679192"/>
            <a:ext cx="3696919" cy="66294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798064"/>
            <a:ext cx="35140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single / FIFO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55287" y="2679192"/>
            <a:ext cx="2604211" cy="66294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5015" y="2798064"/>
            <a:ext cx="2421331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11 / 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77786" y="2679192"/>
            <a:ext cx="2276398" cy="66294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514" y="2798064"/>
            <a:ext cx="209351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63.75%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72473" y="2679192"/>
            <a:ext cx="2276398" cy="66294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82201" y="2798064"/>
            <a:ext cx="209351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62.43%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364992"/>
            <a:ext cx="3696919" cy="6629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483864"/>
            <a:ext cx="35140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buffer_heuristic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55287" y="3364992"/>
            <a:ext cx="2604211" cy="6629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5015" y="3483864"/>
            <a:ext cx="2421331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17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77786" y="3364992"/>
            <a:ext cx="2276398" cy="6629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7514" y="3483864"/>
            <a:ext cx="209351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74.95%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72473" y="3364992"/>
            <a:ext cx="2276398" cy="6629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82201" y="3483864"/>
            <a:ext cx="209351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72.63%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050791"/>
            <a:ext cx="3696919" cy="66294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169663"/>
            <a:ext cx="35140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buffer_search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55287" y="4050791"/>
            <a:ext cx="2604211" cy="66294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65015" y="4169663"/>
            <a:ext cx="2421331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77786" y="4050791"/>
            <a:ext cx="2276398" cy="66294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87514" y="4169663"/>
            <a:ext cx="209351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69.93%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72473" y="4050791"/>
            <a:ext cx="2276398" cy="66294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82201" y="4169663"/>
            <a:ext cx="209351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68.98%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5742432"/>
            <a:ext cx="10972800" cy="47548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84301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7F82"/>
                </a:solidFill>
                <a:latin typeface="Noto Sans CJK SC"/>
              </a:defRPr>
            </a:pPr>
            <a:r>
              <a:t>搜索相对单箱：35单多放、20单持平、17单少放；截断率82.47%。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07487"/>
                </a:solidFill>
                <a:latin typeface="Noto Sans CJK SC"/>
              </a:defRPr>
            </a:pPr>
            <a:r>
              <a:t>NBU_Papper  /  2026.10.21—10.27  /  阶段进展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09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72D43"/>
                </a:solidFill>
                <a:latin typeface="Noto Sans CJK SC"/>
              </a:defRPr>
            </a:pPr>
            <a:r>
              <a:t>可视化保留三类案例：成功、改善未完成、退步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07487"/>
                </a:solidFill>
                <a:latin typeface="Noto Sans CJK SC"/>
              </a:defRPr>
            </a:pPr>
            <a:r>
              <a:t>同一页面含3任务 × 4编译来源 × 4规划器＝48条真实轨迹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07487"/>
                </a:solidFill>
                <a:latin typeface="Noto Sans CJK SC"/>
              </a:defRPr>
            </a:pPr>
            <a:r>
              <a:t>证据：O4_D_BUFFER_VISUAL_20261024_01/README.md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07487"/>
                </a:solidFill>
                <a:latin typeface="Noto Sans CJK SC"/>
              </a:defRPr>
            </a:pPr>
            <a: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93392"/>
            <a:ext cx="2713482" cy="708660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12264"/>
            <a:ext cx="2530601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任务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71850" y="1993392"/>
            <a:ext cx="4352544" cy="708660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1578" y="2112264"/>
            <a:ext cx="4169664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单箱 / FIFO / 启发式 / 搜索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42682" y="1993392"/>
            <a:ext cx="3806189" cy="708660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52410" y="2112264"/>
            <a:ext cx="3623309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应解释的问题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24912"/>
            <a:ext cx="2713482" cy="70866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843784"/>
            <a:ext cx="2530601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02_2（共19箱）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71850" y="2724912"/>
            <a:ext cx="4352544" cy="70866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81578" y="2843784"/>
            <a:ext cx="4169664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9 / 9 / 19 / 19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2682" y="2724912"/>
            <a:ext cx="3806189" cy="70866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2410" y="2843784"/>
            <a:ext cx="3623309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代表改善；非平均效果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456432"/>
            <a:ext cx="2713482" cy="7086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575304"/>
            <a:ext cx="2530601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07_0（共16箱）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71850" y="3456432"/>
            <a:ext cx="4352544" cy="7086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81578" y="3575304"/>
            <a:ext cx="4169664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7 / 7 / 12 / 13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42682" y="3456432"/>
            <a:ext cx="3806189" cy="7086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52410" y="3575304"/>
            <a:ext cx="3623309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多放但未完成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187952"/>
            <a:ext cx="2713482" cy="70866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306824"/>
            <a:ext cx="2530601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00_3（共16箱）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71850" y="4187952"/>
            <a:ext cx="4352544" cy="70866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81578" y="4306824"/>
            <a:ext cx="4169664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16 / 16 / 16 / 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42682" y="4187952"/>
            <a:ext cx="3806189" cy="70866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52410" y="4306824"/>
            <a:ext cx="3623309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搜索也会丢失完成路径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074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B6544F"/>
                </a:solidFill>
                <a:latin typeface="Noto Sans CJK SC"/>
              </a:defRPr>
            </a:pPr>
            <a:r>
              <a:t>第三例的真实Text/Image均0箱：需另记首次编译失败，不能解释成物理放不下。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673AC"/>
                </a:solidFill>
                <a:latin typeface="Noto Sans CJK SC"/>
              </a:defRPr>
            </a:pPr>
            <a:r>
              <a:rPr>
                <a:hlinkClick r:id="rId2"/>
              </a:rPr>
              <a:t>交互演示入口：切换三类案例并跳到终止事件 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07487"/>
                </a:solidFill>
                <a:latin typeface="Noto Sans CJK SC"/>
              </a:defRPr>
            </a:pPr>
            <a:r>
              <a:t>NBU_Papper  /  2026.10.21—10.27  /  阶段进展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09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72D43"/>
                </a:solidFill>
                <a:latin typeface="Noto Sans CJK SC"/>
              </a:defRPr>
            </a:pPr>
            <a:r>
              <a:t>公共图像A5：从准确事实生成可核验的技术示意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07487"/>
                </a:solidFill>
                <a:latin typeface="Noto Sans CJK SC"/>
              </a:defRPr>
            </a:pPr>
            <a:r>
              <a:t>场景三视图、局部箱面、标签页；并非真实相机感知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07487"/>
                </a:solidFill>
                <a:latin typeface="Noto Sans CJK SC"/>
              </a:defRPr>
            </a:pPr>
            <a:r>
              <a:t>证据：O4公共图像A5验收报告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07487"/>
                </a:solidFill>
                <a:latin typeface="Noto Sans CJK SC"/>
              </a:defRPr>
            </a:pPr>
            <a:r>
              <a:t>11</a:t>
            </a:r>
          </a:p>
        </p:txBody>
      </p:sp>
      <p:pic>
        <p:nvPicPr>
          <p:cNvPr id="9" name="Picture 8" descr="scene_ebdcbeba4b4075e901054d197b6dfcfef621808603541178a47af3cfd6db72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373" y="1847088"/>
            <a:ext cx="5575973" cy="3794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0" y="2148840"/>
            <a:ext cx="36576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20,030条公共记录</a:t>
            </a:r>
          </a:p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7,431份去重输入</a:t>
            </a:r>
          </a:p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3,552张唯一PNG</a:t>
            </a:r>
          </a:p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</a:p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独立像素与几何核验通过</a:t>
            </a:r>
          </a:p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Text/Image公开事实相同</a:t>
            </a:r>
          </a:p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未测得图像独立贡献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5742432"/>
            <a:ext cx="10972800" cy="47548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84301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7F82"/>
                </a:solidFill>
                <a:latin typeface="Noto Sans CJK SC"/>
              </a:defRPr>
            </a:pPr>
            <a:r>
              <a:t>已码箱使用真实位姿；待码箱只显示槽位，不伪造托盘坐标。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07487"/>
                </a:solidFill>
                <a:latin typeface="Noto Sans CJK SC"/>
              </a:defRPr>
            </a:pPr>
            <a:r>
              <a:t>NBU_Papper  /  2026.10.21—10.27  /  阶段进展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09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72D43"/>
                </a:solidFill>
                <a:latin typeface="Noto Sans CJK SC"/>
              </a:defRPr>
            </a:pPr>
            <a:r>
              <a:t>真实模型D首版：闭环运行，但协议拒绝大量截断订单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07487"/>
                </a:solidFill>
                <a:latin typeface="Noto Sans CJK SC"/>
              </a:defRPr>
            </a:pPr>
            <a:r>
              <a:t>48条冒烟＋1152条订单记录；合计4500次真实请求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07487"/>
                </a:solidFill>
                <a:latin typeface="Noto Sans CJK SC"/>
              </a:defRPr>
            </a:pPr>
            <a:r>
              <a:t>证据：O4-D真实编译冒烟与完整订单结果分析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07487"/>
                </a:solidFill>
                <a:latin typeface="Noto Sans CJK SC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3474720" cy="237744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28600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007F82"/>
                </a:solidFill>
                <a:latin typeface="Noto Sans CJK SC"/>
              </a:defRPr>
            </a:pPr>
            <a:r>
              <a:t>1152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0175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2D43"/>
                </a:solidFill>
                <a:latin typeface="Noto Sans CJK SC"/>
              </a:defRPr>
            </a:pPr>
            <a:r>
              <a:t>订单episode执行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611879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07487"/>
                </a:solidFill>
                <a:latin typeface="Noto Sans CJK SC"/>
              </a:defRPr>
            </a:pPr>
            <a:r>
              <a:t>重复方法与配置；仍为12个开发来源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103120"/>
            <a:ext cx="3474720" cy="237744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28600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B6544F"/>
                </a:solidFill>
                <a:latin typeface="Noto Sans CJK SC"/>
              </a:defRPr>
            </a:pPr>
            <a:r>
              <a:t>243 / 576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0175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2D43"/>
                </a:solidFill>
                <a:latin typeface="Noto Sans CJK SC"/>
              </a:defRPr>
            </a:pPr>
            <a:r>
              <a:t>模型episode协议停单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611879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07487"/>
                </a:solidFill>
                <a:latin typeface="Noto Sans CJK SC"/>
              </a:defRPr>
            </a:pPr>
            <a:r>
              <a:t>42.19%；Text118、Image125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103120"/>
            <a:ext cx="3474720" cy="237744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28600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D69531"/>
                </a:solidFill>
                <a:latin typeface="Noto Sans CJK SC"/>
              </a:defRPr>
            </a:pPr>
            <a:r>
              <a:t>233 / 243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0175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2D43"/>
                </a:solidFill>
                <a:latin typeface="Noto Sans CJK SC"/>
              </a:defRPr>
            </a:pPr>
            <a:r>
              <a:t>最终失败为类别枚举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611879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07487"/>
                </a:solidFill>
                <a:latin typeface="Noto Sans CJK SC"/>
              </a:defRPr>
            </a:pPr>
            <a:r>
              <a:t>公共提示未完整声明允许词汇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742432"/>
            <a:ext cx="10972800" cy="47548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84301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7F82"/>
                </a:solidFill>
                <a:latin typeface="Noto Sans CJK SC"/>
              </a:defRPr>
            </a:pPr>
            <a:r>
              <a:t>先修复公开契约和错误诊断；不能将枚举不匹配直接解释成业务理解失败。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07487"/>
                </a:solidFill>
                <a:latin typeface="Noto Sans CJK SC"/>
              </a:defRPr>
            </a:pPr>
            <a:r>
              <a:t>NBU_Papper  /  2026.10.21—10.27  /  阶段进展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09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72D43"/>
                </a:solidFill>
                <a:latin typeface="Noto Sans CJK SC"/>
              </a:defRPr>
            </a:pPr>
            <a:r>
              <a:t>D-V2：补齐公共契约，区分结构差异和语义错误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07487"/>
                </a:solidFill>
                <a:latin typeface="Noto Sans CJK SC"/>
              </a:defRPr>
            </a:pPr>
            <a:r>
              <a:t>真实冒烟24/24、固定题288/288首答有效；修复0次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07487"/>
                </a:solidFill>
                <a:latin typeface="Noto Sans CJK SC"/>
              </a:defRPr>
            </a:pPr>
            <a:r>
              <a:t>证据：O4D_V2真实冒烟与固定题分析；评价器V2报告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07487"/>
                </a:solidFill>
                <a:latin typeface="Noto Sans CJK SC"/>
              </a:defRPr>
            </a:pPr>
            <a: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21408"/>
            <a:ext cx="64008" cy="210312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029968"/>
            <a:ext cx="105704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72D43"/>
                </a:solidFill>
                <a:latin typeface="Noto Sans CJK SC"/>
              </a:defRPr>
            </a:pPr>
            <a:r>
              <a:t>明确允许枚举、字段类型和字段级诊断，保留严格校验与最多一次修复。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944368"/>
            <a:ext cx="64008" cy="210312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852928"/>
            <a:ext cx="105704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72D43"/>
                </a:solidFill>
                <a:latin typeface="Noto Sans CJK SC"/>
              </a:defRPr>
            </a:pPr>
            <a:r>
              <a:t>固定题两模型允许集合均144/144；没有观测到图像增量。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767328"/>
            <a:ext cx="64008" cy="210312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3675888"/>
            <a:ext cx="105704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72D43"/>
                </a:solidFill>
                <a:latin typeface="Noto Sans CJK SC"/>
              </a:defRPr>
            </a:pPr>
            <a:r>
              <a:t>Text旧签名138/144中的6条是等价表示差异，保留原始评分。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590288"/>
            <a:ext cx="64008" cy="210312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4498848"/>
            <a:ext cx="105704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72D43"/>
                </a:solidFill>
                <a:latin typeface="Noto Sans CJK SC"/>
              </a:defRPr>
            </a:pPr>
            <a:r>
              <a:t>Image输入token约多19.27%；V2在线停单率改善尚未测量。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07487"/>
                </a:solidFill>
                <a:latin typeface="Noto Sans CJK SC"/>
              </a:defRPr>
            </a:pPr>
            <a:r>
              <a:t>NBU_Papper  /  2026.10.21—10.27  /  阶段进展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09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72D43"/>
                </a:solidFill>
                <a:latin typeface="Noto Sans CJK SC"/>
              </a:defRPr>
            </a:pPr>
            <a:r>
              <a:t>约束扩展：区域与相对位置通过真实编译验证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07487"/>
                </a:solidFill>
                <a:latin typeface="Noto Sans CJK SC"/>
              </a:defRPr>
            </a:pPr>
            <a:r>
              <a:t>E1/E2固定状态结果；E3暂缓，E4不在本期验证范围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07487"/>
                </a:solidFill>
                <a:latin typeface="Noto Sans CJK SC"/>
              </a:defRPr>
            </a:pPr>
            <a:r>
              <a:t>证据：O4-E1 / E2真实冒烟与固定题报告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07487"/>
                </a:solidFill>
                <a:latin typeface="Noto Sans CJK SC"/>
              </a:defRPr>
            </a:pPr>
            <a: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93392"/>
            <a:ext cx="2604211" cy="708660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12264"/>
            <a:ext cx="2421331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能力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2579" y="1993392"/>
            <a:ext cx="2494940" cy="708660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72307" y="2112264"/>
            <a:ext cx="23120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真实请求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75807" y="1993392"/>
            <a:ext cx="2713482" cy="708660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5535" y="2112264"/>
            <a:ext cx="2530601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最终模型任务有效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7577" y="1993392"/>
            <a:ext cx="3041294" cy="708660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7305" y="2112264"/>
            <a:ext cx="2858414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结果边界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724912"/>
            <a:ext cx="2604211" cy="70866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843784"/>
            <a:ext cx="2421331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E1 区域约束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62579" y="2724912"/>
            <a:ext cx="2494940" cy="70866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72307" y="2843784"/>
            <a:ext cx="23120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72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75807" y="2724912"/>
            <a:ext cx="2713482" cy="70866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85535" y="2843784"/>
            <a:ext cx="2530601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72 / 72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7577" y="2724912"/>
            <a:ext cx="3041294" cy="70866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17305" y="2843784"/>
            <a:ext cx="2858414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固定状态；在线未测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456432"/>
            <a:ext cx="2604211" cy="7086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575304"/>
            <a:ext cx="2421331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E2 相对位置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62579" y="3456432"/>
            <a:ext cx="2494940" cy="7086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72307" y="3575304"/>
            <a:ext cx="23120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73（含1次修复）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75807" y="3456432"/>
            <a:ext cx="2713482" cy="7086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85535" y="3575304"/>
            <a:ext cx="2530601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72 / 72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7577" y="3456432"/>
            <a:ext cx="3041294" cy="7086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17305" y="3575304"/>
            <a:ext cx="2858414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绑定错误修复；语义无误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187952"/>
            <a:ext cx="2604211" cy="70866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306824"/>
            <a:ext cx="2421331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E3 / E4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62579" y="4187952"/>
            <a:ext cx="2494940" cy="70866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72307" y="4306824"/>
            <a:ext cx="23120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本期未完成相应验证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75807" y="4187952"/>
            <a:ext cx="2713482" cy="70866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85535" y="4306824"/>
            <a:ext cx="2530601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不计入通过项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7577" y="4187952"/>
            <a:ext cx="3041294" cy="70866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17305" y="4306824"/>
            <a:ext cx="2858414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E3暂缓；E4不在范围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5742432"/>
            <a:ext cx="10972800" cy="47548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84301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7F82"/>
                </a:solidFill>
                <a:latin typeface="Noto Sans CJK SC"/>
              </a:defRPr>
            </a:pPr>
            <a:r>
              <a:t>规则ID、顺序和等价AST形式不同，不应按原始字符串直接判业务错误。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07487"/>
                </a:solidFill>
                <a:latin typeface="Noto Sans CJK SC"/>
              </a:defRPr>
            </a:pPr>
            <a:r>
              <a:t>NBU_Papper  /  2026.10.21—10.27  /  阶段进展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09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72D43"/>
                </a:solidFill>
                <a:latin typeface="Noto Sans CJK SC"/>
              </a:defRPr>
            </a:pPr>
            <a:r>
              <a:t>E5混合约束真实闭环：240条矩阵执行完成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07487"/>
                </a:solidFill>
                <a:latin typeface="Noto Sans CJK SC"/>
              </a:defRPr>
            </a:pPr>
            <a:r>
              <a:t>12来源 × C0/C1 × 方法/后端；每规划器24任务、286箱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07487"/>
                </a:solidFill>
                <a:latin typeface="Noto Sans CJK SC"/>
              </a:defRPr>
            </a:pPr>
            <a:r>
              <a:t>证据：O4-E5真实完整订单闭环结果分析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07487"/>
                </a:solidFill>
                <a:latin typeface="Noto Sans CJK SC"/>
              </a:defRPr>
            </a:pPr>
            <a: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3474720" cy="237744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28600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007F82"/>
                </a:solidFill>
                <a:latin typeface="Noto Sans CJK SC"/>
              </a:defRPr>
            </a:pPr>
            <a:r>
              <a:t>240 / 240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0175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2D43"/>
                </a:solidFill>
                <a:latin typeface="Noto Sans CJK SC"/>
              </a:defRPr>
            </a:pPr>
            <a:r>
              <a:t>测量矩阵执行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611879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07487"/>
                </a:solidFill>
                <a:latin typeface="Noto Sans CJK SC"/>
              </a:defRPr>
            </a:pPr>
            <a:r>
              <a:t>执行/账目PASS，不代表整单成功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103120"/>
            <a:ext cx="3474720" cy="237744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28600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007F82"/>
                </a:solidFill>
                <a:latin typeface="Noto Sans CJK SC"/>
              </a:defRPr>
            </a:pPr>
            <a:r>
              <a:t>943 / 943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0175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2D43"/>
                </a:solidFill>
                <a:latin typeface="Noto Sans CJK SC"/>
              </a:defRPr>
            </a:pPr>
            <a:r>
              <a:t>最终编译有效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611879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07487"/>
                </a:solidFill>
                <a:latin typeface="Noto Sans CJK SC"/>
              </a:defRPr>
            </a:pPr>
            <a:r>
              <a:t>首答941；两次绑定修复成功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103120"/>
            <a:ext cx="3474720" cy="237744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28600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007F82"/>
                </a:solidFill>
                <a:latin typeface="Noto Sans CJK SC"/>
              </a:defRPr>
            </a:pPr>
            <a:r>
              <a:t>945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0175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72D43"/>
                </a:solidFill>
                <a:latin typeface="Noto Sans CJK SC"/>
              </a:defRPr>
            </a:pPr>
            <a:r>
              <a:t>累计真实请求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611879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07487"/>
                </a:solidFill>
                <a:latin typeface="Noto Sans CJK SC"/>
              </a:defRPr>
            </a:pPr>
            <a:r>
              <a:t>包含前缀84，不重复累加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742432"/>
            <a:ext cx="10972800" cy="47548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84301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7F82"/>
                </a:solidFill>
                <a:latin typeface="Noto Sans CJK SC"/>
              </a:defRPr>
            </a:pPr>
            <a:r>
              <a:t>相同规划器下Parser/Text/Image/Oracle对应指标一致；瓶颈转向规划。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07487"/>
                </a:solidFill>
                <a:latin typeface="Noto Sans CJK SC"/>
              </a:defRPr>
            </a:pPr>
            <a:r>
              <a:t>NBU_Papper  /  2026.10.21—10.27  /  阶段进展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09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72D43"/>
                </a:solidFill>
                <a:latin typeface="Noto Sans CJK SC"/>
              </a:defRPr>
            </a:pPr>
            <a:r>
              <a:t>E5结果：搜索多放40箱，整单完成仍只有2/24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07487"/>
                </a:solidFill>
                <a:latin typeface="Noto Sans CJK SC"/>
              </a:defRPr>
            </a:pPr>
            <a:r>
              <a:t>这是规划器描述结果；启发式多放箱但完整完成反而为0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07487"/>
                </a:solidFill>
                <a:latin typeface="Noto Sans CJK SC"/>
              </a:defRPr>
            </a:pPr>
            <a:r>
              <a:t>证据：O4-E5真实闭环结果表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07487"/>
                </a:solidFill>
                <a:latin typeface="Noto Sans CJK SC"/>
              </a:defRPr>
            </a:pPr>
            <a: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93392"/>
            <a:ext cx="3259835" cy="644652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12264"/>
            <a:ext cx="30769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规划器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18203" y="1993392"/>
            <a:ext cx="2494940" cy="644652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7931" y="2112264"/>
            <a:ext cx="23120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已放箱 / 286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31432" y="1993392"/>
            <a:ext cx="2713482" cy="644652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1160" y="2112264"/>
            <a:ext cx="253060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平均订单体积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63202" y="1993392"/>
            <a:ext cx="2385669" cy="644652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72930" y="2112264"/>
            <a:ext cx="220278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无违规完成 / 24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660904"/>
            <a:ext cx="3259835" cy="64465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779776"/>
            <a:ext cx="30769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single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18203" y="2660904"/>
            <a:ext cx="2494940" cy="64465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7931" y="2779776"/>
            <a:ext cx="23120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155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31432" y="2660904"/>
            <a:ext cx="2713482" cy="64465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1160" y="2779776"/>
            <a:ext cx="253060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53.86%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63202" y="2660904"/>
            <a:ext cx="2385669" cy="64465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930" y="2779776"/>
            <a:ext cx="220278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328416"/>
            <a:ext cx="3259835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447288"/>
            <a:ext cx="30769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buffer_fifo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18203" y="3328416"/>
            <a:ext cx="2494940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7931" y="3447288"/>
            <a:ext cx="23120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155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31432" y="3328416"/>
            <a:ext cx="2713482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41160" y="3447288"/>
            <a:ext cx="253060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53.86%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63202" y="3328416"/>
            <a:ext cx="2385669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72930" y="3447288"/>
            <a:ext cx="220278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995928"/>
            <a:ext cx="3259835" cy="64465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114800"/>
            <a:ext cx="30769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buffer_heuristic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18203" y="3995928"/>
            <a:ext cx="2494940" cy="64465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27931" y="4114800"/>
            <a:ext cx="23120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171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31432" y="3995928"/>
            <a:ext cx="2713482" cy="64465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41160" y="4114800"/>
            <a:ext cx="253060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59.31%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63202" y="3995928"/>
            <a:ext cx="2385669" cy="64465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72930" y="4114800"/>
            <a:ext cx="220278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663440"/>
            <a:ext cx="3259835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" y="4782312"/>
            <a:ext cx="30769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buffer_search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18203" y="4663440"/>
            <a:ext cx="2494940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27931" y="4782312"/>
            <a:ext cx="23120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195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31432" y="4663440"/>
            <a:ext cx="2713482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41160" y="4782312"/>
            <a:ext cx="253060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69.19%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63202" y="4663440"/>
            <a:ext cx="2385669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72930" y="4782312"/>
            <a:ext cx="220278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5742432"/>
            <a:ext cx="10972800" cy="47548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584301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7F82"/>
                </a:solidFill>
                <a:latin typeface="Noto Sans CJK SC"/>
              </a:defRPr>
            </a:pPr>
            <a:r>
              <a:t>不把“件数提高”“整单完成”“模型贡献”合并成同一个结论。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07487"/>
                </a:solidFill>
                <a:latin typeface="Noto Sans CJK SC"/>
              </a:defRPr>
            </a:pPr>
            <a:r>
              <a:t>NBU_Papper  /  2026.10.21—10.27  /  阶段进展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09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72D43"/>
                </a:solidFill>
                <a:latin typeface="Noto Sans CJK SC"/>
              </a:defRPr>
            </a:pPr>
            <a:r>
              <a:t>停止原因分层：解析正确后，仍可能无可行动作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07487"/>
                </a:solidFill>
                <a:latin typeface="Noto Sans CJK SC"/>
              </a:defRPr>
            </a:pPr>
            <a:r>
              <a:t>240条方法记录：16完成、184业务候选空、24队首受阻、16物理候选空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07487"/>
                </a:solidFill>
                <a:latin typeface="Noto Sans CJK SC"/>
              </a:defRPr>
            </a:pPr>
            <a:r>
              <a:t>证据：O4-E5真实闭环终止统计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07487"/>
                </a:solidFill>
                <a:latin typeface="Noto Sans CJK SC"/>
              </a:defRPr>
            </a:pPr>
            <a: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93392"/>
            <a:ext cx="3041294" cy="635508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12264"/>
            <a:ext cx="2858414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Noto Sans CJK SC"/>
              </a:defRPr>
            </a:pPr>
            <a:r>
              <a:t>终止原因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99662" y="1993392"/>
            <a:ext cx="2167128" cy="635508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09390" y="2112264"/>
            <a:ext cx="1984248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Noto Sans CJK SC"/>
              </a:defRPr>
            </a:pPr>
            <a:r>
              <a:t>方法记录数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85078" y="1993392"/>
            <a:ext cx="5663793" cy="635508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94806" y="2112264"/>
            <a:ext cx="5480913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FFFF"/>
                </a:solidFill>
                <a:latin typeface="Noto Sans CJK SC"/>
              </a:defRPr>
            </a:pPr>
            <a:r>
              <a:t>准确解释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651760"/>
            <a:ext cx="3041294" cy="63550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70632"/>
            <a:ext cx="2858414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72D43"/>
                </a:solidFill>
                <a:latin typeface="Noto Sans CJK SC"/>
              </a:defRPr>
            </a:pPr>
            <a:r>
              <a:t>全部放完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99662" y="2651760"/>
            <a:ext cx="2167128" cy="63550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09390" y="2770632"/>
            <a:ext cx="1984248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72D43"/>
                </a:solidFill>
                <a:latin typeface="Noto Sans CJK SC"/>
              </a:defRPr>
            </a:pPr>
            <a:r>
              <a:t>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85078" y="2651760"/>
            <a:ext cx="5663793" cy="63550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94806" y="2770632"/>
            <a:ext cx="5480913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72D43"/>
                </a:solidFill>
                <a:latin typeface="Noto Sans CJK SC"/>
              </a:defRPr>
            </a:pPr>
            <a:r>
              <a:t>所有计划箱提交完成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310128"/>
            <a:ext cx="3041294" cy="6355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429000"/>
            <a:ext cx="2858414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72D43"/>
                </a:solidFill>
                <a:latin typeface="Noto Sans CJK SC"/>
              </a:defRPr>
            </a:pPr>
            <a:r>
              <a:t>业务候选为空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99662" y="3310128"/>
            <a:ext cx="2167128" cy="6355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09390" y="3429000"/>
            <a:ext cx="1984248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72D43"/>
                </a:solidFill>
                <a:latin typeface="Noto Sans CJK SC"/>
              </a:defRPr>
            </a:pPr>
            <a:r>
              <a:t>184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85078" y="3310128"/>
            <a:ext cx="5663793" cy="6355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94806" y="3429000"/>
            <a:ext cx="5480913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72D43"/>
                </a:solidFill>
                <a:latin typeface="Noto Sans CJK SC"/>
              </a:defRPr>
            </a:pPr>
            <a:r>
              <a:t>当前方法候选不满足业务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968496"/>
            <a:ext cx="3041294" cy="63550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087368"/>
            <a:ext cx="2858414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72D43"/>
                </a:solidFill>
                <a:latin typeface="Noto Sans CJK SC"/>
              </a:defRPr>
            </a:pPr>
            <a:r>
              <a:t>FIFO队首受阻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99662" y="3968496"/>
            <a:ext cx="2167128" cy="63550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09390" y="4087368"/>
            <a:ext cx="1984248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72D43"/>
                </a:solidFill>
                <a:latin typeface="Noto Sans CJK SC"/>
              </a:defRPr>
            </a:pPr>
            <a:r>
              <a:t>24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85078" y="3968496"/>
            <a:ext cx="5663793" cy="63550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94806" y="4087368"/>
            <a:ext cx="5480913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72D43"/>
                </a:solidFill>
                <a:latin typeface="Noto Sans CJK SC"/>
              </a:defRPr>
            </a:pPr>
            <a:r>
              <a:t>该策略不能绕过队首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626864"/>
            <a:ext cx="3041294" cy="6355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745736"/>
            <a:ext cx="2858414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72D43"/>
                </a:solidFill>
                <a:latin typeface="Noto Sans CJK SC"/>
              </a:defRPr>
            </a:pPr>
            <a:r>
              <a:t>物理候选为空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99662" y="4626864"/>
            <a:ext cx="2167128" cy="6355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09390" y="4745736"/>
            <a:ext cx="1984248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72D43"/>
                </a:solidFill>
                <a:latin typeface="Noto Sans CJK SC"/>
              </a:defRPr>
            </a:pPr>
            <a:r>
              <a:t>16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85078" y="4626864"/>
            <a:ext cx="5663793" cy="6355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94806" y="4745736"/>
            <a:ext cx="5480913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72D43"/>
                </a:solidFill>
                <a:latin typeface="Noto Sans CJK SC"/>
              </a:defRPr>
            </a:pPr>
            <a:r>
              <a:t>当前公开采样未找到位置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5742432"/>
            <a:ext cx="10972800" cy="47548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84301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7F82"/>
                </a:solidFill>
                <a:latin typeface="Noto Sans CJK SC"/>
              </a:defRPr>
            </a:pPr>
            <a:r>
              <a:t>另14条Top-K覆盖诊断为交叉标签；不增加方法记录或独立来源数。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07487"/>
                </a:solidFill>
                <a:latin typeface="Noto Sans CJK SC"/>
              </a:defRPr>
            </a:pPr>
            <a:r>
              <a:t>NBU_Papper  /  2026.10.21—10.27  /  阶段进展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09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72D43"/>
                </a:solidFill>
                <a:latin typeface="Noto Sans CJK SC"/>
              </a:defRPr>
            </a:pPr>
            <a:r>
              <a:t>失败可视化：模型全对，为什么只放下6/12箱？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07487"/>
                </a:solidFill>
                <a:latin typeface="Noto Sans CJK SC"/>
              </a:defRPr>
            </a:pPr>
            <a:r>
              <a:t>00102047 / C0 / Text-single；模型7/7正确，整单未完成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07487"/>
                </a:solidFill>
                <a:latin typeface="Noto Sans CJK SC"/>
              </a:defRPr>
            </a:pPr>
            <a:r>
              <a:t>证据：O4E5_00102047_失败案例_20261027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07487"/>
                </a:solidFill>
                <a:latin typeface="Noto Sans CJK SC"/>
              </a:defRPr>
            </a:pPr>
            <a:r>
              <a:t>18</a:t>
            </a:r>
          </a:p>
        </p:txBody>
      </p:sp>
      <p:pic>
        <p:nvPicPr>
          <p:cNvPr id="9" name="Picture 8" descr="browser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67" y="1783080"/>
            <a:ext cx="3948545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52160" y="2103120"/>
            <a:ext cx="5394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72D43"/>
                </a:solidFill>
                <a:latin typeface="Noto Sans CJK SC"/>
              </a:defRPr>
            </a:pPr>
            <a:r>
              <a:t>实际已放：6/12箱</a:t>
            </a:r>
          </a:p>
          <a:p>
            <a:pPr>
              <a:spcAft>
                <a:spcPts val="1000"/>
              </a:spcAft>
              <a:defRPr sz="2100" b="0">
                <a:solidFill>
                  <a:srgbClr val="172D43"/>
                </a:solidFill>
                <a:latin typeface="Noto Sans CJK SC"/>
              </a:defRPr>
            </a:pPr>
            <a:r>
              <a:t>订单体积完成：52.73%</a:t>
            </a:r>
          </a:p>
          <a:p>
            <a:pPr>
              <a:spcAft>
                <a:spcPts val="1000"/>
              </a:spcAft>
              <a:defRPr sz="2100" b="0">
                <a:solidFill>
                  <a:srgbClr val="172D43"/>
                </a:solidFill>
                <a:latin typeface="Noto Sans CJK SC"/>
              </a:defRPr>
            </a:pPr>
            <a:r>
              <a:t>托盘体积利用：16.19%</a:t>
            </a:r>
          </a:p>
          <a:p>
            <a:pPr>
              <a:spcAft>
                <a:spcPts val="1000"/>
              </a:spcAft>
              <a:defRPr sz="2100" b="0">
                <a:solidFill>
                  <a:srgbClr val="172D43"/>
                </a:solidFill>
                <a:latin typeface="Noto Sans CJK SC"/>
              </a:defRPr>
            </a:pPr>
            <a:r>
              <a:t>完整采样业务允许：0/33</a:t>
            </a:r>
          </a:p>
          <a:p>
            <a:pPr>
              <a:spcAft>
                <a:spcPts val="1000"/>
              </a:spcAft>
              <a:defRPr sz="2100" b="0">
                <a:solidFill>
                  <a:srgbClr val="172D43"/>
                </a:solidFill>
                <a:latin typeface="Noto Sans CJK SC"/>
              </a:defRPr>
            </a:pPr>
          </a:p>
          <a:p>
            <a:pPr>
              <a:spcAft>
                <a:spcPts val="1000"/>
              </a:spcAft>
              <a:defRPr sz="2100" b="0">
                <a:solidFill>
                  <a:srgbClr val="172D43"/>
                </a:solidFill>
                <a:latin typeface="Noto Sans CJK SC"/>
              </a:defRPr>
            </a:pPr>
            <a:r>
              <a:t>空白空间仍多，但不等于当前箱</a:t>
            </a:r>
          </a:p>
          <a:p>
            <a:pPr>
              <a:spcAft>
                <a:spcPts val="1000"/>
              </a:spcAft>
              <a:defRPr sz="2100" b="0">
                <a:solidFill>
                  <a:srgbClr val="172D43"/>
                </a:solidFill>
                <a:latin typeface="Noto Sans CJK SC"/>
              </a:defRPr>
            </a:pPr>
            <a:r>
              <a:t>满足形状、区域、载荷后可放。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571500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673AC"/>
                </a:solidFill>
                <a:latin typeface="Noto Sans CJK SC"/>
              </a:defRPr>
            </a:pPr>
            <a:r>
              <a:rPr>
                <a:hlinkClick r:id="rId3"/>
              </a:rPr>
              <a:t>打开案例：重播、查看候选拒绝原因及输入输出 ↗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07487"/>
                </a:solidFill>
                <a:latin typeface="Noto Sans CJK SC"/>
              </a:defRPr>
            </a:pPr>
            <a:r>
              <a:t>NBU_Papper  /  2026.10.21—10.27  /  阶段进展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09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72D43"/>
                </a:solidFill>
                <a:latin typeface="Noto Sans CJK SC"/>
              </a:defRPr>
            </a:pPr>
            <a:r>
              <a:t>四方法回放：区分取料区、实际码放与尚未到达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07487"/>
                </a:solidFill>
                <a:latin typeface="Noto Sans CJK SC"/>
              </a:defRPr>
            </a:pPr>
            <a:r>
              <a:t>00101152 / C0｜回退原版Parser，本地4条限定运行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07487"/>
                </a:solidFill>
                <a:latin typeface="Noto Sans CJK SC"/>
              </a:defRPr>
            </a:pPr>
            <a:r>
              <a:t>证据：O4E5_回退原版四方法对比_20261027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07487"/>
                </a:solidFill>
                <a:latin typeface="Noto Sans CJK SC"/>
              </a:defRPr>
            </a:pPr>
            <a:r>
              <a:t>19</a:t>
            </a:r>
          </a:p>
        </p:txBody>
      </p:sp>
      <p:pic>
        <p:nvPicPr>
          <p:cNvPr id="9" name="Picture 8" descr="browser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057" y="1783080"/>
            <a:ext cx="4963885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92240" y="210312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单箱 / FIFO / 启发式 / 搜索</a:t>
            </a:r>
          </a:p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已放：8 / 8 / 7 / 8（共12箱）</a:t>
            </a:r>
          </a:p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</a:p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搜索仍暂存01号箱；</a:t>
            </a:r>
          </a:p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“放得更多”与“保留哪些箱”</a:t>
            </a:r>
          </a:p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都需要追踪真实状态。</a:t>
            </a:r>
          </a:p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</a:p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本地Parser案例，无新增API。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568756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673AC"/>
                </a:solidFill>
                <a:latin typeface="Noto Sans CJK SC"/>
              </a:defRPr>
            </a:pPr>
            <a:r>
              <a:rPr>
                <a:hlinkClick r:id="rId3"/>
              </a:rPr>
              <a:t>打开四方法同步回放与逐步输入输出 ↗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07487"/>
                </a:solidFill>
                <a:latin typeface="Noto Sans CJK SC"/>
              </a:defRPr>
            </a:pPr>
            <a:r>
              <a:t>NBU_Papper  /  2026.10.21—10.27  /  阶段进展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09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72D43"/>
                </a:solidFill>
                <a:latin typeface="Noto Sans CJK SC"/>
              </a:defRPr>
            </a:pPr>
            <a:r>
              <a:t>规划改进V1：局部更整齐，平均装载并未提升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07487"/>
                </a:solidFill>
                <a:latin typeface="Noto Sans CJK SC"/>
              </a:defRPr>
            </a:pPr>
            <a:r>
              <a:t>已撤回活动源码并归档；58条历史记录保留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07487"/>
                </a:solidFill>
                <a:latin typeface="Noto Sans CJK SC"/>
              </a:defRPr>
            </a:pPr>
            <a:r>
              <a:t>证据：O4-E5空间规划V1开发与消融验收报告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07487"/>
                </a:solidFill>
                <a:latin typeface="Noto Sans CJK SC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93392"/>
            <a:ext cx="4680356" cy="635508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12264"/>
            <a:ext cx="4497476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Single消融组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8724" y="1993392"/>
            <a:ext cx="3041294" cy="635508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8452" y="2112264"/>
            <a:ext cx="2858414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已放箱 / 72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98306" y="1993392"/>
            <a:ext cx="3150565" cy="635508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8034" y="2112264"/>
            <a:ext cx="2967685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平均订单体积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651760"/>
            <a:ext cx="4680356" cy="63550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70632"/>
            <a:ext cx="4497476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38724" y="2651760"/>
            <a:ext cx="3041294" cy="63550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8452" y="2770632"/>
            <a:ext cx="2858414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48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98306" y="2651760"/>
            <a:ext cx="3150565" cy="63550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8034" y="2770632"/>
            <a:ext cx="2967685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66.31%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310128"/>
            <a:ext cx="4680356" cy="6355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429000"/>
            <a:ext cx="4497476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仅新候选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38724" y="3310128"/>
            <a:ext cx="3041294" cy="6355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8452" y="3429000"/>
            <a:ext cx="2858414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48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98306" y="3310128"/>
            <a:ext cx="3150565" cy="6355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8034" y="3429000"/>
            <a:ext cx="2967685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66.31%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968496"/>
            <a:ext cx="4680356" cy="63550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087368"/>
            <a:ext cx="4497476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仅新排序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38724" y="3968496"/>
            <a:ext cx="3041294" cy="63550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48452" y="4087368"/>
            <a:ext cx="2858414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46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98306" y="3968496"/>
            <a:ext cx="3150565" cy="63550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8034" y="4087368"/>
            <a:ext cx="2967685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63.20%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626864"/>
            <a:ext cx="4680356" cy="6355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745736"/>
            <a:ext cx="4497476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组合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38724" y="4626864"/>
            <a:ext cx="3041294" cy="6355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48452" y="4745736"/>
            <a:ext cx="2858414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48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98306" y="4626864"/>
            <a:ext cx="3150565" cy="6355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8034" y="4745736"/>
            <a:ext cx="2967685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72D43"/>
                </a:solidFill>
                <a:latin typeface="Noto Sans CJK SC"/>
              </a:defRPr>
            </a:pPr>
            <a:r>
              <a:t>65.30%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5742432"/>
            <a:ext cx="10972800" cy="47548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84301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B6544F"/>
                </a:solidFill>
                <a:latin typeface="Noto Sans CJK SC"/>
              </a:defRPr>
            </a:pPr>
            <a:r>
              <a:t>V1不建议替换默认；保留失败与撤回历史，不用布局外观代替性能。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07487"/>
                </a:solidFill>
                <a:latin typeface="Noto Sans CJK SC"/>
              </a:defRPr>
            </a:pPr>
            <a:r>
              <a:t>NBU_Papper  /  2026.10.21—10.27  /  阶段进展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09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72D43"/>
                </a:solidFill>
                <a:latin typeface="Noto Sans CJK SC"/>
              </a:defRPr>
            </a:pPr>
            <a:r>
              <a:t>V2分层消融：候选保留有效，强排序组合退步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07487"/>
                </a:solidFill>
                <a:latin typeface="Noto Sans CJK SC"/>
              </a:defRPr>
            </a:pPr>
            <a:r>
              <a:t>每方法6任务、72箱；A/B/C/D严格区分，不事后改名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07487"/>
                </a:solidFill>
                <a:latin typeface="Noto Sans CJK SC"/>
              </a:defRPr>
            </a:pPr>
            <a:r>
              <a:t>证据：O4-E5规划质量V2分级验收报告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07487"/>
                </a:solidFill>
                <a:latin typeface="Noto Sans CJK SC"/>
              </a:defRPr>
            </a:pPr>
            <a: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93392"/>
            <a:ext cx="2822752" cy="644652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12264"/>
            <a:ext cx="26398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组合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81120" y="1993392"/>
            <a:ext cx="1948586" cy="644652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0848" y="2112264"/>
            <a:ext cx="176570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single箱/72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7995" y="1993392"/>
            <a:ext cx="2057857" cy="644652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57723" y="2112264"/>
            <a:ext cx="187497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single体积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24140" y="1993392"/>
            <a:ext cx="1948586" cy="644652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3868" y="2112264"/>
            <a:ext cx="176570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搜索箱/72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91014" y="1993392"/>
            <a:ext cx="2057857" cy="644652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0742" y="2112264"/>
            <a:ext cx="187497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搜索体积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660904"/>
            <a:ext cx="2822752" cy="64465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779776"/>
            <a:ext cx="26398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A 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81120" y="2660904"/>
            <a:ext cx="1948586" cy="64465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90848" y="2779776"/>
            <a:ext cx="176570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48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7995" y="2660904"/>
            <a:ext cx="2057857" cy="64465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57723" y="2779776"/>
            <a:ext cx="187497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66.31%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24140" y="2660904"/>
            <a:ext cx="1948586" cy="64465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3868" y="2779776"/>
            <a:ext cx="176570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52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91014" y="2660904"/>
            <a:ext cx="2057857" cy="64465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0742" y="2779776"/>
            <a:ext cx="187497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73.17%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328416"/>
            <a:ext cx="2822752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3447288"/>
            <a:ext cx="26398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B 仅新保留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81120" y="3328416"/>
            <a:ext cx="1948586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90848" y="3447288"/>
            <a:ext cx="176570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48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47995" y="3328416"/>
            <a:ext cx="2057857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57723" y="3447288"/>
            <a:ext cx="187497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66.31%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24140" y="3328416"/>
            <a:ext cx="1948586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33868" y="3447288"/>
            <a:ext cx="176570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54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91014" y="3328416"/>
            <a:ext cx="2057857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0742" y="3447288"/>
            <a:ext cx="187497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76.52%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3995928"/>
            <a:ext cx="2822752" cy="64465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4114800"/>
            <a:ext cx="26398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C 仅新排序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81120" y="3995928"/>
            <a:ext cx="1948586" cy="64465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90848" y="4114800"/>
            <a:ext cx="176570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40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47995" y="3995928"/>
            <a:ext cx="2057857" cy="64465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57723" y="4114800"/>
            <a:ext cx="187497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54.07%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4140" y="3995928"/>
            <a:ext cx="1948586" cy="64465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33868" y="4114800"/>
            <a:ext cx="176570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52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91014" y="3995928"/>
            <a:ext cx="2057857" cy="64465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0742" y="4114800"/>
            <a:ext cx="187497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73.42%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4663440"/>
            <a:ext cx="2822752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9808" y="4782312"/>
            <a:ext cx="26398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D 组合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81120" y="4663440"/>
            <a:ext cx="1948586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90848" y="4782312"/>
            <a:ext cx="176570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42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47995" y="4663440"/>
            <a:ext cx="2057857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57723" y="4782312"/>
            <a:ext cx="187497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56.92%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24140" y="4663440"/>
            <a:ext cx="1948586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33868" y="4782312"/>
            <a:ext cx="176570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52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91014" y="4663440"/>
            <a:ext cx="2057857" cy="6446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00742" y="4782312"/>
            <a:ext cx="187497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71.78%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" y="5742432"/>
            <a:ext cx="10972800" cy="47548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" y="584301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B6544F"/>
                </a:solidFill>
                <a:latin typeface="Noto Sans CJK SC"/>
              </a:defRPr>
            </a:pPr>
            <a:r>
              <a:t>D未达扩大门槛，原版保持默认；B另立协议验证，不能沿用D的身份。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07487"/>
                </a:solidFill>
                <a:latin typeface="Noto Sans CJK SC"/>
              </a:defRPr>
            </a:pPr>
            <a:r>
              <a:t>NBU_Papper  /  2026.10.21—10.27  /  阶段进展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09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72D43"/>
                </a:solidFill>
                <a:latin typeface="Noto Sans CJK SC"/>
              </a:defRPr>
            </a:pPr>
            <a:r>
              <a:t>从候选到搜索：12次限定诊断拆分作用机制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07487"/>
                </a:solidFill>
                <a:latin typeface="Noto Sans CJK SC"/>
              </a:defRPr>
            </a:pPr>
            <a:r>
              <a:t>区分候选压缩、位置排名、beam竞争与深层预算暴露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07487"/>
                </a:solidFill>
                <a:latin typeface="Noto Sans CJK SC"/>
              </a:defRPr>
            </a:pPr>
            <a:r>
              <a:t>证据：B0报告T0；V2局部对齐与分层诊断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07487"/>
                </a:solidFill>
                <a:latin typeface="Noto Sans CJK SC"/>
              </a:defRPr>
            </a:pPr>
            <a:r>
              <a:t>22</a:t>
            </a:r>
          </a:p>
        </p:txBody>
      </p:sp>
      <p:pic>
        <p:nvPicPr>
          <p:cNvPr id="9" name="Picture 8" descr="local_deci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3" y="1828800"/>
            <a:ext cx="4553712" cy="3794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29400" y="2103120"/>
            <a:ext cx="46634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72D43"/>
                </a:solidFill>
                <a:latin typeface="Noto Sans CJK SC"/>
              </a:defRPr>
            </a:pPr>
            <a:r>
              <a:t>① 候选是否已在采样池？</a:t>
            </a:r>
          </a:p>
          <a:p>
            <a:pPr>
              <a:spcAft>
                <a:spcPts val="1000"/>
              </a:spcAft>
              <a:defRPr sz="1900" b="0">
                <a:solidFill>
                  <a:srgbClr val="172D43"/>
                </a:solidFill>
                <a:latin typeface="Noto Sans CJK SC"/>
              </a:defRPr>
            </a:pPr>
            <a:r>
              <a:t>② Top-K是否保留？</a:t>
            </a:r>
          </a:p>
          <a:p>
            <a:pPr>
              <a:spcAft>
                <a:spcPts val="1000"/>
              </a:spcAft>
              <a:defRPr sz="1900" b="0">
                <a:solidFill>
                  <a:srgbClr val="172D43"/>
                </a:solidFill>
                <a:latin typeface="Noto Sans CJK SC"/>
              </a:defRPr>
            </a:pPr>
            <a:r>
              <a:t>③ 是否业务允许、eligible？</a:t>
            </a:r>
          </a:p>
          <a:p>
            <a:pPr>
              <a:spcAft>
                <a:spcPts val="1000"/>
              </a:spcAft>
              <a:defRPr sz="1900" b="0">
                <a:solidFill>
                  <a:srgbClr val="172D43"/>
                </a:solidFill>
                <a:latin typeface="Noto Sans CJK SC"/>
              </a:defRPr>
            </a:pPr>
            <a:r>
              <a:t>④ beam是否保留该路径？</a:t>
            </a:r>
          </a:p>
          <a:p>
            <a:pPr>
              <a:spcAft>
                <a:spcPts val="1000"/>
              </a:spcAft>
              <a:defRPr sz="1900" b="0">
                <a:solidFill>
                  <a:srgbClr val="172D43"/>
                </a:solidFill>
                <a:latin typeface="Noto Sans CJK SC"/>
              </a:defRPr>
            </a:pPr>
            <a:r>
              <a:t>⑤ 预算是否轮到深层展开？</a:t>
            </a:r>
          </a:p>
          <a:p>
            <a:pPr>
              <a:spcAft>
                <a:spcPts val="1000"/>
              </a:spcAft>
              <a:defRPr sz="1900" b="0">
                <a:solidFill>
                  <a:srgbClr val="172D43"/>
                </a:solidFill>
                <a:latin typeface="Noto Sans CJK SC"/>
              </a:defRPr>
            </a:pPr>
          </a:p>
          <a:p>
            <a:pPr>
              <a:spcAft>
                <a:spcPts val="1000"/>
              </a:spcAft>
              <a:defRPr sz="1900" b="0">
                <a:solidFill>
                  <a:srgbClr val="172D43"/>
                </a:solidFill>
                <a:latin typeface="Noto Sans CJK SC"/>
              </a:defRPr>
            </a:pPr>
            <a:r>
              <a:t>根动作存在，不等于后继搜索等价。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332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673AC"/>
                </a:solidFill>
                <a:latin typeface="Noto Sans CJK SC"/>
              </a:defRPr>
            </a:pPr>
            <a:r>
              <a:rPr>
                <a:hlinkClick r:id="rId3"/>
              </a:rPr>
              <a:t>查看V2布局与逐任务消融 ↗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07487"/>
                </a:solidFill>
                <a:latin typeface="Noto Sans CJK SC"/>
              </a:defRPr>
            </a:pPr>
            <a:r>
              <a:t>NBU_Papper  /  2026.10.21—10.27  /  阶段进展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09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72D43"/>
                </a:solidFill>
                <a:latin typeface="Noto Sans CJK SC"/>
              </a:defRPr>
            </a:pPr>
            <a:r>
              <a:t>B0独立冻结：以候选保留作为唯一算法因素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07487"/>
                </a:solidFill>
                <a:latin typeface="Noto Sans CJK SC"/>
              </a:defRPr>
            </a:pPr>
            <a:r>
              <a:t>F＝B0＝新候选保留＋原位置选择＋原搜索；原A仍默认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07487"/>
                </a:solidFill>
                <a:latin typeface="Noto Sans CJK SC"/>
              </a:defRPr>
            </a:pPr>
            <a:r>
              <a:t>证据：O4-E5规划能力B0诊断与独立验证报告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07487"/>
                </a:solidFill>
                <a:latin typeface="Noto Sans CJK SC"/>
              </a:defRPr>
            </a:pPr>
            <a: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93392"/>
            <a:ext cx="2385669" cy="781812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12264"/>
            <a:ext cx="220278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方法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4037" y="1993392"/>
            <a:ext cx="3041294" cy="781812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3765" y="2112264"/>
            <a:ext cx="2858414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A → B0已放箱 / 286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3620" y="1993392"/>
            <a:ext cx="3369106" cy="781812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3348" y="2112264"/>
            <a:ext cx="318622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平均订单体积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91014" y="1993392"/>
            <a:ext cx="2057857" cy="781812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0742" y="2112264"/>
            <a:ext cx="1874977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无违规完成 / 24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798064"/>
            <a:ext cx="2385669" cy="78181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916936"/>
            <a:ext cx="220278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single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44037" y="2798064"/>
            <a:ext cx="3041294" cy="78181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3765" y="2916936"/>
            <a:ext cx="2858414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155 → 155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3620" y="2798064"/>
            <a:ext cx="3369106" cy="78181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3348" y="2916936"/>
            <a:ext cx="318622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53.8552% → 53.8552%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91014" y="2798064"/>
            <a:ext cx="2057857" cy="781812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0742" y="2916936"/>
            <a:ext cx="1874977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2 →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602736"/>
            <a:ext cx="2385669" cy="7818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721608"/>
            <a:ext cx="220278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buffer_search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44037" y="3602736"/>
            <a:ext cx="3041294" cy="7818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53765" y="3721608"/>
            <a:ext cx="2858414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195 → 197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3620" y="3602736"/>
            <a:ext cx="3369106" cy="7818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3348" y="3721608"/>
            <a:ext cx="318622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69.1864% → 70.6737%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91014" y="3602736"/>
            <a:ext cx="2057857" cy="7818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0742" y="3721608"/>
            <a:ext cx="1874977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2 →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93776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007F82"/>
                </a:solidFill>
                <a:latin typeface="Noto Sans CJK SC"/>
              </a:defRPr>
            </a:pPr>
            <a:r>
              <a:t>搜索体积平均 +1.487354个百分点；这是开发集有限收益，不是模型收益或新来源泛化。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50992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673AC"/>
                </a:solidFill>
                <a:latin typeface="Noto Sans CJK SC"/>
              </a:defRPr>
            </a:pPr>
            <a:r>
              <a:rPr>
                <a:hlinkClick r:id="rId2"/>
              </a:rPr>
              <a:t>查看完整配对与退步审查 ↗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07487"/>
                </a:solidFill>
                <a:latin typeface="Noto Sans CJK SC"/>
              </a:defRPr>
            </a:pPr>
            <a:r>
              <a:t>NBU_Papper  /  2026.10.21—10.27  /  阶段进展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09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72D43"/>
                </a:solidFill>
                <a:latin typeface="Noto Sans CJK SC"/>
              </a:defRPr>
            </a:pPr>
            <a:r>
              <a:t>代表B0成功：SRC04/C0从11箱到12箱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07487"/>
                </a:solidFill>
                <a:latin typeface="Noto Sans CJK SC"/>
              </a:defRPr>
            </a:pPr>
            <a:r>
              <a:t>同订单、同业务规则、同16/48/3/8/256预算；无违规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07487"/>
                </a:solidFill>
                <a:latin typeface="Noto Sans CJK SC"/>
              </a:defRPr>
            </a:pPr>
            <a:r>
              <a:t>证据：O4_E5_CAPACITY_CASE_SRC04_C0_20261027_01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07487"/>
                </a:solidFill>
                <a:latin typeface="Noto Sans CJK SC"/>
              </a:defRPr>
            </a:pPr>
            <a:r>
              <a:t>24</a:t>
            </a:r>
          </a:p>
        </p:txBody>
      </p:sp>
      <p:pic>
        <p:nvPicPr>
          <p:cNvPr id="9" name="Picture 8" descr="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442" y="1783080"/>
            <a:ext cx="4260795" cy="4434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2103120"/>
            <a:ext cx="49377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72D43"/>
                </a:solidFill>
                <a:latin typeface="Noto Sans CJK SC"/>
              </a:defRPr>
            </a:pPr>
            <a:r>
              <a:t>原A：11/12箱，体积89.94%</a:t>
            </a:r>
          </a:p>
          <a:p>
            <a:pPr>
              <a:spcAft>
                <a:spcPts val="1000"/>
              </a:spcAft>
              <a:defRPr sz="2100" b="0">
                <a:solidFill>
                  <a:srgbClr val="172D43"/>
                </a:solidFill>
                <a:latin typeface="Noto Sans CJK SC"/>
              </a:defRPr>
            </a:pPr>
            <a:r>
              <a:t>B0：12/12箱，体积100%</a:t>
            </a:r>
          </a:p>
          <a:p>
            <a:pPr>
              <a:spcAft>
                <a:spcPts val="1000"/>
              </a:spcAft>
              <a:defRPr sz="2100" b="0">
                <a:solidFill>
                  <a:srgbClr val="172D43"/>
                </a:solidFill>
                <a:latin typeface="Noto Sans CJK SC"/>
              </a:defRPr>
            </a:pPr>
          </a:p>
          <a:p>
            <a:pPr>
              <a:spcAft>
                <a:spcPts val="1000"/>
              </a:spcAft>
              <a:defRPr sz="2100" b="0">
                <a:solidFill>
                  <a:srgbClr val="172D43"/>
                </a:solidFill>
                <a:latin typeface="Noto Sans CJK SC"/>
              </a:defRPr>
            </a:pPr>
            <a:r>
              <a:t>关键根点在原池也存在；</a:t>
            </a:r>
          </a:p>
          <a:p>
            <a:pPr>
              <a:spcAft>
                <a:spcPts val="1000"/>
              </a:spcAft>
              <a:defRPr sz="2100" b="0">
                <a:solidFill>
                  <a:srgbClr val="172D43"/>
                </a:solidFill>
                <a:latin typeface="Noto Sans CJK SC"/>
              </a:defRPr>
            </a:pPr>
            <a:r>
              <a:t>保留策略改变了后继竞争。</a:t>
            </a:r>
          </a:p>
          <a:p>
            <a:pPr>
              <a:spcAft>
                <a:spcPts val="1000"/>
              </a:spcAft>
              <a:defRPr sz="2100" b="0">
                <a:solidFill>
                  <a:srgbClr val="172D43"/>
                </a:solidFill>
                <a:latin typeface="Noto Sans CJK SC"/>
              </a:defRPr>
            </a:pPr>
          </a:p>
          <a:p>
            <a:pPr>
              <a:spcAft>
                <a:spcPts val="1000"/>
              </a:spcAft>
              <a:defRPr sz="2100" b="0">
                <a:solidFill>
                  <a:srgbClr val="172D43"/>
                </a:solidFill>
                <a:latin typeface="Noto Sans CJK SC"/>
              </a:defRPr>
            </a:pPr>
            <a:r>
              <a:t>不能只把收益归因于</a:t>
            </a:r>
          </a:p>
          <a:p>
            <a:pPr>
              <a:spcAft>
                <a:spcPts val="1000"/>
              </a:spcAft>
              <a:defRPr sz="2100" b="0">
                <a:solidFill>
                  <a:srgbClr val="172D43"/>
                </a:solidFill>
                <a:latin typeface="Noto Sans CJK SC"/>
              </a:defRPr>
            </a:pPr>
            <a:r>
              <a:t>“新增一个更好的第二步位置”。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56692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673AC"/>
                </a:solidFill>
                <a:latin typeface="Noto Sans CJK SC"/>
              </a:defRPr>
            </a:pPr>
            <a:r>
              <a:rPr>
                <a:hlinkClick r:id="rId3"/>
              </a:rPr>
              <a:t>打开案例：同步旋转、第二步对比、逐决策回放 ↗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07487"/>
                </a:solidFill>
                <a:latin typeface="Noto Sans CJK SC"/>
              </a:defRPr>
            </a:pPr>
            <a:r>
              <a:t>NBU_Papper  /  2026.10.21—10.27  /  阶段进展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09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72D43"/>
                </a:solidFill>
                <a:latin typeface="Noto Sans CJK SC"/>
              </a:defRPr>
            </a:pPr>
            <a:r>
              <a:t>B0仍有负例；性能通过不等于自动替换默认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07487"/>
                </a:solidFill>
                <a:latin typeface="Noto Sans CJK SC"/>
              </a:defRPr>
            </a:pPr>
            <a:r>
              <a:t>SRC10/C0与C1各少1箱；未触发少≥2箱的严重退步门槛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07487"/>
                </a:solidFill>
                <a:latin typeface="Noto Sans CJK SC"/>
              </a:defRPr>
            </a:pPr>
            <a:r>
              <a:t>证据：B0逐任务配对、成本与默认资格报告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07487"/>
                </a:solidFill>
                <a:latin typeface="Noto Sans CJK SC"/>
              </a:defRPr>
            </a:pPr>
            <a: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93392"/>
            <a:ext cx="2822752" cy="653796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12264"/>
            <a:ext cx="263987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审查项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81120" y="1993392"/>
            <a:ext cx="4243273" cy="653796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0848" y="2112264"/>
            <a:ext cx="4060393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实测结果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42681" y="1993392"/>
            <a:ext cx="3806189" cy="653796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52409" y="2112264"/>
            <a:ext cx="3623309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当前处理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670048"/>
            <a:ext cx="2822752" cy="653796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88920"/>
            <a:ext cx="263987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SRC10/C0、C1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81120" y="2670048"/>
            <a:ext cx="4243273" cy="653796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0848" y="2788920"/>
            <a:ext cx="4060393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搜索10 → 9，各少1箱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2681" y="2670048"/>
            <a:ext cx="3806189" cy="653796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2409" y="2788920"/>
            <a:ext cx="3623309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保留负例，等待审查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346704"/>
            <a:ext cx="2822752" cy="6537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465576"/>
            <a:ext cx="263987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成本：冷median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81120" y="3346704"/>
            <a:ext cx="4243273" cy="6537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0848" y="3465576"/>
            <a:ext cx="4060393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single1.073×；search1.090×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42681" y="3346704"/>
            <a:ext cx="3806189" cy="6537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52409" y="3465576"/>
            <a:ext cx="3623309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限定固定状态通过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023360"/>
            <a:ext cx="2822752" cy="653796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142232"/>
            <a:ext cx="263987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成本：冷p95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81120" y="4023360"/>
            <a:ext cx="4243273" cy="653796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90848" y="4142232"/>
            <a:ext cx="4060393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single1.049×；search1.120×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42681" y="4023360"/>
            <a:ext cx="3806189" cy="653796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52409" y="4142232"/>
            <a:ext cx="3623309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不外推所有订单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700016"/>
            <a:ext cx="2822752" cy="6537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818888"/>
            <a:ext cx="263987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默认资格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81120" y="4700016"/>
            <a:ext cx="4243273" cy="6537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90848" y="4818888"/>
            <a:ext cx="4060393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工程/冻结性能/成本门槛通过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42681" y="4700016"/>
            <a:ext cx="3806189" cy="6537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52409" y="4818888"/>
            <a:ext cx="3623309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D43"/>
                </a:solidFill>
                <a:latin typeface="Noto Sans CJK SC"/>
              </a:defRPr>
            </a:pPr>
            <a:r>
              <a:t>原A仍默认，未自动切换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07487"/>
                </a:solidFill>
                <a:latin typeface="Noto Sans CJK SC"/>
              </a:defRPr>
            </a:pPr>
            <a:r>
              <a:t>NBU_Papper  /  2026.10.21—10.27  /  阶段进展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09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72D43"/>
                </a:solidFill>
                <a:latin typeface="Noto Sans CJK SC"/>
              </a:defRPr>
            </a:pPr>
            <a:r>
              <a:t>截至10月27日：完成什么，仍缺什么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07487"/>
                </a:solidFill>
                <a:latin typeface="Noto Sans CJK SC"/>
              </a:defRPr>
            </a:pPr>
            <a:r>
              <a:t>规划改进证据与模型/视觉/经验贡献分别报告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07487"/>
                </a:solidFill>
                <a:latin typeface="Noto Sans CJK SC"/>
              </a:defRPr>
            </a:pPr>
            <a:r>
              <a:t>证据：O4-E5 / B0结论；10月27日O5开发规范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07487"/>
                </a:solidFill>
                <a:latin typeface="Noto Sans CJK SC"/>
              </a:defRPr>
            </a:pPr>
            <a: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93392"/>
            <a:ext cx="5445252" cy="681228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12264"/>
            <a:ext cx="526237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已形成的证据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03620" y="1993392"/>
            <a:ext cx="5445252" cy="681228"/>
          </a:xfrm>
          <a:prstGeom prst="rect">
            <a:avLst/>
          </a:prstGeom>
          <a:solidFill>
            <a:srgbClr val="10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3348" y="2112264"/>
            <a:ext cx="526237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尚不能声称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97480"/>
            <a:ext cx="5445252" cy="6812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816352"/>
            <a:ext cx="526237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业务语义 → 规划 → 提交 → 独立评价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3620" y="2697480"/>
            <a:ext cx="5445252" cy="6812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3348" y="2816352"/>
            <a:ext cx="526237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真实相机感知、机器人实际执行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01568"/>
            <a:ext cx="5445252" cy="681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520440"/>
            <a:ext cx="526237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容量3改序及逐事件可视化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03620" y="3401568"/>
            <a:ext cx="5445252" cy="681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3348" y="3520440"/>
            <a:ext cx="526237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搜索全局最优或所有任务必改善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105656"/>
            <a:ext cx="5445252" cy="6812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224528"/>
            <a:ext cx="526237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B0开发集有限装载收益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03620" y="4105656"/>
            <a:ext cx="5445252" cy="68122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3348" y="4224528"/>
            <a:ext cx="526237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未见来源泛化、模型/视觉独立增量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809744"/>
            <a:ext cx="5445252" cy="681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928616"/>
            <a:ext cx="526237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O5研究路线文档已形成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03620" y="4809744"/>
            <a:ext cx="5445252" cy="681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3348" y="4928616"/>
            <a:ext cx="526237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72D43"/>
                </a:solidFill>
                <a:latin typeface="Noto Sans CJK SC"/>
              </a:defRPr>
            </a:pPr>
            <a:r>
              <a:t>O5实测、动态记忆收益已完成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5742432"/>
            <a:ext cx="10972800" cy="47548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4301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7F82"/>
                </a:solidFill>
                <a:latin typeface="Noto Sans CJK SC"/>
              </a:defRPr>
            </a:pPr>
            <a:r>
              <a:t>后续主问题：让模型参与候选决策，再用严格对照验证经验是否真正改变效果。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07487"/>
                </a:solidFill>
                <a:latin typeface="Noto Sans CJK SC"/>
              </a:defRPr>
            </a:pPr>
            <a:r>
              <a:t>NBU_Papper  /  2026.10.21—10.27  /  阶段进展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09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72D43"/>
                </a:solidFill>
                <a:latin typeface="Noto Sans CJK SC"/>
              </a:defRPr>
            </a:pPr>
            <a:r>
              <a:t>汇报演示与证据入口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07487"/>
                </a:solidFill>
                <a:latin typeface="Noto Sans CJK SC"/>
              </a:defRPr>
            </a:pPr>
            <a:r>
              <a:t>PPT图片已嵌入；交互页面需要本地仓库文件，下载PPT后仍可离线阅读静态内容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E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10528"/>
            <a:ext cx="10515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07487"/>
                </a:solidFill>
                <a:latin typeface="Noto Sans CJK SC"/>
              </a:defRPr>
            </a:pPr>
            <a:r>
              <a:t>证据：配套Markdown含完整说明、来源链接及摘要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07487"/>
                </a:solidFill>
                <a:latin typeface="Noto Sans CJK SC"/>
              </a:defRPr>
            </a:pPr>
            <a: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673AC"/>
                </a:solidFill>
                <a:latin typeface="Noto Sans CJK SC"/>
              </a:defRPr>
            </a:pPr>
            <a:r>
              <a:rPr>
                <a:hlinkClick r:id="rId2"/>
              </a:rPr>
              <a:t>三缓冲真实订单：取料槽位、逐事件与四规划器 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70632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673AC"/>
                </a:solidFill>
                <a:latin typeface="Noto Sans CJK SC"/>
              </a:defRPr>
            </a:pPr>
            <a:r>
              <a:rPr>
                <a:hlinkClick r:id="rId3"/>
              </a:rPr>
              <a:t>E5失败案例：6/12箱的模型输入、AST与拒绝原因 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38144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673AC"/>
                </a:solidFill>
                <a:latin typeface="Noto Sans CJK SC"/>
              </a:defRPr>
            </a:pPr>
            <a:r>
              <a:rPr>
                <a:hlinkClick r:id="rId4"/>
              </a:rPr>
              <a:t>回退原版：四种规划方法并排回放 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0565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673AC"/>
                </a:solidFill>
                <a:latin typeface="Noto Sans CJK SC"/>
              </a:defRPr>
            </a:pPr>
            <a:r>
              <a:rPr>
                <a:hlinkClick r:id="rId5"/>
              </a:rPr>
              <a:t>B0代表例：11/12 → 12/12与关键第二步 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7316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673AC"/>
                </a:solidFill>
                <a:latin typeface="Noto Sans CJK SC"/>
              </a:defRPr>
            </a:pPr>
            <a:r>
              <a:rPr>
                <a:hlinkClick r:id="rId6"/>
              </a:rPr>
              <a:t>B0完整审查：逐任务配对与负结果 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NBU_Papper 2026.10.21—10.27 阶段进展</dc:title>
  <dc:subject>O4业务语义、三箱缓冲、真实模型闭环与B0规划改进</dc:subject>
  <dc:creator>NBU_Papper</dc:creator>
  <cp:keywords>O4,三缓冲,E5,B0,20261021-20261027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