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658368"/>
            <a:ext cx="6675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8FD9D1"/>
                </a:solidFill>
                <a:latin typeface="Noto Sans CJK SC"/>
              </a:rPr>
              <a:t>硕士课题阶段汇报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7772400" cy="1417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FFFFFF"/>
                </a:solidFill>
                <a:latin typeface="Noto Sans CJK SC"/>
              </a:rPr>
              <a:t>面向语义约束的</a:t>
            </a:r>
            <a:br/>
            <a:r>
              <a:rPr sz="3100" b="1">
                <a:solidFill>
                  <a:srgbClr val="FFFFFF"/>
                </a:solidFill>
                <a:latin typeface="Noto Sans CJK SC"/>
              </a:rPr>
              <a:t>三维机械臂码垛规划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70048"/>
            <a:ext cx="7498079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C9D8E8"/>
                </a:solidFill>
                <a:latin typeface="Noto Sans CJK SC"/>
              </a:rPr>
              <a:t>数据集架构 · 阶段1A统一平台 · 阶段1B几何规划与可视化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713232"/>
            <a:ext cx="3520440" cy="5120640"/>
          </a:xfrm>
          <a:prstGeom prst="roundRect">
            <a:avLst>
              <a:gd name="adj" fmla="val 8000"/>
            </a:avLst>
          </a:prstGeom>
          <a:solidFill>
            <a:srgbClr val="183B5B"/>
          </a:solidFill>
          <a:ln>
            <a:solidFill>
              <a:srgbClr val="31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05840"/>
            <a:ext cx="2834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当前完成状态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27632"/>
            <a:ext cx="621792" cy="621792"/>
          </a:xfrm>
          <a:prstGeom prst="roundRect">
            <a:avLst>
              <a:gd name="adj" fmla="val 8000"/>
            </a:avLst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709928"/>
            <a:ext cx="621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618488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阶段0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2" y="1947672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D8E8"/>
                </a:solidFill>
                <a:latin typeface="Noto Sans CJK SC"/>
              </a:rPr>
              <a:t>数据与接口验收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2706624"/>
            <a:ext cx="621792" cy="621792"/>
          </a:xfrm>
          <a:prstGeom prst="roundRect">
            <a:avLst>
              <a:gd name="adj" fmla="val 8000"/>
            </a:avLst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788920"/>
            <a:ext cx="621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697480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阶段1A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302666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D8E8"/>
                </a:solidFill>
                <a:latin typeface="Noto Sans CJK SC"/>
              </a:rPr>
              <a:t>统一实验平台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3785615"/>
            <a:ext cx="621792" cy="621792"/>
          </a:xfrm>
          <a:prstGeom prst="roundRect">
            <a:avLst>
              <a:gd name="adj" fmla="val 8000"/>
            </a:avLst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867911"/>
            <a:ext cx="62179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776472"/>
            <a:ext cx="1737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阶段1B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105655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C9D8E8"/>
                </a:solidFill>
                <a:latin typeface="Noto Sans CJK SC"/>
              </a:rPr>
              <a:t>几何基线与动画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4919472"/>
            <a:ext cx="2743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8FD9D1"/>
                </a:solidFill>
                <a:latin typeface="Noto Sans CJK SC"/>
              </a:rPr>
              <a:t>下一步：VLM候选决策（1C）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07608"/>
            <a:ext cx="6858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Noto Sans CJK SC"/>
              </a:rPr>
              <a:t>GOPT/EMS-style几何候选  +  VLM高层决策  +  ReMe动态经验记忆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0528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AFC2D4"/>
                </a:solidFill>
                <a:latin typeface="Noto Sans CJK SC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课题总体技术路线与当前边界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49808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前期先验证VLM、规划器和经验记忆；Gazebo与Aubo i5放在最后做闭环验证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2/10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536192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65506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A89A"/>
                </a:solidFill>
                <a:latin typeface="Noto Sans CJK SC"/>
              </a:rPr>
              <a:t>数据集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020824"/>
            <a:ext cx="1609344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真实尺寸/重量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语义属性/规则</a:t>
            </a:r>
          </a:p>
        </p:txBody>
      </p:sp>
      <p:sp>
        <p:nvSpPr>
          <p:cNvPr id="11" name="Chevron 10"/>
          <p:cNvSpPr/>
          <p:nvPr/>
        </p:nvSpPr>
        <p:spPr>
          <a:xfrm>
            <a:off x="2505456" y="2029968"/>
            <a:ext cx="32004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07792" y="1536192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65506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几何规划器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020824"/>
            <a:ext cx="1609344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EMS-style候选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硬约束过滤</a:t>
            </a:r>
          </a:p>
        </p:txBody>
      </p:sp>
      <p:sp>
        <p:nvSpPr>
          <p:cNvPr id="15" name="Chevron 14"/>
          <p:cNvSpPr/>
          <p:nvPr/>
        </p:nvSpPr>
        <p:spPr>
          <a:xfrm>
            <a:off x="4809744" y="2029968"/>
            <a:ext cx="32004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12080" y="1536192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65506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A93B"/>
                </a:solidFill>
                <a:latin typeface="Noto Sans CJK SC"/>
              </a:rPr>
              <a:t>VLM决策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020824"/>
            <a:ext cx="1609344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理解指令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从Top-K选ID</a:t>
            </a:r>
          </a:p>
        </p:txBody>
      </p:sp>
      <p:sp>
        <p:nvSpPr>
          <p:cNvPr id="19" name="Chevron 18"/>
          <p:cNvSpPr/>
          <p:nvPr/>
        </p:nvSpPr>
        <p:spPr>
          <a:xfrm>
            <a:off x="7114032" y="2029968"/>
            <a:ext cx="32004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16368" y="1536192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3528" y="165506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E35D6A"/>
                </a:solidFill>
                <a:latin typeface="Noto Sans CJK SC"/>
              </a:rPr>
              <a:t>ReMe记忆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020824"/>
            <a:ext cx="1609344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经验检索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失败后重写</a:t>
            </a:r>
          </a:p>
        </p:txBody>
      </p:sp>
      <p:sp>
        <p:nvSpPr>
          <p:cNvPr id="23" name="Chevron 22"/>
          <p:cNvSpPr/>
          <p:nvPr/>
        </p:nvSpPr>
        <p:spPr>
          <a:xfrm>
            <a:off x="9418320" y="2029968"/>
            <a:ext cx="32004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820656" y="1536192"/>
            <a:ext cx="1847088" cy="1353312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57816" y="1655064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83B5B"/>
                </a:solidFill>
                <a:latin typeface="Noto Sans CJK SC"/>
              </a:rPr>
              <a:t>机器人验证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39528" y="2020824"/>
            <a:ext cx="1609344" cy="7680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Gazebo → RGB-D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MoveIt 2 → Aubo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319272"/>
            <a:ext cx="6903720" cy="23957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566160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102A43"/>
                </a:solidFill>
                <a:latin typeface="Noto Sans CJK SC"/>
              </a:rPr>
              <a:t>本次汇报覆盖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023360"/>
            <a:ext cx="617220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172B4D"/>
                </a:solidFill>
                <a:latin typeface="Noto Sans CJK SC"/>
              </a:rPr>
              <a:t>• 阶段0：最小完整数据集与接口验收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172B4D"/>
                </a:solidFill>
                <a:latin typeface="Noto Sans CJK SC"/>
              </a:rPr>
              <a:t>• 阶段1A：Repository / Environment / Selector / Runner / Evaluator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 b="0">
                <a:solidFill>
                  <a:srgbClr val="172B4D"/>
                </a:solidFill>
                <a:latin typeface="Noto Sans CJK SC"/>
              </a:rPr>
              <a:t>• 阶段1B：在线几何候选、传统基线、批量实验、3D动画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3319272"/>
            <a:ext cx="3730752" cy="239572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3602736"/>
            <a:ext cx="30175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FFFFFF"/>
                </a:solidFill>
                <a:latin typeface="Noto Sans CJK SC"/>
              </a:rPr>
              <a:t>核心分工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041648"/>
            <a:ext cx="2971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C9D8E8"/>
                </a:solidFill>
                <a:latin typeface="Noto Sans CJK SC"/>
              </a:rPr>
              <a:t>规划器：保证物理可行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8FD9D1"/>
                </a:solidFill>
                <a:latin typeface="Noto Sans CJK SC"/>
              </a:rPr>
              <a:t>VLM：处理自然语言业务规则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sz="1400" b="1">
                <a:solidFill>
                  <a:srgbClr val="FFD692"/>
                </a:solidFill>
                <a:latin typeface="Noto Sans CJK SC"/>
              </a:rPr>
              <a:t>ReMe：沉淀可复用程序性经验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数据集如何构建：真实订单骨架 + 可控语义层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49808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MVD V0.1用于接口与功能实验；真实工业结论需要后续扩充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3/10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3200400" cy="117043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29260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BED-BPP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56232"/>
            <a:ext cx="2962656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箱体真实尺寸、重量、订单组成、到货顺序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00400" cy="1170432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490472"/>
            <a:ext cx="29260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A89A"/>
                </a:solidFill>
                <a:latin typeface="Noto Sans CJK SC"/>
              </a:rPr>
              <a:t>MixedPalletBoxes思想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856232"/>
            <a:ext cx="2962656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易碎、可堆叠、最大承重等语义属性</a:t>
            </a:r>
          </a:p>
        </p:txBody>
      </p:sp>
      <p:sp>
        <p:nvSpPr>
          <p:cNvPr id="14" name="Chevron 13"/>
          <p:cNvSpPr/>
          <p:nvPr/>
        </p:nvSpPr>
        <p:spPr>
          <a:xfrm>
            <a:off x="3977639" y="1792224"/>
            <a:ext cx="36576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7818120" y="1792224"/>
            <a:ext cx="365760" cy="32004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21040" y="1371600"/>
            <a:ext cx="3200400" cy="1170432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490472"/>
            <a:ext cx="2926080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A93B"/>
                </a:solidFill>
                <a:latin typeface="Noto Sans CJK SC"/>
              </a:rPr>
              <a:t>MVD V0.1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856232"/>
            <a:ext cx="2962656" cy="5852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多层3D放置、业务指令、ID/OOD与视觉输入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88036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880360"/>
            <a:ext cx="64008" cy="987552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59" y="2990088"/>
            <a:ext cx="21945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F6BFF"/>
                </a:solidFill>
                <a:latin typeface="Noto Sans CJK SC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" y="3419856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基础Scenario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10711" y="288036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10711" y="2880360"/>
            <a:ext cx="64008" cy="987552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93591" y="2990088"/>
            <a:ext cx="21945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6A89A"/>
                </a:solidFill>
                <a:latin typeface="Noto Sans CJK SC"/>
              </a:rPr>
              <a:t>140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1" y="3419856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可见Scenario文件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288036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2880360"/>
            <a:ext cx="64008" cy="9875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2990088"/>
            <a:ext cx="21945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2A93B"/>
                </a:solidFill>
                <a:latin typeface="Noto Sans CJK SC"/>
              </a:rPr>
              <a:t>360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3419856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固定Decision Case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51976" y="2880360"/>
            <a:ext cx="246888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51976" y="2880360"/>
            <a:ext cx="64008" cy="987552"/>
          </a:xfrm>
          <a:prstGeom prst="rect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4855" y="2990088"/>
            <a:ext cx="219456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35D6A"/>
                </a:solidFill>
                <a:latin typeface="Noto Sans CJK SC"/>
              </a:rPr>
              <a:t>5124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855" y="3419856"/>
            <a:ext cx="21945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Top-K候选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160520"/>
            <a:ext cx="653796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370832"/>
            <a:ext cx="2377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102A43"/>
                </a:solidFill>
                <a:latin typeface="Noto Sans CJK SC"/>
              </a:rPr>
              <a:t>每个箱体的两类信息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736592"/>
            <a:ext cx="58978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72B4D"/>
                </a:solidFill>
                <a:latin typeface="Noto Sans CJK SC"/>
              </a:rPr>
              <a:t>• 几何/物理：length、width、height、mass、pose、support、load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350" b="0">
                <a:solidFill>
                  <a:srgbClr val="172B4D"/>
                </a:solidFill>
                <a:latin typeface="Noto Sans CJK SC"/>
              </a:rPr>
              <a:t>• 语义/业务：fragile、stackable、weight_class、product_category、自然语言规则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52360" y="4160520"/>
            <a:ext cx="4069080" cy="1572768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4370832"/>
            <a:ext cx="34747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A93B"/>
                </a:solidFill>
                <a:latin typeface="Noto Sans CJK SC"/>
              </a:rPr>
              <a:t>固定三维码垛空间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4736592"/>
            <a:ext cx="333756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172B4D"/>
                </a:solidFill>
                <a:latin typeface="Noto Sans CJK SC"/>
              </a:rPr>
              <a:t>1200 × 1000 × 850 mm</a:t>
            </a:r>
            <a:br/>
            <a:r>
              <a:rPr sz="1300" b="0">
                <a:solidFill>
                  <a:srgbClr val="172B4D"/>
                </a:solidFill>
                <a:latin typeface="Noto Sans CJK SC"/>
              </a:rPr>
              <a:t>坐标原点：容器底面中心</a:t>
            </a:r>
            <a:br/>
            <a:r>
              <a:rPr sz="1300" b="0">
                <a:solidFill>
                  <a:srgbClr val="172B4D"/>
                </a:solidFill>
                <a:latin typeface="Noto Sans CJK SC"/>
              </a:rPr>
              <a:t>z_base：箱体底面相对托盘底面的高度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数据集目录架构：每个文件夹承担一种实验职责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4/10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98448"/>
            <a:ext cx="3703320" cy="495604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72768"/>
            <a:ext cx="3154680" cy="4434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semantic_pallet_dataset_v1/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catalog/        物料与几何目录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tasks/          场景与固定决策题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candidates/     候选集合与生成审计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annotations/    规则、Oracle与参考计划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splits/         train / val / ID / OOD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streams/        连续任务与规则变化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views/          VLM请求与渲染图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schemas/        JSON格式约束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├─ statistics/     验收与统计证据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DejaVu Sans Mono"/>
              </a:rPr>
              <a:t>└─ scripts/tests/   构建、检查与测试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298448"/>
            <a:ext cx="6903720" cy="804672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2" y="1444751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F6BFF"/>
                </a:solidFill>
                <a:latin typeface="Noto Sans CJK SC"/>
              </a:rPr>
              <a:t>任务定义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6752" y="1444751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2F6BFF"/>
                </a:solidFill>
                <a:latin typeface="DejaVu Sans Mono"/>
              </a:rPr>
              <a:t>tasks + catalog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927" y="1426464"/>
            <a:ext cx="3703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回答“要放哪些箱、当前放到哪一步”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286000"/>
            <a:ext cx="6903720" cy="804672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28032" y="2432304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6A89A"/>
                </a:solidFill>
                <a:latin typeface="Noto Sans CJK SC"/>
              </a:rPr>
              <a:t>动作空间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432304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6A89A"/>
                </a:solidFill>
                <a:latin typeface="DejaVu Sans Mono"/>
              </a:rPr>
              <a:t>candidates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2414016"/>
            <a:ext cx="3703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回答“当前物理可行的放置候选有哪些”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273552"/>
            <a:ext cx="6903720" cy="804672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28032" y="3419856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35D6A"/>
                </a:solidFill>
                <a:latin typeface="Noto Sans CJK SC"/>
              </a:rPr>
              <a:t>隐藏答案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16752" y="3419856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E35D6A"/>
                </a:solidFill>
                <a:latin typeface="DejaVu Sans Mono"/>
              </a:rPr>
              <a:t>annotations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3401568"/>
            <a:ext cx="3703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动作后评价；普通VLM输入不可读取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261104"/>
            <a:ext cx="6903720" cy="804672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4407408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2A93B"/>
                </a:solidFill>
                <a:latin typeface="Noto Sans CJK SC"/>
              </a:rPr>
              <a:t>公平评测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4407408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F2A93B"/>
                </a:solidFill>
                <a:latin typeface="DejaVu Sans Mono"/>
              </a:rPr>
              <a:t>splits + streams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389120"/>
            <a:ext cx="3703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区分训练、验证、ID/OOD和连续记忆任务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17720" y="5248656"/>
            <a:ext cx="6903720" cy="804672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5394960"/>
            <a:ext cx="11430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83B5B"/>
                </a:solidFill>
                <a:latin typeface="Noto Sans CJK SC"/>
              </a:rPr>
              <a:t>可复现证据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16752" y="5394960"/>
            <a:ext cx="13898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183B5B"/>
                </a:solidFill>
                <a:latin typeface="DejaVu Sans Mono"/>
              </a:rPr>
              <a:t>schemas + statistics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5376672"/>
            <a:ext cx="3703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Schema、校验和、独立几何复核、报告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JSON不是孤立文件：它们组成一条可追溯决策链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5/10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298448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SCN_0001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783080"/>
            <a:ext cx="16093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完整订单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容器/物料/到货顺序</a:t>
            </a:r>
          </a:p>
        </p:txBody>
      </p:sp>
      <p:sp>
        <p:nvSpPr>
          <p:cNvPr id="10" name="Chevron 9"/>
          <p:cNvSpPr/>
          <p:nvPr/>
        </p:nvSpPr>
        <p:spPr>
          <a:xfrm>
            <a:off x="2505456" y="1737360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298448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A89A"/>
                </a:solidFill>
                <a:latin typeface="Noto Sans CJK SC"/>
              </a:rPr>
              <a:t>DC_00001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1783080"/>
            <a:ext cx="16093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某一步状态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placed + available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9744" y="1737360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298448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A93B"/>
                </a:solidFill>
                <a:latin typeface="Noto Sans CJK SC"/>
              </a:rPr>
              <a:t>CSET_00001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1783080"/>
            <a:ext cx="16093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Top-K候选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位姿/支撑/几何分</a:t>
            </a:r>
          </a:p>
        </p:txBody>
      </p:sp>
      <p:sp>
        <p:nvSpPr>
          <p:cNvPr id="18" name="Chevron 17"/>
          <p:cNvSpPr/>
          <p:nvPr/>
        </p:nvSpPr>
        <p:spPr>
          <a:xfrm>
            <a:off x="7114032" y="1737360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16368" y="1298448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E35D6A"/>
                </a:solidFill>
                <a:latin typeface="Noto Sans CJK SC"/>
              </a:rPr>
              <a:t>Oracle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783080"/>
            <a:ext cx="16093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隐藏语义评价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最优候选ID</a:t>
            </a:r>
          </a:p>
        </p:txBody>
      </p:sp>
      <p:sp>
        <p:nvSpPr>
          <p:cNvPr id="22" name="Chevron 21"/>
          <p:cNvSpPr/>
          <p:nvPr/>
        </p:nvSpPr>
        <p:spPr>
          <a:xfrm>
            <a:off x="9418320" y="1737360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0656" y="1298448"/>
            <a:ext cx="1847088" cy="1188720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83B5B"/>
                </a:solidFill>
                <a:latin typeface="Noto Sans CJK SC"/>
              </a:rPr>
              <a:t>step事件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1783080"/>
            <a:ext cx="1609344" cy="6035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请求/响应/前后状态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指标/耗时/错误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816352"/>
            <a:ext cx="5349240" cy="29900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044952"/>
            <a:ext cx="2377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关键字段怎么读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49300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scenario_id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5456" y="3493008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一条完整码垛任务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3840480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decision_case_id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3840480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可独立比较方法的一道单步题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4187952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candidate_id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5456" y="4187952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规划器生成的合法动作ID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4535424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pose.x/y/z_base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05456" y="4535424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箱体底面中心位置；单位mm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" y="4882896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state_hash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05456" y="4882896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绑定当前状态，防止过期响应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230368"/>
            <a:ext cx="157276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DejaVu Sans Mono"/>
              </a:rPr>
              <a:t>hard_violations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05456" y="5230368"/>
            <a:ext cx="31272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30" b="0">
                <a:solidFill>
                  <a:srgbClr val="172B4D"/>
                </a:solidFill>
                <a:latin typeface="Noto Sans CJK SC"/>
              </a:rPr>
              <a:t>独立复核发现的违规列表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2816352"/>
            <a:ext cx="5257800" cy="299008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3035808"/>
            <a:ext cx="4709160" cy="2487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DDE8F2"/>
                </a:solidFill>
                <a:latin typeface="DejaVu Sans Mono"/>
              </a:rPr>
              <a:t>{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"request_id": "DC_00001",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"state_hash": "848195...",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"instruction_text": "电子产品箱不得...",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"candidates": [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  {"display_label":"C01",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   "candidate_id":"cand_af7d...",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   "pose":{"x_mm":-85,"y_mm":-300,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           "z_base_mm":0,"yaw_deg":90}}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  ]</a:t>
            </a:r>
            <a:br/>
            <a:r>
              <a:rPr sz="1150" b="0">
                <a:solidFill>
                  <a:srgbClr val="DDE8F2"/>
                </a:solidFill>
                <a:latin typeface="DejaVu Sans Mono"/>
              </a:rPr>
              <a:t>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816" y="5504688"/>
            <a:ext cx="46177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8FD9D1"/>
                </a:solidFill>
                <a:latin typeface="Noto Sans CJK SC"/>
              </a:rPr>
              <a:t>同一ID贯穿请求、选择、执行、评价和回放。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一次VLM决策到底看到什么？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49808"/>
            <a:ext cx="100584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公开请求用于选择；Oracle与结构化真值规则只在选择后评价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6/10</a:t>
            </a:r>
          </a:p>
        </p:txBody>
      </p:sp>
      <p:pic>
        <p:nvPicPr>
          <p:cNvPr id="8" name="Picture 7" descr="workspace.png"/>
          <p:cNvPicPr>
            <a:picLocks noChangeAspect="1"/>
          </p:cNvPicPr>
          <p:nvPr/>
        </p:nvPicPr>
        <p:blipFill>
          <a:blip r:embed="rId2"/>
          <a:srcRect l="11410" r="11410"/>
          <a:stretch>
            <a:fillRect/>
          </a:stretch>
        </p:blipFill>
        <p:spPr>
          <a:xfrm>
            <a:off x="621792" y="1298448"/>
            <a:ext cx="3657600" cy="24231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" y="1298448"/>
            <a:ext cx="3657600" cy="2423160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ndidates_montage.png"/>
          <p:cNvPicPr>
            <a:picLocks noChangeAspect="1"/>
          </p:cNvPicPr>
          <p:nvPr/>
        </p:nvPicPr>
        <p:blipFill>
          <a:blip r:embed="rId3"/>
          <a:srcRect t="20750" b="20750"/>
          <a:stretch>
            <a:fillRect/>
          </a:stretch>
        </p:blipFill>
        <p:spPr>
          <a:xfrm>
            <a:off x="4480560" y="1298448"/>
            <a:ext cx="4370832" cy="24231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80560" y="1298448"/>
            <a:ext cx="4370832" cy="2423160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070848" y="1298448"/>
            <a:ext cx="2468880" cy="242316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08592" y="1536192"/>
            <a:ext cx="1993392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6A89A"/>
                </a:solidFill>
                <a:latin typeface="Noto Sans CJK SC"/>
              </a:rPr>
              <a:t>VLM输出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08592" y="1993392"/>
            <a:ext cx="199339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72B4D"/>
                </a:solidFill>
                <a:latin typeface="Noto Sans CJK SC"/>
              </a:rPr>
              <a:t>只返回</a:t>
            </a:r>
            <a:br/>
            <a:r>
              <a:rPr sz="1500" b="1">
                <a:solidFill>
                  <a:srgbClr val="172B4D"/>
                </a:solidFill>
                <a:latin typeface="Noto Sans CJK SC"/>
              </a:rPr>
              <a:t>candidate_id</a:t>
            </a:r>
            <a:br/>
            <a:r>
              <a:rPr sz="1500" b="1">
                <a:solidFill>
                  <a:srgbClr val="172B4D"/>
                </a:solidFill>
                <a:latin typeface="Noto Sans CJK SC"/>
              </a:rPr>
              <a:t>+ confidence / reason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8592" y="3182112"/>
            <a:ext cx="1993392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35D6A"/>
                </a:solidFill>
                <a:latin typeface="Noto Sans CJK SC"/>
              </a:rPr>
              <a:t>不能生成新坐标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3840480"/>
            <a:ext cx="3383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02A43"/>
                </a:solidFill>
                <a:latin typeface="Noto Sans CJK SC"/>
              </a:rPr>
              <a:t>① 当前物料 + 已放状态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41605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02A43"/>
                </a:solidFill>
                <a:latin typeface="Noto Sans CJK SC"/>
              </a:rPr>
              <a:t>② Top-K候选图，与C01…CK严格对应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4297680"/>
            <a:ext cx="5349240" cy="1389888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50799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允许看到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4882896"/>
            <a:ext cx="4617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自然语言指令、容器、当前箱体属性、已放箱体、候选位姿、支撑/承重与几何分项、决策前图像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4297680"/>
            <a:ext cx="5340096" cy="1389888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507992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E35D6A"/>
                </a:solidFill>
                <a:latin typeface="Noto Sans CJK SC"/>
              </a:rPr>
              <a:t>禁止看到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882896"/>
            <a:ext cx="46177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0">
                <a:solidFill>
                  <a:srgbClr val="172B4D"/>
                </a:solidFill>
                <a:latin typeface="Noto Sans CJK SC"/>
              </a:rPr>
              <a:t>oracle_candidate_id、candidate_evaluations、ground_truth_rule、split、未来到货物料、选择后反馈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阶段1A：把演示脚本改造成统一、可替换的实验平台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7/10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298448"/>
            <a:ext cx="1847088" cy="1115568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783080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只读加载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SCN/DC/CSET</a:t>
            </a:r>
          </a:p>
        </p:txBody>
      </p:sp>
      <p:sp>
        <p:nvSpPr>
          <p:cNvPr id="10" name="Chevron 9"/>
          <p:cNvSpPr/>
          <p:nvPr/>
        </p:nvSpPr>
        <p:spPr>
          <a:xfrm>
            <a:off x="2505456" y="1700784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07792" y="1298448"/>
            <a:ext cx="1847088" cy="1115568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A89A"/>
                </a:solidFill>
                <a:latin typeface="Noto Sans CJK SC"/>
              </a:rPr>
              <a:t>Environment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6664" y="1783080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reset/observe/step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状态与哈希</a:t>
            </a:r>
          </a:p>
        </p:txBody>
      </p:sp>
      <p:sp>
        <p:nvSpPr>
          <p:cNvPr id="14" name="Chevron 13"/>
          <p:cNvSpPr/>
          <p:nvPr/>
        </p:nvSpPr>
        <p:spPr>
          <a:xfrm>
            <a:off x="4809744" y="1700784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212080" y="1298448"/>
            <a:ext cx="1847088" cy="1115568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2A93B"/>
                </a:solidFill>
                <a:latin typeface="Noto Sans CJK SC"/>
              </a:rPr>
              <a:t>Selector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1783080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统一ID响应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方法可插拔</a:t>
            </a:r>
          </a:p>
        </p:txBody>
      </p:sp>
      <p:sp>
        <p:nvSpPr>
          <p:cNvPr id="18" name="Chevron 17"/>
          <p:cNvSpPr/>
          <p:nvPr/>
        </p:nvSpPr>
        <p:spPr>
          <a:xfrm>
            <a:off x="7114032" y="1700784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16368" y="1298448"/>
            <a:ext cx="1847088" cy="1115568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53528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E35D6A"/>
                </a:solidFill>
                <a:latin typeface="Noto Sans CJK SC"/>
              </a:rPr>
              <a:t>Evaluator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783080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几何/语义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动作后评分</a:t>
            </a:r>
          </a:p>
        </p:txBody>
      </p:sp>
      <p:sp>
        <p:nvSpPr>
          <p:cNvPr id="22" name="Chevron 21"/>
          <p:cNvSpPr/>
          <p:nvPr/>
        </p:nvSpPr>
        <p:spPr>
          <a:xfrm>
            <a:off x="9418320" y="1700784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20656" y="1298448"/>
            <a:ext cx="1847088" cy="1115568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57816" y="1417319"/>
            <a:ext cx="1572768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83B5B"/>
                </a:solidFill>
                <a:latin typeface="Noto Sans CJK SC"/>
              </a:rPr>
              <a:t>Logger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39528" y="1783080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19" b="0">
                <a:solidFill>
                  <a:srgbClr val="52677D"/>
                </a:solidFill>
                <a:latin typeface="Noto Sans CJK SC"/>
              </a:rPr>
              <a:t>JSONL/CSV</a:t>
            </a:r>
            <a:br/>
            <a:r>
              <a:rPr sz="1019" b="0">
                <a:solidFill>
                  <a:srgbClr val="52677D"/>
                </a:solidFill>
                <a:latin typeface="Noto Sans CJK SC"/>
              </a:rPr>
              <a:t>重放与复现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2761488"/>
            <a:ext cx="5349240" cy="2944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2999232"/>
            <a:ext cx="23774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steps.jsonl：一行就是一次决策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474720"/>
            <a:ext cx="4709160" cy="1755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身份：experiment / method / scenario / step / request_id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输入：before + request + candidate_set + state_hash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动作：selector_response + candidate_id + fallback/error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结果：after + metrics + timing + termination_reason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50" b="0">
                <a:solidFill>
                  <a:srgbClr val="172B4D"/>
                </a:solidFill>
                <a:latin typeface="Noto Sans CJK SC"/>
              </a:rPr>
              <a:t>• 用途：复查数据泄漏、重算指标、恢复轨迹、比较方法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2761488"/>
            <a:ext cx="5303520" cy="2944368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2999232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FFFFFF"/>
                </a:solidFill>
                <a:latin typeface="Noto Sans CJK SC"/>
              </a:rPr>
              <a:t>阶段1A正式产出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10528" y="3529584"/>
            <a:ext cx="21031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10528" y="3529584"/>
            <a:ext cx="64008" cy="987552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93408" y="3639312"/>
            <a:ext cx="1828799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6A89A"/>
                </a:solidFill>
                <a:latin typeface="Noto Sans CJK SC"/>
              </a:rPr>
              <a:t>120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3408" y="4069080"/>
            <a:ext cx="182879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固定决策记录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87968" y="3529584"/>
            <a:ext cx="210312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3529584"/>
            <a:ext cx="64008" cy="9875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3639312"/>
            <a:ext cx="1828799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2A93B"/>
                </a:solidFill>
                <a:latin typeface="Noto Sans CJK SC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4069080"/>
            <a:ext cx="1828799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在线验收episode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754880"/>
            <a:ext cx="44805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30" b="0">
                <a:solidFill>
                  <a:srgbClr val="DDE8F2"/>
                </a:solidFill>
                <a:latin typeface="Noto Sans CJK SC"/>
              </a:rPr>
              <a:t>Random / Geometry-Greedy / Handcrafted-Rule / Candidate Oracle</a:t>
            </a:r>
            <a:br/>
            <a:r>
              <a:rPr sz="1230" b="0">
                <a:solidFill>
                  <a:srgbClr val="DDE8F2"/>
                </a:solidFill>
                <a:latin typeface="Noto Sans CJK SC"/>
              </a:rPr>
              <a:t>同一CSET配对比较；Oracle命中100%；两次运行核心哈希一致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阶段1B：EMS-style候选生成、在线规划与Top-K冻结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8/10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1261872"/>
            <a:ext cx="1847088" cy="6858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53896"/>
            <a:ext cx="17007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30" b="1">
                <a:solidFill>
                  <a:srgbClr val="2F6BFF"/>
                </a:solidFill>
                <a:latin typeface="Noto Sans CJK SC"/>
              </a:rPr>
              <a:t>极值点/支撑层</a:t>
            </a:r>
          </a:p>
        </p:txBody>
      </p:sp>
      <p:sp>
        <p:nvSpPr>
          <p:cNvPr id="9" name="Chevron 8"/>
          <p:cNvSpPr/>
          <p:nvPr/>
        </p:nvSpPr>
        <p:spPr>
          <a:xfrm>
            <a:off x="2505456" y="1444752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261872"/>
            <a:ext cx="1847088" cy="685800"/>
          </a:xfrm>
          <a:prstGeom prst="roundRect">
            <a:avLst>
              <a:gd name="adj" fmla="val 8000"/>
            </a:avLst>
          </a:prstGeom>
          <a:solidFill>
            <a:srgbClr val="E7F7F4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453896"/>
            <a:ext cx="17007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30" b="1">
                <a:solidFill>
                  <a:srgbClr val="16A89A"/>
                </a:solidFill>
                <a:latin typeface="Noto Sans CJK SC"/>
              </a:rPr>
              <a:t>0°/90°姿态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9744" y="1444752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12080" y="1261872"/>
            <a:ext cx="1847088" cy="685800"/>
          </a:xfrm>
          <a:prstGeom prst="roundRect">
            <a:avLst>
              <a:gd name="adj" fmla="val 8000"/>
            </a:avLst>
          </a:prstGeom>
          <a:solidFill>
            <a:srgbClr val="FDECEE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2" y="1453896"/>
            <a:ext cx="17007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30" b="1">
                <a:solidFill>
                  <a:srgbClr val="E35D6A"/>
                </a:solidFill>
                <a:latin typeface="Noto Sans CJK SC"/>
              </a:rPr>
              <a:t>硬约束过滤</a:t>
            </a:r>
          </a:p>
        </p:txBody>
      </p:sp>
      <p:sp>
        <p:nvSpPr>
          <p:cNvPr id="15" name="Chevron 14"/>
          <p:cNvSpPr/>
          <p:nvPr/>
        </p:nvSpPr>
        <p:spPr>
          <a:xfrm>
            <a:off x="7114032" y="1444752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16368" y="1261872"/>
            <a:ext cx="1847088" cy="685800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453896"/>
            <a:ext cx="17007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30" b="1">
                <a:solidFill>
                  <a:srgbClr val="F2A93B"/>
                </a:solidFill>
                <a:latin typeface="Noto Sans CJK SC"/>
              </a:rPr>
              <a:t>几何评分</a:t>
            </a:r>
          </a:p>
        </p:txBody>
      </p:sp>
      <p:sp>
        <p:nvSpPr>
          <p:cNvPr id="18" name="Chevron 17"/>
          <p:cNvSpPr/>
          <p:nvPr/>
        </p:nvSpPr>
        <p:spPr>
          <a:xfrm>
            <a:off x="9418320" y="1444752"/>
            <a:ext cx="320040" cy="274320"/>
          </a:xfrm>
          <a:prstGeom prst="chevron">
            <a:avLst/>
          </a:prstGeom>
          <a:solidFill>
            <a:srgbClr val="52677D"/>
          </a:solidFill>
          <a:ln>
            <a:solidFill>
              <a:srgbClr val="526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820656" y="1261872"/>
            <a:ext cx="1847088" cy="685800"/>
          </a:xfrm>
          <a:prstGeom prst="roundRect">
            <a:avLst>
              <a:gd name="adj" fmla="val 8000"/>
            </a:avLst>
          </a:prstGeom>
          <a:solidFill>
            <a:srgbClr val="E9EEF3"/>
          </a:solidFill>
          <a:ln>
            <a:solidFill>
              <a:srgbClr val="183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93808" y="1453896"/>
            <a:ext cx="1700784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30" b="1">
                <a:solidFill>
                  <a:srgbClr val="183B5B"/>
                </a:solidFill>
                <a:latin typeface="Noto Sans CJK SC"/>
              </a:rPr>
              <a:t>多样性Top-K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267712"/>
            <a:ext cx="3977639" cy="3456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2505456"/>
            <a:ext cx="24688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物理硬约束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2944368"/>
            <a:ext cx="3401568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40" b="0">
                <a:solidFill>
                  <a:srgbClr val="172B4D"/>
                </a:solidFill>
                <a:latin typeface="Noto Sans CJK SC"/>
              </a:rPr>
              <a:t>• 容器边界与最大高度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40" b="0">
                <a:solidFill>
                  <a:srgbClr val="172B4D"/>
                </a:solidFill>
                <a:latin typeface="Noto Sans CJK SC"/>
              </a:rPr>
              <a:t>• 三维AABB不重叠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40" b="0">
                <a:solidFill>
                  <a:srgbClr val="172B4D"/>
                </a:solidFill>
                <a:latin typeface="Noto Sans CJK SC"/>
              </a:rPr>
              <a:t>• 支撑面积比 ≥ 0.70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40" b="0">
                <a:solidFill>
                  <a:srgbClr val="172B4D"/>
                </a:solidFill>
                <a:latin typeface="Noto Sans CJK SC"/>
              </a:rPr>
              <a:t>• 重心投影在有效支撑区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240" b="0">
                <a:solidFill>
                  <a:srgbClr val="172B4D"/>
                </a:solidFill>
                <a:latin typeface="Noto Sans CJK SC"/>
              </a:rPr>
              <a:t>• 不可堆叠与传播承重限制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919472"/>
            <a:ext cx="33649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E35D6A"/>
                </a:solidFill>
                <a:latin typeface="Noto Sans CJK SC"/>
              </a:rPr>
              <a:t>语义偏好不进入硬过滤，保留给VLM选择。</a:t>
            </a:r>
          </a:p>
        </p:txBody>
      </p:sp>
      <p:pic>
        <p:nvPicPr>
          <p:cNvPr id="25" name="Picture 24" descr="topk_sensitivity.png"/>
          <p:cNvPicPr>
            <a:picLocks noChangeAspect="1"/>
          </p:cNvPicPr>
          <p:nvPr/>
        </p:nvPicPr>
        <p:blipFill>
          <a:blip r:embed="rId2"/>
          <a:srcRect l="11376" r="11376"/>
          <a:stretch>
            <a:fillRect/>
          </a:stretch>
        </p:blipFill>
        <p:spPr>
          <a:xfrm>
            <a:off x="4846320" y="2267712"/>
            <a:ext cx="6675120" cy="3456432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846320" y="2267712"/>
            <a:ext cx="6675120" cy="3456432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8928" y="5404104"/>
            <a:ext cx="60807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02A43"/>
                </a:solidFill>
                <a:latin typeface="Noto Sans CJK SC"/>
              </a:rPr>
              <a:t>仅在validation上比较K=4/8/16/32 → 冻结K=16，后续1C沿用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阶段1B实验结果：几何方法已能被稳定地区分和复现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9/10</a:t>
            </a:r>
          </a:p>
        </p:txBody>
      </p:sp>
      <p:pic>
        <p:nvPicPr>
          <p:cNvPr id="7" name="Picture 6" descr="geometry_comparison.png"/>
          <p:cNvPicPr>
            <a:picLocks noChangeAspect="1"/>
          </p:cNvPicPr>
          <p:nvPr/>
        </p:nvPicPr>
        <p:blipFill>
          <a:blip r:embed="rId2"/>
          <a:srcRect l="14406" r="14406"/>
          <a:stretch>
            <a:fillRect/>
          </a:stretch>
        </p:blipFill>
        <p:spPr>
          <a:xfrm>
            <a:off x="621792" y="1243584"/>
            <a:ext cx="7150608" cy="30906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243584"/>
            <a:ext cx="7150608" cy="3090672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28431" y="1298448"/>
            <a:ext cx="1600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8431" y="1298448"/>
            <a:ext cx="64008" cy="987552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1" y="1408176"/>
            <a:ext cx="1325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F6BFF"/>
                </a:solidFill>
                <a:latin typeface="Noto Sans CJK SC"/>
              </a:rPr>
              <a:t>100/100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1" y="1837943"/>
            <a:ext cx="13258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Geometry完成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02368" y="1298448"/>
            <a:ext cx="1600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02368" y="1298448"/>
            <a:ext cx="64008" cy="987552"/>
          </a:xfrm>
          <a:prstGeom prst="rect">
            <a:avLst/>
          </a:prstGeom>
          <a:solidFill>
            <a:srgbClr val="16A89A"/>
          </a:solidFill>
          <a:ln>
            <a:solidFill>
              <a:srgbClr val="16A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85248" y="1408176"/>
            <a:ext cx="1325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16A89A"/>
                </a:solidFill>
                <a:latin typeface="Noto Sans CJK SC"/>
              </a:rPr>
              <a:t>57/100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85248" y="1837943"/>
            <a:ext cx="13258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Lowest完成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2487168"/>
            <a:ext cx="1600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2487168"/>
            <a:ext cx="64008" cy="98755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1" y="2596896"/>
            <a:ext cx="1325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F2A93B"/>
                </a:solidFill>
                <a:latin typeface="Noto Sans CJK SC"/>
              </a:rPr>
              <a:t>50/100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1" y="3026664"/>
            <a:ext cx="13258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Pareto完成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02368" y="2487168"/>
            <a:ext cx="16002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02368" y="2487168"/>
            <a:ext cx="64008" cy="987552"/>
          </a:xfrm>
          <a:prstGeom prst="rect">
            <a:avLst/>
          </a:prstGeom>
          <a:solidFill>
            <a:srgbClr val="E35D6A"/>
          </a:solidFill>
          <a:ln>
            <a:solidFill>
              <a:srgbClr val="E35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85248" y="2596896"/>
            <a:ext cx="132588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E35D6A"/>
                </a:solidFill>
                <a:latin typeface="Noto Sans CJK SC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85248" y="3026664"/>
            <a:ext cx="132588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2677D"/>
                </a:solidFill>
                <a:latin typeface="Noto Sans CJK SC"/>
              </a:rPr>
              <a:t>internal error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" y="4590288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782312"/>
            <a:ext cx="1755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8FD9D1"/>
                </a:solidFill>
                <a:latin typeface="Noto Sans CJK SC"/>
              </a:rPr>
              <a:t>1440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193792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" b="0">
                <a:solidFill>
                  <a:srgbClr val="DDE8F2"/>
                </a:solidFill>
                <a:latin typeface="Noto Sans CJK SC"/>
              </a:rPr>
              <a:t>固定决策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782312"/>
            <a:ext cx="1755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8FD9D1"/>
                </a:solidFill>
                <a:latin typeface="Noto Sans CJK SC"/>
              </a:rPr>
              <a:t>300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193792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" b="0">
                <a:solidFill>
                  <a:srgbClr val="DDE8F2"/>
                </a:solidFill>
                <a:latin typeface="Noto Sans CJK SC"/>
              </a:rPr>
              <a:t>在线episode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4782312"/>
            <a:ext cx="1755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8FD9D1"/>
                </a:solidFill>
                <a:latin typeface="Noto Sans CJK SC"/>
              </a:rPr>
              <a:t>5124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5193792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" b="0">
                <a:solidFill>
                  <a:srgbClr val="DDE8F2"/>
                </a:solidFill>
                <a:latin typeface="Noto Sans CJK SC"/>
              </a:rPr>
              <a:t>缓存候选复核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6912" y="4782312"/>
            <a:ext cx="1755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8FD9D1"/>
                </a:solidFill>
                <a:latin typeface="Noto Sans CJK SC"/>
              </a:rPr>
              <a:t>55951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5193792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" b="0">
                <a:solidFill>
                  <a:srgbClr val="DDE8F2"/>
                </a:solidFill>
                <a:latin typeface="Noto Sans CJK SC"/>
              </a:rPr>
              <a:t>在线Top-K复核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8" y="4782312"/>
            <a:ext cx="175564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8FD9D1"/>
                </a:solidFill>
                <a:latin typeface="Noto Sans CJK SC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36608" y="5193792"/>
            <a:ext cx="1755648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40" b="0">
                <a:solidFill>
                  <a:srgbClr val="DDE8F2"/>
                </a:solidFill>
                <a:latin typeface="Noto Sans CJK SC"/>
              </a:rPr>
              <a:t>物理违规/泄漏/fallback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916168"/>
            <a:ext cx="1069848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20" b="1">
                <a:solidFill>
                  <a:srgbClr val="E35D6A"/>
                </a:solidFill>
                <a:latin typeface="Noto Sans CJK SC"/>
              </a:rPr>
              <a:t>解释边界：Geometry-Greedy的100%完成率来自当前筛选后的最小数据集，不能外推为任意工业订单成功率。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02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Noto Sans CJK SC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" y="246888"/>
            <a:ext cx="1037844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02A43"/>
                </a:solidFill>
                <a:latin typeface="Noto Sans CJK SC"/>
              </a:rPr>
              <a:t>产出动画怎么读，以及它如何服务下一阶段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24128"/>
            <a:ext cx="10972800" cy="228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65392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2677D"/>
                </a:solidFill>
                <a:latin typeface="Noto Sans CJK SC"/>
              </a:rPr>
              <a:t>Semantic Pallet Planner · 数据集V0.1 · 阶段1A—1B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59436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1">
                <a:solidFill>
                  <a:srgbClr val="52677D"/>
                </a:solidFill>
                <a:latin typeface="Noto Sans CJK SC"/>
              </a:rPr>
              <a:t>10/10</a:t>
            </a:r>
          </a:p>
        </p:txBody>
      </p:sp>
      <p:pic>
        <p:nvPicPr>
          <p:cNvPr id="7" name="Picture 6" descr="animation.gif"/>
          <p:cNvPicPr>
            <a:picLocks noChangeAspect="1"/>
          </p:cNvPicPr>
          <p:nvPr/>
        </p:nvPicPr>
        <p:blipFill>
          <a:blip r:embed="rId2"/>
          <a:srcRect l="943" r="943"/>
          <a:stretch>
            <a:fillRect/>
          </a:stretch>
        </p:blipFill>
        <p:spPr>
          <a:xfrm>
            <a:off x="621792" y="1280160"/>
            <a:ext cx="6400800" cy="398678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1792" y="1280160"/>
            <a:ext cx="6400800" cy="3986784"/>
          </a:xfrm>
          <a:prstGeom prst="rect">
            <a:avLst/>
          </a:prstGeom>
          <a:noFill/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280160"/>
            <a:ext cx="4297680" cy="2130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25512" y="1508760"/>
            <a:ext cx="3566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102A43"/>
                </a:solidFill>
                <a:latin typeface="Noto Sans CJK SC"/>
              </a:rPr>
              <a:t>每一步动画表达什么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5512" y="1920240"/>
            <a:ext cx="3611880" cy="1143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左：当前取料箱及尺寸/重量/属性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中：动作前托盘状态与选中位姿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右：Top-K候选，C01…CK对应JSON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172B4D"/>
                </a:solidFill>
                <a:latin typeface="Noto Sans CJK SC"/>
              </a:rPr>
              <a:t>• before → selected → 下一步；末尾为最终布局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9480" y="3639312"/>
            <a:ext cx="4297680" cy="1627632"/>
          </a:xfrm>
          <a:prstGeom prst="roundRect">
            <a:avLst>
              <a:gd name="adj" fmla="val 8000"/>
            </a:avLst>
          </a:prstGeom>
          <a:solidFill>
            <a:srgbClr val="FFF4DE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5512" y="3840480"/>
            <a:ext cx="35661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F2A93B"/>
                </a:solidFill>
                <a:latin typeface="Noto Sans CJK SC"/>
              </a:rPr>
              <a:t>使用边界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5512" y="4224528"/>
            <a:ext cx="361188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10" b="0">
                <a:solidFill>
                  <a:srgbClr val="172B4D"/>
                </a:solidFill>
                <a:latin typeface="Noto Sans CJK SC"/>
              </a:rPr>
              <a:t>这是确定性3D规划可视化，用来验证决策链和展示布局；它不是Gazebo物理仿真，也不代表机械臂执行成功。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5486400"/>
            <a:ext cx="10972800" cy="694944"/>
          </a:xfrm>
          <a:prstGeom prst="roundRect">
            <a:avLst>
              <a:gd name="adj" fmla="val 8000"/>
            </a:avLst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650992"/>
            <a:ext cx="12801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8FD9D1"/>
                </a:solidFill>
                <a:latin typeface="Noto Sans CJK SC"/>
              </a:rPr>
              <a:t>下一阶段 1C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5632704"/>
            <a:ext cx="9052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SC"/>
              </a:rPr>
              <a:t>固定Top-K=16 → 接入VLM Selector → 只返回candidate_id → 与Geometry/Rule/Oracle配对比较 → 为ReMe积累决策日志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6236208"/>
            <a:ext cx="10789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2677D"/>
                </a:solidFill>
                <a:latin typeface="Noto Sans CJK SC"/>
              </a:rPr>
              <a:t>放映提示：左侧GIF在PowerPoint放映模式下自动播放；编辑模式通常只显示首帧。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