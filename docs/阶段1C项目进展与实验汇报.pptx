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89A"/>
          </a:solidFill>
          <a:ln>
            <a:solidFill>
              <a:srgbClr val="16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6400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>
                <a:solidFill>
                  <a:srgbClr val="8FD9D1"/>
                </a:solidFill>
                <a:latin typeface="Noto Sans CJK SC"/>
              </a:rPr>
              <a:t>硕士课题阶段汇报 · 2026.09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7589520" cy="12984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2900" b="1">
                <a:solidFill>
                  <a:srgbClr val="FFFFFF"/>
                </a:solidFill>
                <a:latin typeface="Noto Sans CJK SC"/>
              </a:rPr>
              <a:t>阶段1C：VLM语义候选决策</a:t>
            </a:r>
            <a:br/>
            <a:r>
              <a:rPr sz="2900" b="1">
                <a:solidFill>
                  <a:srgbClr val="FFFFFF"/>
                </a:solidFill>
                <a:latin typeface="Noto Sans CJK SC"/>
              </a:rPr>
              <a:t>项目进展与正式实验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70408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0">
                <a:solidFill>
                  <a:srgbClr val="C9D8E8"/>
                </a:solidFill>
                <a:latin typeface="Noto Sans CJK SC"/>
              </a:rPr>
              <a:t>数据逻辑 · 几何候选算法 · DeepSeek交互 · 全量实验结果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713232"/>
            <a:ext cx="3456432" cy="5138928"/>
          </a:xfrm>
          <a:prstGeom prst="roundRect">
            <a:avLst>
              <a:gd name="adj" fmla="val 8000"/>
            </a:avLst>
          </a:prstGeom>
          <a:solidFill>
            <a:srgbClr val="183B5B"/>
          </a:solidFill>
          <a:ln>
            <a:solidFill>
              <a:srgbClr val="31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987552"/>
            <a:ext cx="28803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800" b="1">
                <a:solidFill>
                  <a:srgbClr val="FFFFFF"/>
                </a:solidFill>
                <a:latin typeface="Noto Sans CJK SC"/>
              </a:rPr>
              <a:t>当前完成状态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02752" y="1554480"/>
            <a:ext cx="603504" cy="603504"/>
          </a:xfrm>
          <a:prstGeom prst="roundRect">
            <a:avLst>
              <a:gd name="adj" fmla="val 8000"/>
            </a:avLst>
          </a:prstGeom>
          <a:solidFill>
            <a:srgbClr val="16A89A"/>
          </a:solidFill>
          <a:ln>
            <a:solidFill>
              <a:srgbClr val="16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636776"/>
            <a:ext cx="60350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latin typeface="Noto Sans CJK SC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70848" y="1545336"/>
            <a:ext cx="1051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FFFFFF"/>
                </a:solidFill>
                <a:latin typeface="Noto Sans CJK SC"/>
              </a:rPr>
              <a:t>阶段0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0848" y="1828800"/>
            <a:ext cx="1783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19" b="0">
                <a:solidFill>
                  <a:srgbClr val="C9D8E8"/>
                </a:solidFill>
                <a:latin typeface="Noto Sans CJK SC"/>
              </a:rPr>
              <a:t>数据与接口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1591056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919" b="1">
                <a:solidFill>
                  <a:srgbClr val="8FD9D1"/>
                </a:solidFill>
                <a:latin typeface="Noto Sans CJK SC"/>
              </a:rPr>
              <a:t>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2459736"/>
            <a:ext cx="603504" cy="603504"/>
          </a:xfrm>
          <a:prstGeom prst="roundRect">
            <a:avLst>
              <a:gd name="adj" fmla="val 8000"/>
            </a:avLst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2542032"/>
            <a:ext cx="60350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latin typeface="Noto Sans CJK SC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2450592"/>
            <a:ext cx="1051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FFFFFF"/>
                </a:solidFill>
                <a:latin typeface="Noto Sans CJK SC"/>
              </a:rPr>
              <a:t>阶段1A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2734056"/>
            <a:ext cx="1783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19" b="0">
                <a:solidFill>
                  <a:srgbClr val="C9D8E8"/>
                </a:solidFill>
                <a:latin typeface="Noto Sans CJK SC"/>
              </a:rPr>
              <a:t>统一实验平台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2496312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919" b="1">
                <a:solidFill>
                  <a:srgbClr val="8FD9D1"/>
                </a:solidFill>
                <a:latin typeface="Noto Sans CJK SC"/>
              </a:rPr>
              <a:t>PASS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02752" y="3364991"/>
            <a:ext cx="603504" cy="603504"/>
          </a:xfrm>
          <a:prstGeom prst="roundRect">
            <a:avLst>
              <a:gd name="adj" fmla="val 8000"/>
            </a:avLst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3447287"/>
            <a:ext cx="60350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latin typeface="Noto Sans CJK SC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3355848"/>
            <a:ext cx="1051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FFFFFF"/>
                </a:solidFill>
                <a:latin typeface="Noto Sans CJK SC"/>
              </a:rPr>
              <a:t>阶段1B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3639311"/>
            <a:ext cx="1783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19" b="0">
                <a:solidFill>
                  <a:srgbClr val="C9D8E8"/>
                </a:solidFill>
                <a:latin typeface="Noto Sans CJK SC"/>
              </a:rPr>
              <a:t>几何规划与动画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3401568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919" b="1">
                <a:solidFill>
                  <a:srgbClr val="8FD9D1"/>
                </a:solidFill>
                <a:latin typeface="Noto Sans CJK SC"/>
              </a:rPr>
              <a:t>PASS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02752" y="4270248"/>
            <a:ext cx="603504" cy="603504"/>
          </a:xfrm>
          <a:prstGeom prst="roundRect">
            <a:avLst>
              <a:gd name="adj" fmla="val 8000"/>
            </a:avLst>
          </a:prstGeom>
          <a:solidFill>
            <a:srgbClr val="E35D6A"/>
          </a:solidFill>
          <a:ln>
            <a:solidFill>
              <a:srgbClr val="E3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4352544"/>
            <a:ext cx="60350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latin typeface="Noto Sans CJK SC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0848" y="4261104"/>
            <a:ext cx="1051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FFFFFF"/>
                </a:solidFill>
                <a:latin typeface="Noto Sans CJK SC"/>
              </a:rPr>
              <a:t>阶段1C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0848" y="4544568"/>
            <a:ext cx="1783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19" b="0">
                <a:solidFill>
                  <a:srgbClr val="C9D8E8"/>
                </a:solidFill>
                <a:latin typeface="Noto Sans CJK SC"/>
              </a:rPr>
              <a:t>VLM固定候选实验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4306824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919" b="1">
                <a:solidFill>
                  <a:srgbClr val="8FD9D1"/>
                </a:solidFill>
                <a:latin typeface="Noto Sans CJK SC"/>
              </a:rPr>
              <a:t>AUTO PASS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303520"/>
            <a:ext cx="2788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>
                <a:solidFill>
                  <a:srgbClr val="8FD9D1"/>
                </a:solidFill>
                <a:latin typeface="Noto Sans CJK SC"/>
              </a:rPr>
              <a:t>下一步：阶段1D在线闭环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989320"/>
            <a:ext cx="72237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FFFFFF"/>
                </a:solidFill>
                <a:latin typeface="Noto Sans CJK SC"/>
              </a:rPr>
              <a:t>确定性物理安全边界 + VLM语义选择 + 可审计实验链路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10528"/>
            <a:ext cx="5943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1">
                <a:solidFill>
                  <a:srgbClr val="AFC2D4"/>
                </a:solidFill>
                <a:latin typeface="Noto Sans CJK SC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F6BFF"/>
                </a:solidFill>
                <a:latin typeface="Noto Sans CJK SC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104698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1">
                <a:solidFill>
                  <a:srgbClr val="102A43"/>
                </a:solidFill>
                <a:latin typeface="Noto Sans CJK SC"/>
              </a:rPr>
              <a:t>项目进展全景：工程链路已跑通，研究结论仍需稳健性验证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05840"/>
            <a:ext cx="10972800" cy="22860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5624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50" b="0">
                <a:solidFill>
                  <a:srgbClr val="52677D"/>
                </a:solidFill>
                <a:latin typeface="Noto Sans CJK SC"/>
              </a:rPr>
              <a:t>Semantic Pallet Planner · 阶段1C · DeepSeek Flash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1">
                <a:solidFill>
                  <a:srgbClr val="52677D"/>
                </a:solidFill>
                <a:latin typeface="Noto Sans CJK SC"/>
              </a:rPr>
              <a:t>2/10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53312"/>
            <a:ext cx="2359152" cy="1225296"/>
          </a:xfrm>
          <a:prstGeom prst="roundRect">
            <a:avLst>
              <a:gd name="adj" fmla="val 8000"/>
            </a:avLst>
          </a:prstGeom>
          <a:solidFill>
            <a:srgbClr val="E7F7F4"/>
          </a:solidFill>
          <a:ln>
            <a:solidFill>
              <a:srgbClr val="16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472184"/>
            <a:ext cx="213969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450" b="1">
                <a:solidFill>
                  <a:srgbClr val="16A89A"/>
                </a:solidFill>
                <a:latin typeface="Noto Sans CJK SC"/>
              </a:rPr>
              <a:t>阶段0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10512"/>
            <a:ext cx="217627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30" b="0">
                <a:solidFill>
                  <a:srgbClr val="52677D"/>
                </a:solidFill>
                <a:latin typeface="Noto Sans CJK SC"/>
              </a:rPr>
              <a:t>MVD-v0.1</a:t>
            </a:r>
            <a:br/>
            <a:r>
              <a:rPr sz="1030" b="0">
                <a:solidFill>
                  <a:srgbClr val="52677D"/>
                </a:solidFill>
                <a:latin typeface="Noto Sans CJK SC"/>
              </a:rPr>
              <a:t>Schema / 候选 / Oracle</a:t>
            </a:r>
          </a:p>
        </p:txBody>
      </p:sp>
      <p:sp>
        <p:nvSpPr>
          <p:cNvPr id="10" name="Chevron 9"/>
          <p:cNvSpPr/>
          <p:nvPr/>
        </p:nvSpPr>
        <p:spPr>
          <a:xfrm>
            <a:off x="3108960" y="1810512"/>
            <a:ext cx="310896" cy="274320"/>
          </a:xfrm>
          <a:prstGeom prst="chevron">
            <a:avLst/>
          </a:prstGeom>
          <a:solidFill>
            <a:srgbClr val="52677D"/>
          </a:solidFill>
          <a:ln>
            <a:solidFill>
              <a:srgbClr val="526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47287" y="1353312"/>
            <a:ext cx="2359152" cy="1225296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7015" y="1472184"/>
            <a:ext cx="213969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450" b="1">
                <a:solidFill>
                  <a:srgbClr val="2F6BFF"/>
                </a:solidFill>
                <a:latin typeface="Noto Sans CJK SC"/>
              </a:rPr>
              <a:t>阶段1A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7" y="1810512"/>
            <a:ext cx="217627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30" b="0">
                <a:solidFill>
                  <a:srgbClr val="52677D"/>
                </a:solidFill>
                <a:latin typeface="Noto Sans CJK SC"/>
              </a:rPr>
              <a:t>Repository / Runner</a:t>
            </a:r>
            <a:br/>
            <a:r>
              <a:rPr sz="1030" b="0">
                <a:solidFill>
                  <a:srgbClr val="52677D"/>
                </a:solidFill>
                <a:latin typeface="Noto Sans CJK SC"/>
              </a:rPr>
              <a:t>协议 / 日志 / 回放</a:t>
            </a:r>
          </a:p>
        </p:txBody>
      </p:sp>
      <p:sp>
        <p:nvSpPr>
          <p:cNvPr id="14" name="Chevron 13"/>
          <p:cNvSpPr/>
          <p:nvPr/>
        </p:nvSpPr>
        <p:spPr>
          <a:xfrm>
            <a:off x="5897879" y="1810512"/>
            <a:ext cx="310896" cy="274320"/>
          </a:xfrm>
          <a:prstGeom prst="chevron">
            <a:avLst/>
          </a:prstGeom>
          <a:solidFill>
            <a:srgbClr val="52677D"/>
          </a:solidFill>
          <a:ln>
            <a:solidFill>
              <a:srgbClr val="526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36207" y="1353312"/>
            <a:ext cx="2359152" cy="1225296"/>
          </a:xfrm>
          <a:prstGeom prst="roundRect">
            <a:avLst>
              <a:gd name="adj" fmla="val 8000"/>
            </a:avLst>
          </a:prstGeom>
          <a:solidFill>
            <a:srgbClr val="FFF4DE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472184"/>
            <a:ext cx="213969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450" b="1">
                <a:solidFill>
                  <a:srgbClr val="F2A93B"/>
                </a:solidFill>
                <a:latin typeface="Noto Sans CJK SC"/>
              </a:rPr>
              <a:t>阶段1B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7" y="1810512"/>
            <a:ext cx="217627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30" b="0">
                <a:solidFill>
                  <a:srgbClr val="52677D"/>
                </a:solidFill>
                <a:latin typeface="Noto Sans CJK SC"/>
              </a:rPr>
              <a:t>EMS-style候选</a:t>
            </a:r>
            <a:br/>
            <a:r>
              <a:rPr sz="1030" b="0">
                <a:solidFill>
                  <a:srgbClr val="52677D"/>
                </a:solidFill>
                <a:latin typeface="Noto Sans CJK SC"/>
              </a:rPr>
              <a:t>Top-K / 在线episode</a:t>
            </a:r>
          </a:p>
        </p:txBody>
      </p:sp>
      <p:sp>
        <p:nvSpPr>
          <p:cNvPr id="18" name="Chevron 17"/>
          <p:cNvSpPr/>
          <p:nvPr/>
        </p:nvSpPr>
        <p:spPr>
          <a:xfrm>
            <a:off x="8686800" y="1810512"/>
            <a:ext cx="310896" cy="274320"/>
          </a:xfrm>
          <a:prstGeom prst="chevron">
            <a:avLst/>
          </a:prstGeom>
          <a:solidFill>
            <a:srgbClr val="52677D"/>
          </a:solidFill>
          <a:ln>
            <a:solidFill>
              <a:srgbClr val="526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25128" y="1353312"/>
            <a:ext cx="2359152" cy="1225296"/>
          </a:xfrm>
          <a:prstGeom prst="roundRect">
            <a:avLst>
              <a:gd name="adj" fmla="val 8000"/>
            </a:avLst>
          </a:prstGeom>
          <a:solidFill>
            <a:srgbClr val="FDECEE"/>
          </a:solidFill>
          <a:ln>
            <a:solidFill>
              <a:srgbClr val="E3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4855" y="1472184"/>
            <a:ext cx="213969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450" b="1">
                <a:solidFill>
                  <a:srgbClr val="E35D6A"/>
                </a:solidFill>
                <a:latin typeface="Noto Sans CJK SC"/>
              </a:rPr>
              <a:t>阶段1C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6567" y="1810512"/>
            <a:ext cx="217627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30" b="0">
                <a:solidFill>
                  <a:srgbClr val="52677D"/>
                </a:solidFill>
                <a:latin typeface="Noto Sans CJK SC"/>
              </a:rPr>
              <a:t>DeepSeek Text/Visual</a:t>
            </a:r>
            <a:br/>
            <a:r>
              <a:rPr sz="1030" b="0">
                <a:solidFill>
                  <a:srgbClr val="52677D"/>
                </a:solidFill>
                <a:latin typeface="Noto Sans CJK SC"/>
              </a:rPr>
              <a:t>360题正式矩阵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944368"/>
            <a:ext cx="246888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2944368"/>
            <a:ext cx="64008" cy="932688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3" y="3035808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>
                <a:solidFill>
                  <a:srgbClr val="2F6BFF"/>
                </a:solidFill>
                <a:latin typeface="Noto Sans CJK SC"/>
              </a:rPr>
              <a:t>360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3" y="3465576"/>
            <a:ext cx="22128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>
                <a:solidFill>
                  <a:srgbClr val="52677D"/>
                </a:solidFill>
                <a:latin typeface="Noto Sans CJK SC"/>
              </a:rPr>
              <a:t>固定 Decision Case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19272" y="2944368"/>
            <a:ext cx="246888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19272" y="2944368"/>
            <a:ext cx="64008" cy="932688"/>
          </a:xfrm>
          <a:prstGeom prst="rect">
            <a:avLst/>
          </a:prstGeom>
          <a:solidFill>
            <a:srgbClr val="16A89A"/>
          </a:solidFill>
          <a:ln>
            <a:solidFill>
              <a:srgbClr val="16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93008" y="3035808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>
                <a:solidFill>
                  <a:srgbClr val="16A89A"/>
                </a:solidFill>
                <a:latin typeface="Noto Sans CJK SC"/>
              </a:rPr>
              <a:t>2160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93008" y="3465576"/>
            <a:ext cx="22128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>
                <a:solidFill>
                  <a:srgbClr val="52677D"/>
                </a:solidFill>
                <a:latin typeface="Noto Sans CJK SC"/>
              </a:rPr>
              <a:t>六方法决策记录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80176" y="2944368"/>
            <a:ext cx="246888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80176" y="2944368"/>
            <a:ext cx="64008" cy="932688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53912" y="3035808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>
                <a:solidFill>
                  <a:srgbClr val="F2A93B"/>
                </a:solidFill>
                <a:latin typeface="Noto Sans CJK SC"/>
              </a:rPr>
              <a:t>720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3912" y="3465576"/>
            <a:ext cx="22128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>
                <a:solidFill>
                  <a:srgbClr val="52677D"/>
                </a:solidFill>
                <a:latin typeface="Noto Sans CJK SC"/>
              </a:rPr>
              <a:t>真实 VLM 输入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41080" y="2944368"/>
            <a:ext cx="246888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641080" y="2944368"/>
            <a:ext cx="64008" cy="932688"/>
          </a:xfrm>
          <a:prstGeom prst="rect">
            <a:avLst/>
          </a:prstGeom>
          <a:solidFill>
            <a:srgbClr val="E35D6A"/>
          </a:solidFill>
          <a:ln>
            <a:solidFill>
              <a:srgbClr val="E3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14815" y="3035808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>
                <a:solidFill>
                  <a:srgbClr val="E35D6A"/>
                </a:solidFill>
                <a:latin typeface="Noto Sans CJK SC"/>
              </a:rP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14815" y="3465576"/>
            <a:ext cx="22128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>
                <a:solidFill>
                  <a:srgbClr val="52677D"/>
                </a:solidFill>
                <a:latin typeface="Noto Sans CJK SC"/>
              </a:rPr>
              <a:t>阶段1C自动验收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187952"/>
            <a:ext cx="6720840" cy="15179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4407408"/>
            <a:ext cx="2926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50" b="1">
                <a:solidFill>
                  <a:srgbClr val="102A43"/>
                </a:solidFill>
                <a:latin typeface="Noto Sans CJK SC"/>
              </a:rPr>
              <a:t>已完成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" y="4754880"/>
            <a:ext cx="6144768" cy="7315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172B4D"/>
                </a:solidFill>
                <a:latin typeface="Noto Sans CJK SC"/>
              </a:rPr>
              <a:t>• 全量六方法公平比较；候选映射、缓存、回退和成本指标完整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172B4D"/>
                </a:solidFill>
                <a:latin typeface="Noto Sans CJK SC"/>
              </a:rPr>
              <a:t>• 独立物理回放、模型输入泄漏扫描、源码/数据/结果哈希均留档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35240" y="4187952"/>
            <a:ext cx="3886200" cy="1517904"/>
          </a:xfrm>
          <a:prstGeom prst="roundRect">
            <a:avLst>
              <a:gd name="adj" fmla="val 8000"/>
            </a:avLst>
          </a:prstGeom>
          <a:solidFill>
            <a:srgbClr val="FFF4DE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82127" y="4407408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50" b="1">
                <a:solidFill>
                  <a:srgbClr val="F2A93B"/>
                </a:solidFill>
                <a:latin typeface="Noto Sans CJK SC"/>
              </a:rPr>
              <a:t>尚需完成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2127" y="4754880"/>
            <a:ext cx="3246120" cy="75895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20" b="0">
                <a:solidFill>
                  <a:srgbClr val="172B4D"/>
                </a:solidFill>
                <a:latin typeface="Noto Sans CJK SC"/>
              </a:rPr>
              <a:t>• 研究者人工签认与位置稳健性审计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20" b="0">
                <a:solidFill>
                  <a:srgbClr val="172B4D"/>
                </a:solidFill>
                <a:latin typeface="Noto Sans CJK SC"/>
              </a:rPr>
              <a:t>• 重复调用、在线VLM episode、ReMe记忆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F6BFF"/>
                </a:solidFill>
                <a:latin typeface="Noto Sans CJK SC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104698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1">
                <a:solidFill>
                  <a:srgbClr val="102A43"/>
                </a:solidFill>
                <a:latin typeface="Noto Sans CJK SC"/>
              </a:rPr>
              <a:t>数据逻辑：真实订单骨架 + 确定性合成语义 + 隐藏评价层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05840"/>
            <a:ext cx="10972800" cy="22860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5624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50" b="0">
                <a:solidFill>
                  <a:srgbClr val="52677D"/>
                </a:solidFill>
                <a:latin typeface="Noto Sans CJK SC"/>
              </a:rPr>
              <a:t>Semantic Pallet Planner · 阶段1C · DeepSeek Flash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1">
                <a:solidFill>
                  <a:srgbClr val="52677D"/>
                </a:solidFill>
                <a:latin typeface="Noto Sans CJK SC"/>
              </a:rPr>
              <a:t>3/10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1316736"/>
            <a:ext cx="1847088" cy="118872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35607"/>
            <a:ext cx="16276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450" b="1">
                <a:solidFill>
                  <a:srgbClr val="2F6BFF"/>
                </a:solidFill>
                <a:latin typeface="Noto Sans CJK SC"/>
              </a:rPr>
              <a:t>BED-BPP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773936"/>
            <a:ext cx="1664208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30" b="0">
                <a:solidFill>
                  <a:srgbClr val="52677D"/>
                </a:solidFill>
                <a:latin typeface="Noto Sans CJK SC"/>
              </a:rPr>
              <a:t>尺寸/重量</a:t>
            </a:r>
            <a:br/>
            <a:r>
              <a:rPr sz="1030" b="0">
                <a:solidFill>
                  <a:srgbClr val="52677D"/>
                </a:solidFill>
                <a:latin typeface="Noto Sans CJK SC"/>
              </a:rPr>
              <a:t>订单/到货顺序</a:t>
            </a:r>
          </a:p>
        </p:txBody>
      </p:sp>
      <p:sp>
        <p:nvSpPr>
          <p:cNvPr id="10" name="Chevron 9"/>
          <p:cNvSpPr/>
          <p:nvPr/>
        </p:nvSpPr>
        <p:spPr>
          <a:xfrm>
            <a:off x="2505456" y="1755648"/>
            <a:ext cx="310896" cy="274320"/>
          </a:xfrm>
          <a:prstGeom prst="chevron">
            <a:avLst/>
          </a:prstGeom>
          <a:solidFill>
            <a:srgbClr val="52677D"/>
          </a:solidFill>
          <a:ln>
            <a:solidFill>
              <a:srgbClr val="526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07792" y="1316736"/>
            <a:ext cx="1847088" cy="1188720"/>
          </a:xfrm>
          <a:prstGeom prst="roundRect">
            <a:avLst>
              <a:gd name="adj" fmla="val 8000"/>
            </a:avLst>
          </a:prstGeom>
          <a:solidFill>
            <a:srgbClr val="E7F7F4"/>
          </a:solidFill>
          <a:ln>
            <a:solidFill>
              <a:srgbClr val="16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435607"/>
            <a:ext cx="16276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450" b="1">
                <a:solidFill>
                  <a:srgbClr val="16A89A"/>
                </a:solidFill>
                <a:latin typeface="Noto Sans CJK SC"/>
              </a:rPr>
              <a:t>属性构建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1773936"/>
            <a:ext cx="1664208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30" b="0">
                <a:solidFill>
                  <a:srgbClr val="52677D"/>
                </a:solidFill>
                <a:latin typeface="Noto Sans CJK SC"/>
              </a:rPr>
              <a:t>材质/易碎</a:t>
            </a:r>
            <a:br/>
            <a:r>
              <a:rPr sz="1030" b="0">
                <a:solidFill>
                  <a:srgbClr val="52677D"/>
                </a:solidFill>
                <a:latin typeface="Noto Sans CJK SC"/>
              </a:rPr>
              <a:t>可堆叠/承重</a:t>
            </a:r>
          </a:p>
        </p:txBody>
      </p:sp>
      <p:sp>
        <p:nvSpPr>
          <p:cNvPr id="14" name="Chevron 13"/>
          <p:cNvSpPr/>
          <p:nvPr/>
        </p:nvSpPr>
        <p:spPr>
          <a:xfrm>
            <a:off x="4809744" y="1755648"/>
            <a:ext cx="310896" cy="274320"/>
          </a:xfrm>
          <a:prstGeom prst="chevron">
            <a:avLst/>
          </a:prstGeom>
          <a:solidFill>
            <a:srgbClr val="52677D"/>
          </a:solidFill>
          <a:ln>
            <a:solidFill>
              <a:srgbClr val="526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12080" y="1316736"/>
            <a:ext cx="1847088" cy="1188720"/>
          </a:xfrm>
          <a:prstGeom prst="roundRect">
            <a:avLst>
              <a:gd name="adj" fmla="val 8000"/>
            </a:avLst>
          </a:prstGeom>
          <a:solidFill>
            <a:srgbClr val="FFF4DE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1808" y="1435607"/>
            <a:ext cx="16276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450" b="1">
                <a:solidFill>
                  <a:srgbClr val="F2A93B"/>
                </a:solidFill>
                <a:latin typeface="Noto Sans CJK SC"/>
              </a:rPr>
              <a:t>Scenario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773936"/>
            <a:ext cx="1664208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30" b="0">
                <a:solidFill>
                  <a:srgbClr val="52677D"/>
                </a:solidFill>
                <a:latin typeface="Noto Sans CJK SC"/>
              </a:rPr>
              <a:t>完整任务</a:t>
            </a:r>
            <a:br/>
            <a:r>
              <a:rPr sz="1030" b="0">
                <a:solidFill>
                  <a:srgbClr val="52677D"/>
                </a:solidFill>
                <a:latin typeface="Noto Sans CJK SC"/>
              </a:rPr>
              <a:t>自然语言规则</a:t>
            </a:r>
          </a:p>
        </p:txBody>
      </p:sp>
      <p:sp>
        <p:nvSpPr>
          <p:cNvPr id="18" name="Chevron 17"/>
          <p:cNvSpPr/>
          <p:nvPr/>
        </p:nvSpPr>
        <p:spPr>
          <a:xfrm>
            <a:off x="7114032" y="1755648"/>
            <a:ext cx="310896" cy="274320"/>
          </a:xfrm>
          <a:prstGeom prst="chevron">
            <a:avLst/>
          </a:prstGeom>
          <a:solidFill>
            <a:srgbClr val="52677D"/>
          </a:solidFill>
          <a:ln>
            <a:solidFill>
              <a:srgbClr val="526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16368" y="1316736"/>
            <a:ext cx="1847088" cy="1188720"/>
          </a:xfrm>
          <a:prstGeom prst="roundRect">
            <a:avLst>
              <a:gd name="adj" fmla="val 8000"/>
            </a:avLst>
          </a:prstGeom>
          <a:solidFill>
            <a:srgbClr val="FDECEE"/>
          </a:solidFill>
          <a:ln>
            <a:solidFill>
              <a:srgbClr val="E3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6096" y="1435607"/>
            <a:ext cx="16276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450" b="1">
                <a:solidFill>
                  <a:srgbClr val="E35D6A"/>
                </a:solidFill>
                <a:latin typeface="Noto Sans CJK SC"/>
              </a:rPr>
              <a:t>Decision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1773936"/>
            <a:ext cx="1664208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30" b="0">
                <a:solidFill>
                  <a:srgbClr val="52677D"/>
                </a:solidFill>
                <a:latin typeface="Noto Sans CJK SC"/>
              </a:rPr>
              <a:t>固定状态</a:t>
            </a:r>
            <a:br/>
            <a:r>
              <a:rPr sz="1030" b="0">
                <a:solidFill>
                  <a:srgbClr val="52677D"/>
                </a:solidFill>
                <a:latin typeface="Noto Sans CJK SC"/>
              </a:rPr>
              <a:t>当前箱体</a:t>
            </a:r>
          </a:p>
        </p:txBody>
      </p:sp>
      <p:sp>
        <p:nvSpPr>
          <p:cNvPr id="22" name="Chevron 21"/>
          <p:cNvSpPr/>
          <p:nvPr/>
        </p:nvSpPr>
        <p:spPr>
          <a:xfrm>
            <a:off x="9418320" y="1755648"/>
            <a:ext cx="310896" cy="274320"/>
          </a:xfrm>
          <a:prstGeom prst="chevron">
            <a:avLst/>
          </a:prstGeom>
          <a:solidFill>
            <a:srgbClr val="52677D"/>
          </a:solidFill>
          <a:ln>
            <a:solidFill>
              <a:srgbClr val="526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20656" y="1316736"/>
            <a:ext cx="1847088" cy="1188720"/>
          </a:xfrm>
          <a:prstGeom prst="roundRect">
            <a:avLst>
              <a:gd name="adj" fmla="val 8000"/>
            </a:avLst>
          </a:prstGeom>
          <a:solidFill>
            <a:srgbClr val="E9EEF3"/>
          </a:solidFill>
          <a:ln>
            <a:solidFill>
              <a:srgbClr val="18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30384" y="1435607"/>
            <a:ext cx="16276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450" b="1">
                <a:solidFill>
                  <a:srgbClr val="183B5B"/>
                </a:solidFill>
                <a:latin typeface="Noto Sans CJK SC"/>
              </a:rPr>
              <a:t>Candidate + Oracle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12096" y="1773936"/>
            <a:ext cx="1664208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30" b="0">
                <a:solidFill>
                  <a:srgbClr val="52677D"/>
                </a:solidFill>
                <a:latin typeface="Noto Sans CJK SC"/>
              </a:rPr>
              <a:t>公开动作空间</a:t>
            </a:r>
            <a:br/>
            <a:r>
              <a:rPr sz="1030" b="0">
                <a:solidFill>
                  <a:srgbClr val="52677D"/>
                </a:solidFill>
                <a:latin typeface="Noto Sans CJK SC"/>
              </a:rPr>
              <a:t>隐藏事后评价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2834640"/>
            <a:ext cx="242316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2834640"/>
            <a:ext cx="64008" cy="932688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3" y="2926080"/>
            <a:ext cx="21671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>
                <a:solidFill>
                  <a:srgbClr val="2F6BFF"/>
                </a:solidFill>
                <a:latin typeface="Noto Sans CJK SC"/>
              </a:rPr>
              <a:t>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3" y="3355848"/>
            <a:ext cx="216712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>
                <a:solidFill>
                  <a:srgbClr val="52677D"/>
                </a:solidFill>
                <a:latin typeface="Noto Sans CJK SC"/>
              </a:rPr>
              <a:t>基础场景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01568" y="2834640"/>
            <a:ext cx="242316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01568" y="2834640"/>
            <a:ext cx="64008" cy="932688"/>
          </a:xfrm>
          <a:prstGeom prst="rect">
            <a:avLst/>
          </a:prstGeom>
          <a:solidFill>
            <a:srgbClr val="16A89A"/>
          </a:solidFill>
          <a:ln>
            <a:solidFill>
              <a:srgbClr val="16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75303" y="2926080"/>
            <a:ext cx="21671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>
                <a:solidFill>
                  <a:srgbClr val="16A89A"/>
                </a:solidFill>
                <a:latin typeface="Noto Sans CJK SC"/>
              </a:rPr>
              <a:t>140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3" y="3355848"/>
            <a:ext cx="216712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>
                <a:solidFill>
                  <a:srgbClr val="52677D"/>
                </a:solidFill>
                <a:latin typeface="Noto Sans CJK SC"/>
              </a:rPr>
              <a:t>可见场景文件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4768" y="2834640"/>
            <a:ext cx="242316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44768" y="2834640"/>
            <a:ext cx="64008" cy="932688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18504" y="2926080"/>
            <a:ext cx="21671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>
                <a:solidFill>
                  <a:srgbClr val="F2A93B"/>
                </a:solidFill>
                <a:latin typeface="Noto Sans CJK SC"/>
              </a:rPr>
              <a:t>360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8504" y="3355848"/>
            <a:ext cx="216712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>
                <a:solidFill>
                  <a:srgbClr val="52677D"/>
                </a:solidFill>
                <a:latin typeface="Noto Sans CJK SC"/>
              </a:rPr>
              <a:t>固定决策题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87968" y="2834640"/>
            <a:ext cx="242316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87968" y="2834640"/>
            <a:ext cx="64008" cy="932688"/>
          </a:xfrm>
          <a:prstGeom prst="rect">
            <a:avLst/>
          </a:prstGeom>
          <a:solidFill>
            <a:srgbClr val="E35D6A"/>
          </a:solidFill>
          <a:ln>
            <a:solidFill>
              <a:srgbClr val="E3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61704" y="2926080"/>
            <a:ext cx="21671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>
                <a:solidFill>
                  <a:srgbClr val="E35D6A"/>
                </a:solidFill>
                <a:latin typeface="Noto Sans CJK SC"/>
              </a:rPr>
              <a:t>1513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61704" y="3355848"/>
            <a:ext cx="216712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>
                <a:solidFill>
                  <a:srgbClr val="52677D"/>
                </a:solidFill>
                <a:latin typeface="Noto Sans CJK SC"/>
              </a:rPr>
              <a:t>物料实例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4096512"/>
            <a:ext cx="55778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" y="4315968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102A43"/>
                </a:solidFill>
                <a:latin typeface="Noto Sans CJK SC"/>
              </a:rPr>
              <a:t>公开给 VLM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" y="4663440"/>
            <a:ext cx="5010912" cy="85039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30" b="0">
                <a:solidFill>
                  <a:srgbClr val="172B4D"/>
                </a:solidFill>
                <a:latin typeface="Noto Sans CJK SC"/>
              </a:rPr>
              <a:t>• 自然语言指令、当前状态、物料属性、匿名候选位置与几何特征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30" b="0">
                <a:solidFill>
                  <a:srgbClr val="172B4D"/>
                </a:solidFill>
                <a:latin typeface="Noto Sans CJK SC"/>
              </a:rPr>
              <a:t>• 候选只包含当前决策可知信息；未来物料不参与固定题选择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92240" y="4096512"/>
            <a:ext cx="5029200" cy="1600200"/>
          </a:xfrm>
          <a:prstGeom prst="roundRect">
            <a:avLst>
              <a:gd name="adj" fmla="val 8000"/>
            </a:avLst>
          </a:prstGeom>
          <a:solidFill>
            <a:srgbClr val="FDECEE"/>
          </a:solidFill>
          <a:ln>
            <a:solidFill>
              <a:srgbClr val="E3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48272" y="4315968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E35D6A"/>
                </a:solidFill>
                <a:latin typeface="Noto Sans CJK SC"/>
              </a:rPr>
              <a:t>隐藏到选择之后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48272" y="4663440"/>
            <a:ext cx="4407408" cy="85039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30" b="0">
                <a:solidFill>
                  <a:srgbClr val="172B4D"/>
                </a:solidFill>
                <a:latin typeface="Noto Sans CJK SC"/>
              </a:rPr>
              <a:t>• 结构化规则类型、Oracle候选ID、每候选语义分和数据划分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30" b="0">
                <a:solidFill>
                  <a:srgbClr val="172B4D"/>
                </a:solidFill>
                <a:latin typeface="Noto Sans CJK SC"/>
              </a:rPr>
              <a:t>• 注意：语义属性与顶部承重仍是合成值，不能代表工业真值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F6BFF"/>
                </a:solidFill>
                <a:latin typeface="Noto Sans CJK SC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104698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1">
                <a:solidFill>
                  <a:srgbClr val="102A43"/>
                </a:solidFill>
                <a:latin typeface="Noto Sans CJK SC"/>
              </a:rPr>
              <a:t>几何算法：先保证物理可行，再把有限候选交给 VLM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10149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>
                <a:solidFill>
                  <a:srgbClr val="52677D"/>
                </a:solidFill>
                <a:latin typeface="Noto Sans CJK SC"/>
              </a:rPr>
              <a:t>右侧为阶段1B真实在线episode动画；放映时GIF自动播放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0972800" cy="22860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5624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50" b="0">
                <a:solidFill>
                  <a:srgbClr val="52677D"/>
                </a:solidFill>
                <a:latin typeface="Noto Sans CJK SC"/>
              </a:rPr>
              <a:t>Semantic Pallet Planner · 阶段1C · DeepSeek Flash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1">
                <a:solidFill>
                  <a:srgbClr val="52677D"/>
                </a:solidFill>
                <a:latin typeface="Noto Sans CJK SC"/>
              </a:rPr>
              <a:t>4/10</a:t>
            </a:r>
          </a:p>
        </p:txBody>
      </p:sp>
      <p:pic>
        <p:nvPicPr>
          <p:cNvPr id="8" name="Picture 7" descr="animation.gif"/>
          <p:cNvPicPr>
            <a:picLocks noChangeAspect="1"/>
          </p:cNvPicPr>
          <p:nvPr/>
        </p:nvPicPr>
        <p:blipFill>
          <a:blip r:embed="rId2"/>
          <a:srcRect l="1984" r="1984"/>
          <a:stretch>
            <a:fillRect/>
          </a:stretch>
        </p:blipFill>
        <p:spPr>
          <a:xfrm>
            <a:off x="621792" y="1280160"/>
            <a:ext cx="6537960" cy="4160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" y="1280160"/>
            <a:ext cx="6537960" cy="4160520"/>
          </a:xfrm>
          <a:prstGeom prst="rect">
            <a:avLst/>
          </a:prstGeom>
          <a:noFill/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522976"/>
            <a:ext cx="62636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>
                <a:solidFill>
                  <a:srgbClr val="52677D"/>
                </a:solidFill>
                <a:latin typeface="Noto Sans CJK SC"/>
              </a:rPr>
              <a:t>SCN_0051 · Geometry-Greedy · 逐箱生成候选、选择、提交并更新状态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9792" y="1298448"/>
            <a:ext cx="512064" cy="512064"/>
          </a:xfrm>
          <a:prstGeom prst="roundRect">
            <a:avLst>
              <a:gd name="adj" fmla="val 8000"/>
            </a:avLst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9792" y="1362456"/>
            <a:ext cx="51206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500" b="1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1289304"/>
            <a:ext cx="3017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102A43"/>
                </a:solidFill>
                <a:latin typeface="Noto Sans CJK SC"/>
              </a:rPr>
              <a:t>极值点枚举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1591056"/>
            <a:ext cx="31821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60" b="0">
                <a:solidFill>
                  <a:srgbClr val="52677D"/>
                </a:solidFill>
                <a:latin typeface="Noto Sans CJK SC"/>
              </a:rPr>
              <a:t>托盘边缘、已放箱边缘、箱顶支撑层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9792" y="2167128"/>
            <a:ext cx="512064" cy="512064"/>
          </a:xfrm>
          <a:prstGeom prst="roundRect">
            <a:avLst>
              <a:gd name="adj" fmla="val 8000"/>
            </a:avLst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9792" y="2231136"/>
            <a:ext cx="51206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500" b="1">
                <a:solidFill>
                  <a:srgbClr val="FFFFFF"/>
                </a:solidFill>
                <a:latin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157984"/>
            <a:ext cx="3017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102A43"/>
                </a:solidFill>
                <a:latin typeface="Noto Sans CJK SC"/>
              </a:rPr>
              <a:t>姿态展开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459736"/>
            <a:ext cx="31821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60" b="0">
                <a:solidFill>
                  <a:srgbClr val="52677D"/>
                </a:solidFill>
                <a:latin typeface="Noto Sans CJK SC"/>
              </a:rPr>
              <a:t>水平 yaw = 0° / 90°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9792" y="3035808"/>
            <a:ext cx="512064" cy="512064"/>
          </a:xfrm>
          <a:prstGeom prst="roundRect">
            <a:avLst>
              <a:gd name="adj" fmla="val 8000"/>
            </a:avLst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9792" y="3099815"/>
            <a:ext cx="51206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500" b="1">
                <a:solidFill>
                  <a:srgbClr val="FFFFFF"/>
                </a:solidFill>
                <a:latin typeface="Noto Sans CJK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3026664"/>
            <a:ext cx="3017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102A43"/>
                </a:solidFill>
                <a:latin typeface="Noto Sans CJK SC"/>
              </a:rPr>
              <a:t>硬约束过滤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3328415"/>
            <a:ext cx="31821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60" b="0">
                <a:solidFill>
                  <a:srgbClr val="52677D"/>
                </a:solidFill>
                <a:latin typeface="Noto Sans CJK SC"/>
              </a:rPr>
              <a:t>边界、碰撞、70%支撑、重心、承重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79792" y="3904487"/>
            <a:ext cx="512064" cy="512064"/>
          </a:xfrm>
          <a:prstGeom prst="roundRect">
            <a:avLst>
              <a:gd name="adj" fmla="val 8000"/>
            </a:avLst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9792" y="3968496"/>
            <a:ext cx="51206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500" b="1">
                <a:solidFill>
                  <a:srgbClr val="FFFFFF"/>
                </a:solidFill>
                <a:latin typeface="Noto Sans CJK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3895344"/>
            <a:ext cx="3017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102A43"/>
                </a:solidFill>
                <a:latin typeface="Noto Sans CJK SC"/>
              </a:rPr>
              <a:t>几何评分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4197096"/>
            <a:ext cx="31821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60" b="0">
                <a:solidFill>
                  <a:srgbClr val="52677D"/>
                </a:solidFill>
                <a:latin typeface="Noto Sans CJK SC"/>
              </a:rPr>
              <a:t>紧凑度35% + 高度25% + 稳定25% + 平衡15%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79792" y="4773168"/>
            <a:ext cx="512064" cy="512064"/>
          </a:xfrm>
          <a:prstGeom prst="roundRect">
            <a:avLst>
              <a:gd name="adj" fmla="val 8000"/>
            </a:avLst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9792" y="4837176"/>
            <a:ext cx="51206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500" b="1">
                <a:solidFill>
                  <a:srgbClr val="FFFFFF"/>
                </a:solidFill>
                <a:latin typeface="Noto Sans CJK SC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6448" y="4764024"/>
            <a:ext cx="3017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102A43"/>
                </a:solidFill>
                <a:latin typeface="Noto Sans CJK SC"/>
              </a:rPr>
              <a:t>多样性Top-K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5065776"/>
            <a:ext cx="31821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60" b="0">
                <a:solidFill>
                  <a:srgbClr val="52677D"/>
                </a:solidFill>
                <a:latin typeface="Noto Sans CJK SC"/>
              </a:rPr>
              <a:t>Pareto前沿 + 空间分层，冻结 K=16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79792" y="5650992"/>
            <a:ext cx="3858768" cy="457200"/>
          </a:xfrm>
          <a:prstGeom prst="roundRect">
            <a:avLst>
              <a:gd name="adj" fmla="val 8000"/>
            </a:avLst>
          </a:prstGeom>
          <a:solidFill>
            <a:srgbClr val="E7F7F4"/>
          </a:solidFill>
          <a:ln>
            <a:solidFill>
              <a:srgbClr val="16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26096" y="5751576"/>
            <a:ext cx="35478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120" b="1">
                <a:solidFill>
                  <a:srgbClr val="16A89A"/>
                </a:solidFill>
                <a:latin typeface="Noto Sans CJK SC"/>
              </a:rPr>
              <a:t>提交前由独立检查器再次复核候选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F6BFF"/>
                </a:solidFill>
                <a:latin typeface="Noto Sans CJK SC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104698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1">
                <a:solidFill>
                  <a:srgbClr val="102A43"/>
                </a:solidFill>
                <a:latin typeface="Noto Sans CJK SC"/>
              </a:rPr>
              <a:t>阶段1C核心逻辑：模型只在冻结合法候选中做语义选择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05840"/>
            <a:ext cx="10972800" cy="22860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5624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50" b="0">
                <a:solidFill>
                  <a:srgbClr val="52677D"/>
                </a:solidFill>
                <a:latin typeface="Noto Sans CJK SC"/>
              </a:rPr>
              <a:t>Semantic Pallet Planner · 阶段1C · DeepSeek Flash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1">
                <a:solidFill>
                  <a:srgbClr val="52677D"/>
                </a:solidFill>
                <a:latin typeface="Noto Sans CJK SC"/>
              </a:rPr>
              <a:t>5/10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1353312"/>
            <a:ext cx="1847088" cy="1225296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72184"/>
            <a:ext cx="16276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450" b="1">
                <a:solidFill>
                  <a:srgbClr val="2F6BFF"/>
                </a:solidFill>
                <a:latin typeface="Noto Sans CJK SC"/>
              </a:rPr>
              <a:t>公开请求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810512"/>
            <a:ext cx="1664208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30" b="0">
                <a:solidFill>
                  <a:srgbClr val="52677D"/>
                </a:solidFill>
                <a:latin typeface="Noto Sans CJK SC"/>
              </a:rPr>
              <a:t>状态 + 指令</a:t>
            </a:r>
            <a:br/>
            <a:r>
              <a:rPr sz="1030" b="0">
                <a:solidFill>
                  <a:srgbClr val="52677D"/>
                </a:solidFill>
                <a:latin typeface="Noto Sans CJK SC"/>
              </a:rPr>
              <a:t>合法Candidate Set</a:t>
            </a:r>
          </a:p>
        </p:txBody>
      </p:sp>
      <p:sp>
        <p:nvSpPr>
          <p:cNvPr id="10" name="Chevron 9"/>
          <p:cNvSpPr/>
          <p:nvPr/>
        </p:nvSpPr>
        <p:spPr>
          <a:xfrm>
            <a:off x="2505456" y="1810512"/>
            <a:ext cx="310896" cy="274320"/>
          </a:xfrm>
          <a:prstGeom prst="chevron">
            <a:avLst/>
          </a:prstGeom>
          <a:solidFill>
            <a:srgbClr val="52677D"/>
          </a:solidFill>
          <a:ln>
            <a:solidFill>
              <a:srgbClr val="526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07792" y="1353312"/>
            <a:ext cx="1847088" cy="1225296"/>
          </a:xfrm>
          <a:prstGeom prst="roundRect">
            <a:avLst>
              <a:gd name="adj" fmla="val 8000"/>
            </a:avLst>
          </a:prstGeom>
          <a:solidFill>
            <a:srgbClr val="E7F7F4"/>
          </a:solidFill>
          <a:ln>
            <a:solidFill>
              <a:srgbClr val="16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472184"/>
            <a:ext cx="16276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450" b="1">
                <a:solidFill>
                  <a:srgbClr val="16A89A"/>
                </a:solidFill>
                <a:latin typeface="Noto Sans CJK SC"/>
              </a:rPr>
              <a:t>匿名映射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1810512"/>
            <a:ext cx="1664208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30" b="0">
                <a:solidFill>
                  <a:srgbClr val="52677D"/>
                </a:solidFill>
                <a:latin typeface="Noto Sans CJK SC"/>
              </a:rPr>
              <a:t>内部ID删除</a:t>
            </a:r>
            <a:br/>
            <a:r>
              <a:rPr sz="1030" b="0">
                <a:solidFill>
                  <a:srgbClr val="52677D"/>
                </a:solidFill>
                <a:latin typeface="Noto Sans CJK SC"/>
              </a:rPr>
              <a:t>重排为C01…C16</a:t>
            </a:r>
          </a:p>
        </p:txBody>
      </p:sp>
      <p:sp>
        <p:nvSpPr>
          <p:cNvPr id="14" name="Chevron 13"/>
          <p:cNvSpPr/>
          <p:nvPr/>
        </p:nvSpPr>
        <p:spPr>
          <a:xfrm>
            <a:off x="4809744" y="1810512"/>
            <a:ext cx="310896" cy="274320"/>
          </a:xfrm>
          <a:prstGeom prst="chevron">
            <a:avLst/>
          </a:prstGeom>
          <a:solidFill>
            <a:srgbClr val="52677D"/>
          </a:solidFill>
          <a:ln>
            <a:solidFill>
              <a:srgbClr val="526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12080" y="1353312"/>
            <a:ext cx="1847088" cy="1225296"/>
          </a:xfrm>
          <a:prstGeom prst="roundRect">
            <a:avLst>
              <a:gd name="adj" fmla="val 8000"/>
            </a:avLst>
          </a:prstGeom>
          <a:solidFill>
            <a:srgbClr val="FFF4DE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1808" y="1472184"/>
            <a:ext cx="16276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450" b="1">
                <a:solidFill>
                  <a:srgbClr val="F2A93B"/>
                </a:solidFill>
                <a:latin typeface="Noto Sans CJK SC"/>
              </a:rPr>
              <a:t>Text / Visual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810512"/>
            <a:ext cx="1664208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30" b="0">
                <a:solidFill>
                  <a:srgbClr val="52677D"/>
                </a:solidFill>
                <a:latin typeface="Noto Sans CJK SC"/>
              </a:rPr>
              <a:t>结构化JSON</a:t>
            </a:r>
            <a:br/>
            <a:r>
              <a:rPr sz="1030" b="0">
                <a:solidFill>
                  <a:srgbClr val="52677D"/>
                </a:solidFill>
                <a:latin typeface="Noto Sans CJK SC"/>
              </a:rPr>
              <a:t>视觉额外两张图</a:t>
            </a:r>
          </a:p>
        </p:txBody>
      </p:sp>
      <p:sp>
        <p:nvSpPr>
          <p:cNvPr id="18" name="Chevron 17"/>
          <p:cNvSpPr/>
          <p:nvPr/>
        </p:nvSpPr>
        <p:spPr>
          <a:xfrm>
            <a:off x="7114032" y="1810512"/>
            <a:ext cx="310896" cy="274320"/>
          </a:xfrm>
          <a:prstGeom prst="chevron">
            <a:avLst/>
          </a:prstGeom>
          <a:solidFill>
            <a:srgbClr val="52677D"/>
          </a:solidFill>
          <a:ln>
            <a:solidFill>
              <a:srgbClr val="526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16368" y="1353312"/>
            <a:ext cx="1847088" cy="1225296"/>
          </a:xfrm>
          <a:prstGeom prst="roundRect">
            <a:avLst>
              <a:gd name="adj" fmla="val 8000"/>
            </a:avLst>
          </a:prstGeom>
          <a:solidFill>
            <a:srgbClr val="FDECEE"/>
          </a:solidFill>
          <a:ln>
            <a:solidFill>
              <a:srgbClr val="E3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6096" y="1472184"/>
            <a:ext cx="16276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450" b="1">
                <a:solidFill>
                  <a:srgbClr val="E35D6A"/>
                </a:solidFill>
                <a:latin typeface="Noto Sans CJK SC"/>
              </a:rPr>
              <a:t>严格解析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1810512"/>
            <a:ext cx="1664208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30" b="0">
                <a:solidFill>
                  <a:srgbClr val="52677D"/>
                </a:solidFill>
                <a:latin typeface="Noto Sans CJK SC"/>
              </a:rPr>
              <a:t>Schema + request_id</a:t>
            </a:r>
            <a:br/>
            <a:r>
              <a:rPr sz="1030" b="0">
                <a:solidFill>
                  <a:srgbClr val="52677D"/>
                </a:solidFill>
                <a:latin typeface="Noto Sans CJK SC"/>
              </a:rPr>
              <a:t>state_hash + 合法编号</a:t>
            </a:r>
          </a:p>
        </p:txBody>
      </p:sp>
      <p:sp>
        <p:nvSpPr>
          <p:cNvPr id="22" name="Chevron 21"/>
          <p:cNvSpPr/>
          <p:nvPr/>
        </p:nvSpPr>
        <p:spPr>
          <a:xfrm>
            <a:off x="9418320" y="1810512"/>
            <a:ext cx="310896" cy="274320"/>
          </a:xfrm>
          <a:prstGeom prst="chevron">
            <a:avLst/>
          </a:prstGeom>
          <a:solidFill>
            <a:srgbClr val="52677D"/>
          </a:solidFill>
          <a:ln>
            <a:solidFill>
              <a:srgbClr val="526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20656" y="1353312"/>
            <a:ext cx="1847088" cy="1225296"/>
          </a:xfrm>
          <a:prstGeom prst="roundRect">
            <a:avLst>
              <a:gd name="adj" fmla="val 8000"/>
            </a:avLst>
          </a:prstGeom>
          <a:solidFill>
            <a:srgbClr val="E9EEF3"/>
          </a:solidFill>
          <a:ln>
            <a:solidFill>
              <a:srgbClr val="18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30384" y="1472184"/>
            <a:ext cx="16276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450" b="1">
                <a:solidFill>
                  <a:srgbClr val="183B5B"/>
                </a:solidFill>
                <a:latin typeface="Noto Sans CJK SC"/>
              </a:rPr>
              <a:t>事后评价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12096" y="1810512"/>
            <a:ext cx="1664208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30" b="0">
                <a:solidFill>
                  <a:srgbClr val="52677D"/>
                </a:solidFill>
                <a:latin typeface="Noto Sans CJK SC"/>
              </a:rPr>
              <a:t>恢复内部ID</a:t>
            </a:r>
            <a:br/>
            <a:r>
              <a:rPr sz="1030" b="0">
                <a:solidFill>
                  <a:srgbClr val="52677D"/>
                </a:solidFill>
                <a:latin typeface="Noto Sans CJK SC"/>
              </a:rPr>
              <a:t>物理复核 + Oracle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2944368"/>
            <a:ext cx="6419088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182112"/>
            <a:ext cx="2926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700" b="1">
                <a:solidFill>
                  <a:srgbClr val="102A43"/>
                </a:solidFill>
                <a:latin typeface="Noto Sans CJK SC"/>
              </a:rPr>
              <a:t>安全与公平机制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3602736"/>
            <a:ext cx="5852160" cy="16916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172B4D"/>
                </a:solidFill>
                <a:latin typeface="Noto Sans CJK SC"/>
              </a:rPr>
              <a:t>• 六种方法面对同一冻结 Candidate Set，选择不会改变下一道固定题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172B4D"/>
                </a:solidFill>
                <a:latin typeface="Noto Sans CJK SC"/>
              </a:rPr>
              <a:t>• 模型不生成坐标，无法绕过物理合法候选空间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172B4D"/>
                </a:solidFill>
                <a:latin typeface="Noto Sans CJK SC"/>
              </a:rPr>
              <a:t>• 候选显示顺序按题目和种子确定性随机化，映射单独留审计文件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172B4D"/>
                </a:solidFill>
                <a:latin typeface="Noto Sans CJK SC"/>
              </a:rPr>
              <a:t>• 最多一次格式修复；仍失败则按冻结策略回退 Geometry-Greedy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172B4D"/>
                </a:solidFill>
                <a:latin typeface="Noto Sans CJK SC"/>
              </a:rPr>
              <a:t>• 选择完成后才读取隐藏规则和 Oracle，计算 utility / regret / 违规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33488" y="2944368"/>
            <a:ext cx="4187952" cy="2651760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6096" y="3200400"/>
            <a:ext cx="35478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700" b="1">
                <a:solidFill>
                  <a:srgbClr val="FFFFFF"/>
                </a:solidFill>
                <a:latin typeface="Noto Sans CJK SC"/>
              </a:rPr>
              <a:t>响应必须满足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6096" y="3639312"/>
            <a:ext cx="3493008" cy="1481328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D9E6F2"/>
                </a:solidFill>
                <a:latin typeface="Noto Sans CJK SC"/>
              </a:rPr>
              <a:t>• schema_version 正确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D9E6F2"/>
                </a:solidFill>
                <a:latin typeface="Noto Sans CJK SC"/>
              </a:rPr>
              <a:t>• request_id 与当前题一致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D9E6F2"/>
                </a:solidFill>
                <a:latin typeface="Noto Sans CJK SC"/>
              </a:rPr>
              <a:t>• state_hash 与当前状态一致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D9E6F2"/>
                </a:solidFill>
                <a:latin typeface="Noto Sans CJK SC"/>
              </a:rPr>
              <a:t>• display_candidate_id 属于 C01…CK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20" b="0">
                <a:solidFill>
                  <a:srgbClr val="D9E6F2"/>
                </a:solidFill>
                <a:latin typeface="Noto Sans CJK SC"/>
              </a:rPr>
              <a:t>• 禁止坐标字段和额外顶层字段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F6BFF"/>
                </a:solidFill>
                <a:latin typeface="Noto Sans CJK SC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104698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1">
                <a:solidFill>
                  <a:srgbClr val="102A43"/>
                </a:solidFill>
                <a:latin typeface="Noto Sans CJK SC"/>
              </a:rPr>
              <a:t>模型实际看到什么：结构化状态 + 工作区图 + 候选拼图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10149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>
                <a:solidFill>
                  <a:srgbClr val="52677D"/>
                </a:solidFill>
                <a:latin typeface="Noto Sans CJK SC"/>
              </a:rPr>
              <a:t>示例来自正式实验 EXP_1C_DEEPSEEK_FLASH_FINAL_V1 / DC_00157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0972800" cy="22860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5624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50" b="0">
                <a:solidFill>
                  <a:srgbClr val="52677D"/>
                </a:solidFill>
                <a:latin typeface="Noto Sans CJK SC"/>
              </a:rPr>
              <a:t>Semantic Pallet Planner · 阶段1C · DeepSeek Flash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1">
                <a:solidFill>
                  <a:srgbClr val="52677D"/>
                </a:solidFill>
                <a:latin typeface="Noto Sans CJK SC"/>
              </a:rPr>
              <a:t>6/10</a:t>
            </a:r>
          </a:p>
        </p:txBody>
      </p:sp>
      <p:pic>
        <p:nvPicPr>
          <p:cNvPr id="8" name="Picture 7" descr="workspace.png"/>
          <p:cNvPicPr>
            <a:picLocks noChangeAspect="1"/>
          </p:cNvPicPr>
          <p:nvPr/>
        </p:nvPicPr>
        <p:blipFill>
          <a:blip r:embed="rId2"/>
          <a:srcRect t="5401" b="5401"/>
          <a:stretch>
            <a:fillRect/>
          </a:stretch>
        </p:blipFill>
        <p:spPr>
          <a:xfrm>
            <a:off x="621792" y="1261872"/>
            <a:ext cx="6455664" cy="294436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" y="1261872"/>
            <a:ext cx="6455664" cy="2944368"/>
          </a:xfrm>
          <a:prstGeom prst="rect">
            <a:avLst/>
          </a:prstGeom>
          <a:noFill/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33488" y="1261872"/>
            <a:ext cx="4206240" cy="4590288"/>
          </a:xfrm>
          <a:prstGeom prst="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ndidates_mon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1565413"/>
            <a:ext cx="4206240" cy="398320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3232" y="4315968"/>
            <a:ext cx="623620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50" b="0">
                <a:solidFill>
                  <a:srgbClr val="52677D"/>
                </a:solidFill>
                <a:latin typeface="Noto Sans CJK SC"/>
              </a:rPr>
              <a:t>工作区图：取料区 + 当前托盘状态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4927" y="5916168"/>
            <a:ext cx="4023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50" b="0">
                <a:solidFill>
                  <a:srgbClr val="52677D"/>
                </a:solidFill>
                <a:latin typeface="Noto Sans CJK SC"/>
              </a:rPr>
              <a:t>候选拼图：完整 C01～C16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736592"/>
            <a:ext cx="6455664" cy="1115568"/>
          </a:xfrm>
          <a:prstGeom prst="roundRect">
            <a:avLst>
              <a:gd name="adj" fmla="val 8000"/>
            </a:avLst>
          </a:prstGeom>
          <a:solidFill>
            <a:srgbClr val="FFF4DE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937760"/>
            <a:ext cx="601675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150" b="1">
                <a:solidFill>
                  <a:srgbClr val="172B4D"/>
                </a:solidFill>
                <a:latin typeface="Noto Sans CJK SC"/>
              </a:rPr>
              <a:t>Visual 模式并非让模型自由定位：图片用于辅助理解空间关系，最终仍只能返回一个 C 编号。</a:t>
            </a:r>
            <a:br/>
            <a:r>
              <a:rPr sz="1150" b="1">
                <a:solidFill>
                  <a:srgbClr val="172B4D"/>
                </a:solidFill>
                <a:latin typeface="Noto Sans CJK SC"/>
              </a:rPr>
              <a:t>当前图片是确定性仿真渲染，不是真实相机 RGB-D；因此视觉收益必须单独验证。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F6BFF"/>
                </a:solidFill>
                <a:latin typeface="Noto Sans CJK SC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104698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1">
                <a:solidFill>
                  <a:srgbClr val="102A43"/>
                </a:solidFill>
                <a:latin typeface="Noto Sans CJK SC"/>
              </a:rPr>
              <a:t>关键 JSON 证据：请求、响应、内部映射与验收均可追溯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10149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0">
                <a:solidFill>
                  <a:srgbClr val="52677D"/>
                </a:solidFill>
                <a:latin typeface="Noto Sans CJK SC"/>
              </a:rPr>
              <a:t>以下内容为真实产物的精简摘录，文本框可在PowerPoint中直接编辑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0972800" cy="22860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5624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50" b="0">
                <a:solidFill>
                  <a:srgbClr val="52677D"/>
                </a:solidFill>
                <a:latin typeface="Noto Sans CJK SC"/>
              </a:rPr>
              <a:t>Semantic Pallet Planner · 阶段1C · DeepSeek Flash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1">
                <a:solidFill>
                  <a:srgbClr val="52677D"/>
                </a:solidFill>
                <a:latin typeface="Noto Sans CJK SC"/>
              </a:rPr>
              <a:t>7/10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61872"/>
            <a:ext cx="3675887" cy="4535424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261872"/>
            <a:ext cx="3675887" cy="310896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298448"/>
            <a:ext cx="343814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1">
                <a:solidFill>
                  <a:srgbClr val="FFFFFF"/>
                </a:solidFill>
                <a:latin typeface="Noto Sans Mono CJK SC"/>
              </a:rPr>
              <a:t>public_request.json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700784"/>
            <a:ext cx="3383279" cy="39867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D9E6F2"/>
                </a:solidFill>
                <a:latin typeface="Noto Sans Mono CJK SC"/>
              </a:rPr>
              <a:t>{</a:t>
            </a:r>
            <a:br/>
            <a:r>
              <a:rPr sz="930" b="0">
                <a:solidFill>
                  <a:srgbClr val="D9E6F2"/>
                </a:solidFill>
                <a:latin typeface="Noto Sans Mono CJK SC"/>
              </a:rPr>
              <a:t>  "request_id": "DC_00157",</a:t>
            </a:r>
            <a:br/>
            <a:r>
              <a:rPr sz="930" b="0">
                <a:solidFill>
                  <a:srgbClr val="D9E6F2"/>
                </a:solidFill>
                <a:latin typeface="Noto Sans Mono CJK SC"/>
              </a:rPr>
              <a:t>  "instruction_text":</a:t>
            </a:r>
            <a:br/>
            <a:r>
              <a:rPr sz="930" b="0">
                <a:solidFill>
                  <a:srgbClr val="D9E6F2"/>
                </a:solidFill>
                <a:latin typeface="Noto Sans Mono CJK SC"/>
              </a:rPr>
              <a:t>    "易碎箱应尽量不承载其他箱体，并优先放在较高层。",</a:t>
            </a:r>
            <a:br/>
            <a:r>
              <a:rPr sz="930" b="0">
                <a:solidFill>
                  <a:srgbClr val="D9E6F2"/>
                </a:solidFill>
                <a:latin typeface="Noto Sans Mono CJK SC"/>
              </a:rPr>
              <a:t>  "available_items": [{</a:t>
            </a:r>
            <a:br/>
            <a:r>
              <a:rPr sz="930" b="0">
                <a:solidFill>
                  <a:srgbClr val="D9E6F2"/>
                </a:solidFill>
                <a:latin typeface="Noto Sans Mono CJK SC"/>
              </a:rPr>
              <a:t>    "item_id": "item_02", "fragile": true,</a:t>
            </a:r>
            <a:br/>
            <a:r>
              <a:rPr sz="930" b="0">
                <a:solidFill>
                  <a:srgbClr val="D9E6F2"/>
                </a:solidFill>
                <a:latin typeface="Noto Sans Mono CJK SC"/>
              </a:rPr>
              <a:t>    "weight_class": "heavy", "stackable": true</a:t>
            </a:r>
            <a:br/>
            <a:r>
              <a:rPr sz="930" b="0">
                <a:solidFill>
                  <a:srgbClr val="D9E6F2"/>
                </a:solidFill>
                <a:latin typeface="Noto Sans Mono CJK SC"/>
              </a:rPr>
              <a:t>  }],</a:t>
            </a:r>
            <a:br/>
            <a:r>
              <a:rPr sz="930" b="0">
                <a:solidFill>
                  <a:srgbClr val="D9E6F2"/>
                </a:solidFill>
                <a:latin typeface="Noto Sans Mono CJK SC"/>
              </a:rPr>
              <a:t>  "candidates": [{</a:t>
            </a:r>
            <a:br/>
            <a:r>
              <a:rPr sz="930" b="0">
                <a:solidFill>
                  <a:srgbClr val="D9E6F2"/>
                </a:solidFill>
                <a:latin typeface="Noto Sans Mono CJK SC"/>
              </a:rPr>
              <a:t>    "display_label": "C06",</a:t>
            </a:r>
            <a:br/>
            <a:r>
              <a:rPr sz="930" b="0">
                <a:solidFill>
                  <a:srgbClr val="D9E6F2"/>
                </a:solidFill>
                <a:latin typeface="Noto Sans Mono CJK SC"/>
              </a:rPr>
              <a:t>    "pose": {"x_mm": 400, "y_mm": -350,</a:t>
            </a:r>
            <a:br/>
            <a:r>
              <a:rPr sz="930" b="0">
                <a:solidFill>
                  <a:srgbClr val="D9E6F2"/>
                </a:solidFill>
                <a:latin typeface="Noto Sans Mono CJK SC"/>
              </a:rPr>
              <a:t>             "z_base_mm": 0, "yaw_deg": 0}</a:t>
            </a:r>
            <a:br/>
            <a:r>
              <a:rPr sz="930" b="0">
                <a:solidFill>
                  <a:srgbClr val="D9E6F2"/>
                </a:solidFill>
                <a:latin typeface="Noto Sans Mono CJK SC"/>
              </a:rPr>
              <a:t>  }]</a:t>
            </a:r>
            <a:br/>
            <a:r>
              <a:rPr sz="930" b="0">
                <a:solidFill>
                  <a:srgbClr val="D9E6F2"/>
                </a:solidFill>
                <a:latin typeface="Noto Sans Mono CJK SC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3984" y="1261872"/>
            <a:ext cx="3346704" cy="4535424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3984" y="1261872"/>
            <a:ext cx="3346704" cy="310896"/>
          </a:xfrm>
          <a:prstGeom prst="rect">
            <a:avLst/>
          </a:prstGeom>
          <a:solidFill>
            <a:srgbClr val="16A89A"/>
          </a:solidFill>
          <a:ln>
            <a:solidFill>
              <a:srgbClr val="16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1298448"/>
            <a:ext cx="31089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1">
                <a:solidFill>
                  <a:srgbClr val="FFFFFF"/>
                </a:solidFill>
                <a:latin typeface="Noto Sans Mono CJK SC"/>
              </a:rPr>
              <a:t>response.json + mapping.audit.json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700784"/>
            <a:ext cx="3054096" cy="39867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D9E6F2"/>
                </a:solidFill>
                <a:latin typeface="Noto Sans Mono CJK SC"/>
              </a:rPr>
              <a:t>{</a:t>
            </a:r>
            <a:br/>
            <a:r>
              <a:rPr sz="910" b="0">
                <a:solidFill>
                  <a:srgbClr val="D9E6F2"/>
                </a:solidFill>
                <a:latin typeface="Noto Sans Mono CJK SC"/>
              </a:rPr>
              <a:t>  "schema_version": "pallet_vlm_choice_v1",</a:t>
            </a:r>
            <a:br/>
            <a:r>
              <a:rPr sz="910" b="0">
                <a:solidFill>
                  <a:srgbClr val="D9E6F2"/>
                </a:solidFill>
                <a:latin typeface="Noto Sans Mono CJK SC"/>
              </a:rPr>
              <a:t>  "request_id": "DC_00157",</a:t>
            </a:r>
            <a:br/>
            <a:r>
              <a:rPr sz="910" b="0">
                <a:solidFill>
                  <a:srgbClr val="D9E6F2"/>
                </a:solidFill>
                <a:latin typeface="Noto Sans Mono CJK SC"/>
              </a:rPr>
              <a:t>  "state_hash": "0fc4aa2d...1423a",</a:t>
            </a:r>
            <a:br/>
            <a:r>
              <a:rPr sz="910" b="0">
                <a:solidFill>
                  <a:srgbClr val="D9E6F2"/>
                </a:solidFill>
                <a:latin typeface="Noto Sans Mono CJK SC"/>
              </a:rPr>
              <a:t>  "display_candidate_id": "C06",</a:t>
            </a:r>
            <a:br/>
            <a:r>
              <a:rPr sz="910" b="0">
                <a:solidFill>
                  <a:srgbClr val="D9E6F2"/>
                </a:solidFill>
                <a:latin typeface="Noto Sans Mono CJK SC"/>
              </a:rPr>
              <a:t>  "confidence": 0.72,</a:t>
            </a:r>
            <a:br/>
            <a:r>
              <a:rPr sz="910" b="0">
                <a:solidFill>
                  <a:srgbClr val="D9E6F2"/>
                </a:solidFill>
                <a:latin typeface="Noto Sans Mono CJK SC"/>
              </a:rPr>
              <a:t>  "applied_rule": "易碎箱优先高层且不承载"</a:t>
            </a:r>
            <a:br/>
            <a:r>
              <a:rPr sz="910" b="0">
                <a:solidFill>
                  <a:srgbClr val="D9E6F2"/>
                </a:solidFill>
                <a:latin typeface="Noto Sans Mono CJK SC"/>
              </a:rPr>
              <a:t>}</a:t>
            </a:r>
            <a:br/>
            <a:br/>
            <a:r>
              <a:rPr sz="910" b="0">
                <a:solidFill>
                  <a:srgbClr val="D9E6F2"/>
                </a:solidFill>
                <a:latin typeface="Noto Sans Mono CJK SC"/>
              </a:rPr>
              <a:t>本地映射：</a:t>
            </a:r>
            <a:br/>
            <a:r>
              <a:rPr sz="910" b="0">
                <a:solidFill>
                  <a:srgbClr val="D9E6F2"/>
                </a:solidFill>
                <a:latin typeface="Noto Sans Mono CJK SC"/>
              </a:rPr>
              <a:t>C06 → cand_13b31ca377ae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261872"/>
            <a:ext cx="3621024" cy="4535424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36992" y="1261872"/>
            <a:ext cx="3621024" cy="310896"/>
          </a:xfrm>
          <a:prstGeom prst="rect">
            <a:avLst/>
          </a:prstGeom>
          <a:solidFill>
            <a:srgbClr val="E35D6A"/>
          </a:solidFill>
          <a:ln>
            <a:solidFill>
              <a:srgbClr val="E3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5864" y="1298448"/>
            <a:ext cx="338328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50" b="1">
                <a:solidFill>
                  <a:srgbClr val="FFFFFF"/>
                </a:solidFill>
                <a:latin typeface="Noto Sans Mono CJK SC"/>
              </a:rPr>
              <a:t>acceptance_report.json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1700784"/>
            <a:ext cx="3328416" cy="39867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D9E6F2"/>
                </a:solidFill>
                <a:latin typeface="Noto Sans Mono CJK SC"/>
              </a:rPr>
              <a:t>{</a:t>
            </a:r>
            <a:br/>
            <a:r>
              <a:rPr sz="930" b="0">
                <a:solidFill>
                  <a:srgbClr val="D9E6F2"/>
                </a:solidFill>
                <a:latin typeface="Noto Sans Mono CJK SC"/>
              </a:rPr>
              <a:t>  "stage": "1c",</a:t>
            </a:r>
            <a:br/>
            <a:r>
              <a:rPr sz="930" b="0">
                <a:solidFill>
                  <a:srgbClr val="D9E6F2"/>
                </a:solidFill>
                <a:latin typeface="Noto Sans Mono CJK SC"/>
              </a:rPr>
              <a:t>  "status": "PASS",</a:t>
            </a:r>
            <a:br/>
            <a:r>
              <a:rPr sz="930" b="0">
                <a:solidFill>
                  <a:srgbClr val="D9E6F2"/>
                </a:solidFill>
                <a:latin typeface="Noto Sans Mono CJK SC"/>
              </a:rPr>
              <a:t>  "fixed_rows": 2160,</a:t>
            </a:r>
            <a:br/>
            <a:r>
              <a:rPr sz="930" b="0">
                <a:solidFill>
                  <a:srgbClr val="D9E6F2"/>
                </a:solidFill>
                <a:latin typeface="Noto Sans Mono CJK SC"/>
              </a:rPr>
              <a:t>  "decision_cases": 360,</a:t>
            </a:r>
            <a:br/>
            <a:r>
              <a:rPr sz="930" b="0">
                <a:solidFill>
                  <a:srgbClr val="D9E6F2"/>
                </a:solidFill>
                <a:latin typeface="Noto Sans Mono CJK SC"/>
              </a:rPr>
              <a:t>  "checks": [</a:t>
            </a:r>
            <a:br/>
            <a:r>
              <a:rPr sz="930" b="0">
                <a:solidFill>
                  <a:srgbClr val="D9E6F2"/>
                </a:solidFill>
                <a:latin typeface="Noto Sans Mono CJK SC"/>
              </a:rPr>
              <a:t>    "same_frozen_candidate_set",</a:t>
            </a:r>
            <a:br/>
            <a:r>
              <a:rPr sz="930" b="0">
                <a:solidFill>
                  <a:srgbClr val="D9E6F2"/>
                </a:solidFill>
                <a:latin typeface="Noto Sans Mono CJK SC"/>
              </a:rPr>
              <a:t>    "zero_model_input_leakage",</a:t>
            </a:r>
            <a:br/>
            <a:r>
              <a:rPr sz="930" b="0">
                <a:solidFill>
                  <a:srgbClr val="D9E6F2"/>
                </a:solidFill>
                <a:latin typeface="Noto Sans Mono CJK SC"/>
              </a:rPr>
              <a:t>    "zero_physical_hard_violations",</a:t>
            </a:r>
            <a:br/>
            <a:r>
              <a:rPr sz="930" b="0">
                <a:solidFill>
                  <a:srgbClr val="D9E6F2"/>
                </a:solidFill>
                <a:latin typeface="Noto Sans Mono CJK SC"/>
              </a:rPr>
              <a:t>    "vlm_valid_rate &gt;= 98%",</a:t>
            </a:r>
            <a:br/>
            <a:r>
              <a:rPr sz="930" b="0">
                <a:solidFill>
                  <a:srgbClr val="D9E6F2"/>
                </a:solidFill>
                <a:latin typeface="Noto Sans Mono CJK SC"/>
              </a:rPr>
              <a:t>    "replay_pass"</a:t>
            </a:r>
            <a:br/>
            <a:r>
              <a:rPr sz="930" b="0">
                <a:solidFill>
                  <a:srgbClr val="D9E6F2"/>
                </a:solidFill>
                <a:latin typeface="Noto Sans Mono CJK SC"/>
              </a:rPr>
              <a:t>  ]</a:t>
            </a:r>
            <a:br/>
            <a:r>
              <a:rPr sz="930" b="0">
                <a:solidFill>
                  <a:srgbClr val="D9E6F2"/>
                </a:solidFill>
                <a:latin typeface="Noto Sans Mono CJK SC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F6BFF"/>
                </a:solidFill>
                <a:latin typeface="Noto Sans CJK SC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104698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1">
                <a:solidFill>
                  <a:srgbClr val="102A43"/>
                </a:solidFill>
                <a:latin typeface="Noto Sans CJK SC"/>
              </a:rPr>
              <a:t>正式实验结果：VLM优于纯几何，Visual相对Text增益很小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05840"/>
            <a:ext cx="10972800" cy="22860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5624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50" b="0">
                <a:solidFill>
                  <a:srgbClr val="52677D"/>
                </a:solidFill>
                <a:latin typeface="Noto Sans CJK SC"/>
              </a:rPr>
              <a:t>Semantic Pallet Planner · 阶段1C · DeepSeek Flash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1">
                <a:solidFill>
                  <a:srgbClr val="52677D"/>
                </a:solidFill>
                <a:latin typeface="Noto Sans CJK SC"/>
              </a:rPr>
              <a:t>8/10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298448"/>
            <a:ext cx="6583680" cy="502920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53312"/>
            <a:ext cx="2304288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040" b="1">
                <a:solidFill>
                  <a:srgbClr val="FFFFFF"/>
                </a:solidFill>
                <a:latin typeface="Noto Sans CJK SC"/>
              </a:rPr>
              <a:t>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5808" y="1353312"/>
            <a:ext cx="1316736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040" b="1">
                <a:solidFill>
                  <a:srgbClr val="FFFFFF"/>
                </a:solidFill>
                <a:latin typeface="Noto Sans CJK SC"/>
              </a:rPr>
              <a:t>平均utility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5696" y="1353312"/>
            <a:ext cx="137160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040" b="1">
                <a:solidFill>
                  <a:srgbClr val="FFFFFF"/>
                </a:solidFill>
                <a:latin typeface="Noto Sans CJK SC"/>
              </a:rPr>
              <a:t>Oracle命中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0448" y="1353312"/>
            <a:ext cx="1298448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040" b="1">
                <a:solidFill>
                  <a:srgbClr val="FFFFFF"/>
                </a:solidFill>
                <a:latin typeface="Noto Sans CJK SC"/>
              </a:rPr>
              <a:t>业务硬违规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1801368"/>
            <a:ext cx="6583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37943"/>
            <a:ext cx="2304288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040" b="1">
                <a:solidFill>
                  <a:srgbClr val="102A43"/>
                </a:solidFill>
                <a:latin typeface="Noto Sans CJK SC"/>
              </a:rPr>
              <a:t>Random Valid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1837943"/>
            <a:ext cx="1316736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040" b="0">
                <a:solidFill>
                  <a:srgbClr val="172B4D"/>
                </a:solidFill>
                <a:latin typeface="Noto Sans CJK SC"/>
              </a:rPr>
              <a:t>0.670115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37943"/>
            <a:ext cx="1371600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040" b="0">
                <a:solidFill>
                  <a:srgbClr val="172B4D"/>
                </a:solidFill>
                <a:latin typeface="Noto Sans CJK SC"/>
              </a:rPr>
              <a:t>32 / 360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0448" y="1837943"/>
            <a:ext cx="1298448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040" b="0">
                <a:solidFill>
                  <a:srgbClr val="172B4D"/>
                </a:solidFill>
                <a:latin typeface="Noto Sans CJK SC"/>
              </a:rPr>
              <a:t>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2304288"/>
            <a:ext cx="6583680" cy="502920"/>
          </a:xfrm>
          <a:prstGeom prst="rect">
            <a:avLst/>
          </a:prstGeom>
          <a:solidFill>
            <a:srgbClr val="EEF3F8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340864"/>
            <a:ext cx="2304288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040" b="1">
                <a:solidFill>
                  <a:srgbClr val="102A43"/>
                </a:solidFill>
                <a:latin typeface="Noto Sans CJK SC"/>
              </a:rPr>
              <a:t>Geometry Greedy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2340864"/>
            <a:ext cx="1316736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040" b="0">
                <a:solidFill>
                  <a:srgbClr val="172B4D"/>
                </a:solidFill>
                <a:latin typeface="Noto Sans CJK SC"/>
              </a:rPr>
              <a:t>0.637921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2340864"/>
            <a:ext cx="1371600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040" b="0">
                <a:solidFill>
                  <a:srgbClr val="172B4D"/>
                </a:solidFill>
                <a:latin typeface="Noto Sans CJK SC"/>
              </a:rPr>
              <a:t>108 / 360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2340864"/>
            <a:ext cx="1298448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040" b="0">
                <a:solidFill>
                  <a:srgbClr val="172B4D"/>
                </a:solidFill>
                <a:latin typeface="Noto Sans CJK SC"/>
              </a:rPr>
              <a:t>60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2807208"/>
            <a:ext cx="6583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2843784"/>
            <a:ext cx="2304288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040" b="1">
                <a:solidFill>
                  <a:srgbClr val="102A43"/>
                </a:solidFill>
                <a:latin typeface="Noto Sans CJK SC"/>
              </a:rPr>
              <a:t>Handcrafted Rule*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35808" y="2843784"/>
            <a:ext cx="1316736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040" b="0">
                <a:solidFill>
                  <a:srgbClr val="172B4D"/>
                </a:solidFill>
                <a:latin typeface="Noto Sans CJK SC"/>
              </a:rPr>
              <a:t>0.765367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5696" y="2843784"/>
            <a:ext cx="1371600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040" b="0">
                <a:solidFill>
                  <a:srgbClr val="172B4D"/>
                </a:solidFill>
                <a:latin typeface="Noto Sans CJK SC"/>
              </a:rPr>
              <a:t>360 / 360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0448" y="2843784"/>
            <a:ext cx="1298448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040" b="0">
                <a:solidFill>
                  <a:srgbClr val="172B4D"/>
                </a:solidFill>
                <a:latin typeface="Noto Sans CJK SC"/>
              </a:rPr>
              <a:t>39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" y="3310128"/>
            <a:ext cx="6583680" cy="502920"/>
          </a:xfrm>
          <a:prstGeom prst="rect">
            <a:avLst/>
          </a:prstGeom>
          <a:solidFill>
            <a:srgbClr val="EEF3F8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346704"/>
            <a:ext cx="2304288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040" b="1">
                <a:solidFill>
                  <a:srgbClr val="102A43"/>
                </a:solidFill>
                <a:latin typeface="Noto Sans CJK SC"/>
              </a:rPr>
              <a:t>DeepSeek 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35808" y="3346704"/>
            <a:ext cx="1316736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040" b="0">
                <a:solidFill>
                  <a:srgbClr val="172B4D"/>
                </a:solidFill>
                <a:latin typeface="Noto Sans CJK SC"/>
              </a:rPr>
              <a:t>0.695990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5696" y="3346704"/>
            <a:ext cx="1371600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040" b="0">
                <a:solidFill>
                  <a:srgbClr val="172B4D"/>
                </a:solidFill>
                <a:latin typeface="Noto Sans CJK SC"/>
              </a:rPr>
              <a:t>58 / 360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70448" y="3346704"/>
            <a:ext cx="1298448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040" b="0">
                <a:solidFill>
                  <a:srgbClr val="172B4D"/>
                </a:solidFill>
                <a:latin typeface="Noto Sans CJK SC"/>
              </a:rPr>
              <a:t>45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" y="3813048"/>
            <a:ext cx="6583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3849624"/>
            <a:ext cx="2304288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040" b="1">
                <a:solidFill>
                  <a:srgbClr val="102A43"/>
                </a:solidFill>
                <a:latin typeface="Noto Sans CJK SC"/>
              </a:rPr>
              <a:t>DeepSeek Visual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35808" y="3849624"/>
            <a:ext cx="1316736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040" b="0">
                <a:solidFill>
                  <a:srgbClr val="172B4D"/>
                </a:solidFill>
                <a:latin typeface="Noto Sans CJK SC"/>
              </a:rPr>
              <a:t>0.698657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25696" y="3849624"/>
            <a:ext cx="1371600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040" b="0">
                <a:solidFill>
                  <a:srgbClr val="172B4D"/>
                </a:solidFill>
                <a:latin typeface="Noto Sans CJK SC"/>
              </a:rPr>
              <a:t>58 / 360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0448" y="3849624"/>
            <a:ext cx="1298448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040" b="0">
                <a:solidFill>
                  <a:srgbClr val="172B4D"/>
                </a:solidFill>
                <a:latin typeface="Noto Sans CJK SC"/>
              </a:rPr>
              <a:t>45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" y="4315968"/>
            <a:ext cx="6583680" cy="502920"/>
          </a:xfrm>
          <a:prstGeom prst="rect">
            <a:avLst/>
          </a:prstGeom>
          <a:solidFill>
            <a:srgbClr val="EEF3F8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352544"/>
            <a:ext cx="2304288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040" b="1">
                <a:solidFill>
                  <a:srgbClr val="102A43"/>
                </a:solidFill>
                <a:latin typeface="Noto Sans CJK SC"/>
              </a:rPr>
              <a:t>Candidate Oracle*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35808" y="4352544"/>
            <a:ext cx="1316736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040" b="0">
                <a:solidFill>
                  <a:srgbClr val="172B4D"/>
                </a:solidFill>
                <a:latin typeface="Noto Sans CJK SC"/>
              </a:rPr>
              <a:t>0.765367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25696" y="4352544"/>
            <a:ext cx="1371600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040" b="0">
                <a:solidFill>
                  <a:srgbClr val="172B4D"/>
                </a:solidFill>
                <a:latin typeface="Noto Sans CJK SC"/>
              </a:rPr>
              <a:t>360 / 360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70448" y="4352544"/>
            <a:ext cx="1298448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040" b="0">
                <a:solidFill>
                  <a:srgbClr val="172B4D"/>
                </a:solidFill>
                <a:latin typeface="Noto Sans CJK SC"/>
              </a:rPr>
              <a:t>39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5001768"/>
            <a:ext cx="63825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>
                <a:solidFill>
                  <a:srgbClr val="52677D"/>
                </a:solidFill>
                <a:latin typeface="Noto Sans CJK SC"/>
              </a:rPr>
              <a:t>* Handcrafted Rule 与 Candidate Oracle 使用隐藏信息，是特权基线/上界。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43216" y="1298448"/>
            <a:ext cx="4096512" cy="192024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99248" y="1536192"/>
            <a:ext cx="35478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700" b="1">
                <a:solidFill>
                  <a:srgbClr val="2F6BFF"/>
                </a:solidFill>
                <a:latin typeface="Noto Sans CJK SC"/>
              </a:rPr>
              <a:t>同题配对比较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99248" y="1938528"/>
            <a:ext cx="3419856" cy="10058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30" b="0">
                <a:solidFill>
                  <a:srgbClr val="172B4D"/>
                </a:solidFill>
                <a:latin typeface="Noto Sans CJK SC"/>
              </a:rPr>
              <a:t>Text − Geometry：+0.058069  ·  119/181/60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30" b="0">
                <a:solidFill>
                  <a:srgbClr val="172B4D"/>
                </a:solidFill>
                <a:latin typeface="Noto Sans CJK SC"/>
              </a:rPr>
              <a:t>Visual − Geometry：+0.060735  ·  130/169/61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30" b="0">
                <a:solidFill>
                  <a:srgbClr val="172B4D"/>
                </a:solidFill>
                <a:latin typeface="Noto Sans CJK SC"/>
              </a:rPr>
              <a:t>Visual − Text：+0.002667  ·  30/317/13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43216" y="3456432"/>
            <a:ext cx="4096512" cy="2267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99248" y="3694176"/>
            <a:ext cx="35478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700" b="1">
                <a:solidFill>
                  <a:srgbClr val="102A43"/>
                </a:solidFill>
                <a:latin typeface="Noto Sans CJK SC"/>
              </a:rPr>
              <a:t>协议与成本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9248" y="4096512"/>
            <a:ext cx="3419856" cy="1298448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0">
                <a:solidFill>
                  <a:srgbClr val="172B4D"/>
                </a:solidFill>
                <a:latin typeface="Noto Sans CJK SC"/>
              </a:rPr>
              <a:t>• Text：360/360 有效，1次修复，0回退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0">
                <a:solidFill>
                  <a:srgbClr val="172B4D"/>
                </a:solidFill>
                <a:latin typeface="Noto Sans CJK SC"/>
              </a:rPr>
              <a:t>• Visual：357/360 有效，3次回退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0">
                <a:solidFill>
                  <a:srgbClr val="172B4D"/>
                </a:solidFill>
                <a:latin typeface="Noto Sans CJK SC"/>
              </a:rPr>
              <a:t>• 输入token：Text 1,474,172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0">
                <a:solidFill>
                  <a:srgbClr val="172B4D"/>
                </a:solidFill>
                <a:latin typeface="Noto Sans CJK SC"/>
              </a:rPr>
              <a:t>• 输入token：Visual 2,035,645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00" b="0">
                <a:solidFill>
                  <a:srgbClr val="172B4D"/>
                </a:solidFill>
                <a:latin typeface="Noto Sans CJK SC"/>
              </a:rPr>
              <a:t>• 费用字段为0仅因YAML未配置单价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F6BFF"/>
                </a:solidFill>
                <a:latin typeface="Noto Sans CJK SC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104698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1">
                <a:solidFill>
                  <a:srgbClr val="102A43"/>
                </a:solidFill>
                <a:latin typeface="Noto Sans CJK SC"/>
              </a:rPr>
              <a:t>案例审计：工程PASS不等于每次语义判断都正确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05840"/>
            <a:ext cx="10972800" cy="22860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5624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50" b="0">
                <a:solidFill>
                  <a:srgbClr val="52677D"/>
                </a:solidFill>
                <a:latin typeface="Noto Sans CJK SC"/>
              </a:rPr>
              <a:t>Semantic Pallet Planner · 阶段1C · DeepSeek Flash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1">
                <a:solidFill>
                  <a:srgbClr val="52677D"/>
                </a:solidFill>
                <a:latin typeface="Noto Sans CJK SC"/>
              </a:rPr>
              <a:t>9/10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5623560" cy="877824"/>
          </a:xfrm>
          <a:prstGeom prst="roundRect">
            <a:avLst>
              <a:gd name="adj" fmla="val 8000"/>
            </a:avLst>
          </a:prstGeom>
          <a:solidFill>
            <a:srgbClr val="FDECEE"/>
          </a:solidFill>
          <a:ln>
            <a:solidFill>
              <a:srgbClr val="E3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444751"/>
            <a:ext cx="10972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35D6A"/>
                </a:solidFill>
                <a:latin typeface="Noto Sans Mono CJK SC"/>
              </a:rPr>
              <a:t>DC_00153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3392" y="1426464"/>
            <a:ext cx="25420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20" b="1">
                <a:solidFill>
                  <a:srgbClr val="102A43"/>
                </a:solidFill>
                <a:latin typeface="Noto Sans CJK SC"/>
              </a:rPr>
              <a:t>支撑关系反向理解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764792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80" b="0">
                <a:solidFill>
                  <a:srgbClr val="52677D"/>
                </a:solidFill>
                <a:latin typeface="Noto Sans CJK SC"/>
              </a:rPr>
              <a:t>VLM 0.267306 / Oracle 0.433653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414015"/>
            <a:ext cx="5623560" cy="877824"/>
          </a:xfrm>
          <a:prstGeom prst="roundRect">
            <a:avLst>
              <a:gd name="adj" fmla="val 8000"/>
            </a:avLst>
          </a:prstGeom>
          <a:solidFill>
            <a:srgbClr val="FFF4DE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560320"/>
            <a:ext cx="10972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F2A93B"/>
                </a:solidFill>
                <a:latin typeface="Noto Sans Mono CJK SC"/>
              </a:rPr>
              <a:t>DC_00177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3392" y="2542032"/>
            <a:ext cx="25420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20" b="1">
                <a:solidFill>
                  <a:srgbClr val="102A43"/>
                </a:solidFill>
                <a:latin typeface="Noto Sans CJK SC"/>
              </a:rPr>
              <a:t>电子产品与重物接触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93392" y="2880359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80" b="0">
                <a:solidFill>
                  <a:srgbClr val="52677D"/>
                </a:solidFill>
                <a:latin typeface="Noto Sans CJK SC"/>
              </a:rPr>
              <a:t>VLM业务硬违规=1；Oracle utility=1.0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529584"/>
            <a:ext cx="5623560" cy="877824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675887"/>
            <a:ext cx="10972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2F6BFF"/>
                </a:solidFill>
                <a:latin typeface="Noto Sans Mono CJK SC"/>
              </a:rPr>
              <a:t>DC_00178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93392" y="3657600"/>
            <a:ext cx="25420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20" b="1">
                <a:solidFill>
                  <a:srgbClr val="102A43"/>
                </a:solidFill>
                <a:latin typeface="Noto Sans CJK SC"/>
              </a:rPr>
              <a:t>整体质心 ≠ 当前重箱位置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93392" y="3995928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80" b="0">
                <a:solidFill>
                  <a:srgbClr val="52677D"/>
                </a:solidFill>
                <a:latin typeface="Noto Sans CJK SC"/>
              </a:rPr>
              <a:t>VLM 0.301935 / Oracle 0.795742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754880"/>
            <a:ext cx="5623560" cy="987552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4965192"/>
            <a:ext cx="516636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210" b="1">
                <a:solidFill>
                  <a:srgbClr val="FFFFFF"/>
                </a:solidFill>
                <a:latin typeface="Noto Sans CJK SC"/>
              </a:rPr>
              <a:t>自动验收关注矩阵完整、协议有效、物理安全、泄漏与回放。</a:t>
            </a:r>
            <a:br/>
            <a:r>
              <a:rPr sz="1210" b="1">
                <a:solidFill>
                  <a:srgbClr val="FFFFFF"/>
                </a:solidFill>
                <a:latin typeface="Noto Sans CJK SC"/>
              </a:rPr>
              <a:t>业务语义表现属于研究结果，必须通过案例审计和统计单独讨论。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47104" y="1298448"/>
            <a:ext cx="498348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andidates_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902" y="1298448"/>
            <a:ext cx="3427882" cy="324612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547104" y="4754880"/>
            <a:ext cx="4983480" cy="987552"/>
          </a:xfrm>
          <a:prstGeom prst="roundRect">
            <a:avLst>
              <a:gd name="adj" fmla="val 8000"/>
            </a:avLst>
          </a:prstGeom>
          <a:solidFill>
            <a:srgbClr val="FFF4DE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4848" y="4937760"/>
            <a:ext cx="4498848" cy="585216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90" b="0">
                <a:solidFill>
                  <a:srgbClr val="172B4D"/>
                </a:solidFill>
                <a:latin typeface="Noto Sans CJK SC"/>
              </a:rPr>
              <a:t>• 当前边界：合成语义、固定单步题、渲染图而非RGB-D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90" b="0">
                <a:solidFill>
                  <a:srgbClr val="172B4D"/>
                </a:solidFill>
                <a:latin typeface="Noto Sans CJK SC"/>
              </a:rPr>
              <a:t>• 泄漏扫描尚无图片像素检查；future_item_hits仍为占位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>
                <a:solidFill>
                  <a:srgbClr val="2F6BFF"/>
                </a:solidFill>
                <a:latin typeface="Noto Sans CJK SC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104698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1">
                <a:solidFill>
                  <a:srgbClr val="102A43"/>
                </a:solidFill>
                <a:latin typeface="Noto Sans CJK SC"/>
              </a:rPr>
              <a:t>阶段结论与下一步：从“链路跑通”转向“语义稳健与在线闭环”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05840"/>
            <a:ext cx="10972800" cy="22860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5624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50" b="0">
                <a:solidFill>
                  <a:srgbClr val="52677D"/>
                </a:solidFill>
                <a:latin typeface="Noto Sans CJK SC"/>
              </a:rPr>
              <a:t>Semantic Pallet Planner · 阶段1C · DeepSeek Flash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943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1">
                <a:solidFill>
                  <a:srgbClr val="52677D"/>
                </a:solidFill>
                <a:latin typeface="Noto Sans CJK SC"/>
              </a:rPr>
              <a:t>10/10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5230368" cy="4498848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91056"/>
            <a:ext cx="455371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>
                <a:solidFill>
                  <a:srgbClr val="FFFFFF"/>
                </a:solidFill>
                <a:latin typeface="Noto Sans CJK SC"/>
              </a:rPr>
              <a:t>当前可以确认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66543"/>
            <a:ext cx="4535424" cy="3054096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 b="0">
                <a:solidFill>
                  <a:srgbClr val="D9E6F2"/>
                </a:solidFill>
                <a:latin typeface="Noto Sans CJK SC"/>
              </a:rPr>
              <a:t>• 阶段0、1A、1B以及阶段1C自动验收均已通过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 b="0">
                <a:solidFill>
                  <a:srgbClr val="D9E6F2"/>
                </a:solidFill>
                <a:latin typeface="Noto Sans CJK SC"/>
              </a:rPr>
              <a:t>• 几何模块形成确定性物理安全边界，VLM只做离散语义选择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 b="0">
                <a:solidFill>
                  <a:srgbClr val="D9E6F2"/>
                </a:solidFill>
                <a:latin typeface="Noto Sans CJK SC"/>
              </a:rPr>
              <a:t>• DeepSeek Text/Visual在平均语义效用上均高于Geometry Greedy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 b="0">
                <a:solidFill>
                  <a:srgbClr val="D9E6F2"/>
                </a:solidFill>
                <a:latin typeface="Noto Sans CJK SC"/>
              </a:rPr>
              <a:t>• Visual相对Text仅+0.002667，当前尚无稳定视觉收益证据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 b="0">
                <a:solidFill>
                  <a:srgbClr val="D9E6F2"/>
                </a:solidFill>
                <a:latin typeface="Noto Sans CJK SC"/>
              </a:rPr>
              <a:t>• 正式实验、请求响应、图片、映射、缓存、回放和哈希均可审计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5303520"/>
            <a:ext cx="453542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220" b="1">
                <a:solidFill>
                  <a:srgbClr val="8FD9D1"/>
                </a:solidFill>
                <a:latin typeface="Noto Sans CJK SC"/>
              </a:rPr>
              <a:t>结论边界：工程通过 ≠ 工业效果成立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298448"/>
            <a:ext cx="5340096" cy="676656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435607"/>
            <a:ext cx="5303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300" b="1">
                <a:solidFill>
                  <a:srgbClr val="2F6BFF"/>
                </a:solidFill>
                <a:latin typeface="Noto Sans CJK S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1426464"/>
            <a:ext cx="4224528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10" b="1">
                <a:solidFill>
                  <a:srgbClr val="172B4D"/>
                </a:solidFill>
                <a:latin typeface="Noto Sans CJK SC"/>
              </a:rPr>
              <a:t>研究者签认 + 位置偏差审计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2185415"/>
            <a:ext cx="5340096" cy="676656"/>
          </a:xfrm>
          <a:prstGeom prst="roundRect">
            <a:avLst>
              <a:gd name="adj" fmla="val 8000"/>
            </a:avLst>
          </a:prstGeom>
          <a:solidFill>
            <a:srgbClr val="E7F7F4"/>
          </a:solidFill>
          <a:ln>
            <a:solidFill>
              <a:srgbClr val="16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322575"/>
            <a:ext cx="5303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300" b="1">
                <a:solidFill>
                  <a:srgbClr val="16A89A"/>
                </a:solidFill>
                <a:latin typeface="Noto Sans CJK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2313432"/>
            <a:ext cx="4224528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10" b="1">
                <a:solidFill>
                  <a:srgbClr val="172B4D"/>
                </a:solidFill>
                <a:latin typeface="Noto Sans CJK SC"/>
              </a:rPr>
              <a:t>在train/validation升级关系特征与Prompt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3072384"/>
            <a:ext cx="5340096" cy="676656"/>
          </a:xfrm>
          <a:prstGeom prst="roundRect">
            <a:avLst>
              <a:gd name="adj" fmla="val 8000"/>
            </a:avLst>
          </a:prstGeom>
          <a:solidFill>
            <a:srgbClr val="FFF4DE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209544"/>
            <a:ext cx="5303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300" b="1">
                <a:solidFill>
                  <a:srgbClr val="F2A93B"/>
                </a:solidFill>
                <a:latin typeface="Noto Sans CJK S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3200400"/>
            <a:ext cx="4224528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10" b="1">
                <a:solidFill>
                  <a:srgbClr val="172B4D"/>
                </a:solidFill>
                <a:latin typeface="Noto Sans CJK SC"/>
              </a:rPr>
              <a:t>重复调用，给出稳定性和视觉增益置信区间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3959352"/>
            <a:ext cx="5340096" cy="676656"/>
          </a:xfrm>
          <a:prstGeom prst="roundRect">
            <a:avLst>
              <a:gd name="adj" fmla="val 8000"/>
            </a:avLst>
          </a:prstGeom>
          <a:solidFill>
            <a:srgbClr val="FDECEE"/>
          </a:solidFill>
          <a:ln>
            <a:solidFill>
              <a:srgbClr val="E3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096512"/>
            <a:ext cx="5303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300" b="1">
                <a:solidFill>
                  <a:srgbClr val="E35D6A"/>
                </a:solidFill>
                <a:latin typeface="Noto Sans CJK SC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4087368"/>
            <a:ext cx="4224528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10" b="1">
                <a:solidFill>
                  <a:srgbClr val="172B4D"/>
                </a:solidFill>
                <a:latin typeface="Noto Sans CJK SC"/>
              </a:rPr>
              <a:t>冻结选择器，进入阶段1D在线完整episode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4846320"/>
            <a:ext cx="5340096" cy="676656"/>
          </a:xfrm>
          <a:prstGeom prst="roundRect">
            <a:avLst>
              <a:gd name="adj" fmla="val 8000"/>
            </a:avLst>
          </a:prstGeom>
          <a:solidFill>
            <a:srgbClr val="E9EEF3"/>
          </a:solidFill>
          <a:ln>
            <a:solidFill>
              <a:srgbClr val="18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983480"/>
            <a:ext cx="5303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300" b="1">
                <a:solidFill>
                  <a:srgbClr val="183B5B"/>
                </a:solidFill>
                <a:latin typeface="Noto Sans CJK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4974336"/>
            <a:ext cx="4224528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10" b="1">
                <a:solidFill>
                  <a:srgbClr val="172B4D"/>
                </a:solidFill>
                <a:latin typeface="Noto Sans CJK SC"/>
              </a:rPr>
              <a:t>阶段1E接入ReMe；最后进入RGB-D/Gazebo/机器人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5833872"/>
            <a:ext cx="5340096" cy="347472"/>
          </a:xfrm>
          <a:prstGeom prst="roundRect">
            <a:avLst>
              <a:gd name="adj" fmla="val 8000"/>
            </a:avLst>
          </a:prstGeom>
          <a:solidFill>
            <a:srgbClr val="E7F7F4"/>
          </a:solidFill>
          <a:ln>
            <a:solidFill>
              <a:srgbClr val="16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5907024"/>
            <a:ext cx="5047488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70" b="1">
                <a:solidFill>
                  <a:srgbClr val="16A89A"/>
                </a:solidFill>
                <a:latin typeface="Noto Sans CJK SC"/>
              </a:rPr>
              <a:t>建议：Text作为下一阶段主配置，Visual保留为消融对照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